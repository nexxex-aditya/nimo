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5.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ppt/slides/slide7.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64" r:id="rId2"/>
    <p:sldId id="257" r:id="rId3"/>
    <p:sldId id="258" r:id="rId4"/>
    <p:sldId id="259" r:id="rId5"/>
    <p:sldId id="265" r:id="rId100"/>
    <p:sldId id="260" r:id="rId6"/>
    <p:sldId id="263"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1" d="100"/>
          <a:sy n="91" d="100"/>
        </p:scale>
        <p:origin x="198" y="8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customXml" Target="../customXml/item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customXml" Target="../customXml/item3.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openxmlformats.org/officeDocument/2006/relationships/customXml" Target="../customXml/item2.xml"/><Relationship Id="rId100"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93135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NIMO is our answer to the Product Truth Agent problem. Give it a retail product record and it finds the web page that really is that product, codes the characteristics NIQ needs, and explains every answer.</a:t>
            </a:r>
          </a:p>
        </p:txBody>
      </p:sp>
      <p:sp>
        <p:nvSpPr>
          <p:cNvPr id="4" name="Slide Number Placeholder 3"/>
          <p:cNvSpPr>
            <a:spLocks noGrp="1"/>
          </p:cNvSpPr>
          <p:nvPr>
            <p:ph type="sldNum" sz="quarter" idx="5"/>
          </p:nvPr>
        </p:nvSpPr>
        <p:spPr/>
        <p:txBody>
          <a:bodyPr/>
          <a:lstStyle/>
          <a:p>
            <a:fld id="{E36CB57E-962C-4777-9B55-B61FF92B9F55}" type="slidenum">
              <a:rPr lang="en-US" smtClean="0"/>
              <a:t>1</a:t>
            </a:fld>
            <a:endParaRPr lang="en-US"/>
          </a:p>
        </p:txBody>
      </p:sp>
    </p:spTree>
    <p:extLst>
      <p:ext uri="{BB962C8B-B14F-4D97-AF65-F5344CB8AC3E}">
        <p14:creationId xmlns:p14="http://schemas.microsoft.com/office/powerpoint/2010/main" val="41739770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Today a coder does this by hand, page by page, and look-alikes get through. NIMO does the whole chain and writes the submission file itself. The key difference: it proves identity with the barcode where it can, and remembers what it has already resolved.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Three ideas. Barcode first, so identity is proven rather than guessed. A memory of products, so repeats are cheap. And reasoning built from recorded fields, so it can be checked. The model only does two narrow jobs, and everything it says is validated.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One record goes in; one validated row comes out. In between: the registry check, web search, page fetching, matching with barcode rules and a calibrated score, the module, the characteristics that apply, and the reasoning. Next slide shows two real rows.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Results on the full qa set, the use cases beyond oral care, and what we would do next. All numbers are measured and recorded in our decision log.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F_MASTER">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8124F"/>
          </a:solidFill>
          <a:ln w="12700">
            <a:solidFill>
              <a:srgbClr val="08124F"/>
            </a:solidFill>
            <a:prstDash val="solid"/>
          </a:ln>
        </p:spPr>
      </p:sp>
      <p:sp>
        <p:nvSpPr>
          <p:cNvPr id="3" name="Text 1"/>
          <p:cNvSpPr/>
          <p:nvPr/>
        </p:nvSpPr>
        <p:spPr>
          <a:xfrm>
            <a:off x="10287000" y="6473952"/>
            <a:ext cx="1508760" cy="164592"/>
          </a:xfrm>
          <a:prstGeom prst="rect">
            <a:avLst/>
          </a:prstGeom>
          <a:noFill/>
          <a:ln/>
        </p:spPr>
        <p:txBody>
          <a:bodyPr wrap="square" lIns="0" tIns="0" rIns="0" bIns="0" rtlCol="0" anchor="ctr"/>
          <a:lstStyle/>
          <a:p>
            <a:pPr marL="0" indent="0" algn="r">
              <a:buNone/>
            </a:pPr>
            <a:r>
              <a:rPr lang="en-US" sz="800" b="1" dirty="0">
                <a:solidFill>
                  <a:srgbClr val="6E789A"/>
                </a:solidFill>
                <a:latin typeface="Aptos" pitchFamily="34" charset="0"/>
                <a:ea typeface="Aptos" pitchFamily="34" charset="-122"/>
                <a:cs typeface="Aptos" pitchFamily="34" charset="-120"/>
              </a:rPr>
              <a:t>HACKFEST 2026</a:t>
            </a:r>
            <a:endParaRPr lang="en-US" sz="800" dirty="0"/>
          </a:p>
        </p:txBody>
      </p:sp>
      <p:sp>
        <p:nvSpPr>
          <p:cNvPr id="4" name="Shape 2"/>
          <p:cNvSpPr/>
          <p:nvPr/>
        </p:nvSpPr>
        <p:spPr>
          <a:xfrm>
            <a:off x="502920" y="6382512"/>
            <a:ext cx="11183112" cy="0"/>
          </a:xfrm>
          <a:prstGeom prst="line">
            <a:avLst/>
          </a:prstGeom>
          <a:noFill/>
          <a:ln w="12700">
            <a:solidFill>
              <a:srgbClr val="DCE1EE"/>
            </a:solidFill>
            <a:prstDash val="solid"/>
          </a:ln>
        </p:spPr>
      </p:sp>
      <p:sp>
        <p:nvSpPr>
          <p:cNvPr id="25" name="Slide Number Placeholder 0"/>
          <p:cNvSpPr>
            <a:spLocks noGrp="1"/>
          </p:cNvSpPr>
          <p:nvPr>
            <p:ph type="sldNum" sz="quarter" idx="4294967295"/>
          </p:nvPr>
        </p:nvSpPr>
        <p:spPr>
          <a:xfrm>
            <a:off x="11841480" y="6446520"/>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9AA3BC"/>
                </a:solidFill>
                <a:latin typeface="Aptos"/>
                <a:ea typeface="Aptos"/>
                <a:cs typeface="Aptos"/>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16_cover_illustration">
    <p:bg>
      <p:bgPr>
        <a:solidFill>
          <a:srgbClr val="292A3C"/>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45CB4A4-7435-1A41-8813-A7FFEC34FAE2}"/>
              </a:ext>
            </a:extLst>
          </p:cNvPr>
          <p:cNvSpPr/>
          <p:nvPr/>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Background pattern&#10;&#10;Description automatically generated">
            <a:extLst>
              <a:ext uri="{FF2B5EF4-FFF2-40B4-BE49-F238E27FC236}">
                <a16:creationId xmlns:a16="http://schemas.microsoft.com/office/drawing/2014/main" id="{DB788935-E7B2-2CAC-0048-B92417139B6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5" name="TextBox 4">
            <a:extLst>
              <a:ext uri="{FF2B5EF4-FFF2-40B4-BE49-F238E27FC236}">
                <a16:creationId xmlns:a16="http://schemas.microsoft.com/office/drawing/2014/main" id="{6243803D-31FA-692F-1CDF-A332274BC332}"/>
              </a:ext>
            </a:extLst>
          </p:cNvPr>
          <p:cNvSpPr txBox="1"/>
          <p:nvPr/>
        </p:nvSpPr>
        <p:spPr>
          <a:xfrm>
            <a:off x="288558" y="6532236"/>
            <a:ext cx="2458455" cy="200055"/>
          </a:xfrm>
          <a:prstGeom prst="rect">
            <a:avLst/>
          </a:prstGeom>
          <a:noFill/>
        </p:spPr>
        <p:txBody>
          <a:bodyPr wrap="square" lIns="0" rIns="0"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700">
                <a:solidFill>
                  <a:schemeClr val="tx1">
                    <a:lumMod val="40000"/>
                    <a:lumOff val="60000"/>
                  </a:schemeClr>
                </a:solidFill>
              </a:rPr>
              <a:t>© 2023 Nielsen Consumer LLC. All Rights Reserved.</a:t>
            </a:r>
          </a:p>
        </p:txBody>
      </p:sp>
      <p:sp>
        <p:nvSpPr>
          <p:cNvPr id="16" name="Title 1">
            <a:extLst>
              <a:ext uri="{FF2B5EF4-FFF2-40B4-BE49-F238E27FC236}">
                <a16:creationId xmlns:a16="http://schemas.microsoft.com/office/drawing/2014/main" id="{7987C027-455E-4C45-138D-8334F13BBEEA}"/>
              </a:ext>
            </a:extLst>
          </p:cNvPr>
          <p:cNvSpPr>
            <a:spLocks noGrp="1"/>
          </p:cNvSpPr>
          <p:nvPr>
            <p:ph type="ctrTitle" hasCustomPrompt="1"/>
          </p:nvPr>
        </p:nvSpPr>
        <p:spPr>
          <a:xfrm>
            <a:off x="288558" y="635035"/>
            <a:ext cx="8642082" cy="2387600"/>
          </a:xfrm>
          <a:prstGeom prst="rect">
            <a:avLst/>
          </a:prstGeom>
        </p:spPr>
        <p:txBody>
          <a:bodyPr anchor="b">
            <a:noAutofit/>
          </a:bodyPr>
          <a:lstStyle>
            <a:lvl1pPr algn="l">
              <a:defRPr sz="5400">
                <a:solidFill>
                  <a:schemeClr val="bg1"/>
                </a:solidFill>
              </a:defRPr>
            </a:lvl1pPr>
          </a:lstStyle>
          <a:p>
            <a:r>
              <a:rPr lang="en-US"/>
              <a:t>Insert your presentation title here maximum of three lines</a:t>
            </a:r>
          </a:p>
        </p:txBody>
      </p:sp>
      <p:sp>
        <p:nvSpPr>
          <p:cNvPr id="17" name="Subtitle 2">
            <a:extLst>
              <a:ext uri="{FF2B5EF4-FFF2-40B4-BE49-F238E27FC236}">
                <a16:creationId xmlns:a16="http://schemas.microsoft.com/office/drawing/2014/main" id="{A4501D72-EE3C-0DA6-BA4B-C1D78BA85AE8}"/>
              </a:ext>
            </a:extLst>
          </p:cNvPr>
          <p:cNvSpPr>
            <a:spLocks noGrp="1"/>
          </p:cNvSpPr>
          <p:nvPr>
            <p:ph type="subTitle" idx="1"/>
          </p:nvPr>
        </p:nvSpPr>
        <p:spPr>
          <a:xfrm>
            <a:off x="288558" y="3114710"/>
            <a:ext cx="8642082" cy="837882"/>
          </a:xfrm>
          <a:prstGeom prst="rect">
            <a:avLst/>
          </a:prstGeom>
        </p:spPr>
        <p:txBody>
          <a:bodyPr>
            <a:noAutofit/>
          </a:bodyPr>
          <a:lstStyle>
            <a:lvl1pPr marL="0" indent="0" algn="l">
              <a:spcBef>
                <a:spcPts val="0"/>
              </a:spcBef>
              <a:spcAft>
                <a:spcPts val="0"/>
              </a:spcAft>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8" name="Picture 17">
            <a:extLst>
              <a:ext uri="{FF2B5EF4-FFF2-40B4-BE49-F238E27FC236}">
                <a16:creationId xmlns:a16="http://schemas.microsoft.com/office/drawing/2014/main" id="{91255DA8-5A10-9683-AFED-A7964FA406C6}"/>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04801" y="5694428"/>
            <a:ext cx="1219198" cy="518807"/>
          </a:xfrm>
          <a:prstGeom prst="rect">
            <a:avLst/>
          </a:prstGeom>
        </p:spPr>
      </p:pic>
      <p:sp>
        <p:nvSpPr>
          <p:cNvPr id="2" name="Text Placeholder 17">
            <a:extLst>
              <a:ext uri="{FF2B5EF4-FFF2-40B4-BE49-F238E27FC236}">
                <a16:creationId xmlns:a16="http://schemas.microsoft.com/office/drawing/2014/main" id="{3417592A-6067-984F-549E-3833CDB76A54}"/>
              </a:ext>
            </a:extLst>
          </p:cNvPr>
          <p:cNvSpPr>
            <a:spLocks noGrp="1"/>
          </p:cNvSpPr>
          <p:nvPr>
            <p:ph type="body" sz="quarter" idx="10" hasCustomPrompt="1"/>
          </p:nvPr>
        </p:nvSpPr>
        <p:spPr>
          <a:xfrm>
            <a:off x="288559" y="4192468"/>
            <a:ext cx="8642082" cy="344384"/>
          </a:xfrm>
          <a:prstGeom prst="rect">
            <a:avLst/>
          </a:prstGeom>
        </p:spPr>
        <p:txBody>
          <a:bodyPr tIns="0" bIns="0" anchor="b" anchorCtr="0">
            <a:noAutofit/>
          </a:bodyPr>
          <a:lstStyle>
            <a:lvl1pPr marL="0" indent="0">
              <a:lnSpc>
                <a:spcPct val="100000"/>
              </a:lnSpc>
              <a:spcBef>
                <a:spcPts val="0"/>
              </a:spcBef>
              <a:spcAft>
                <a:spcPts val="0"/>
              </a:spcAft>
              <a:buNone/>
              <a:defRPr sz="1200" b="1">
                <a:solidFill>
                  <a:schemeClr val="bg1"/>
                </a:solidFill>
              </a:defRPr>
            </a:lvl1pPr>
            <a:lvl2pPr marL="457200" indent="0">
              <a:buNone/>
              <a:defRPr sz="1200" b="1">
                <a:solidFill>
                  <a:schemeClr val="bg1"/>
                </a:solidFill>
              </a:defRPr>
            </a:lvl2pPr>
            <a:lvl3pPr marL="914400" indent="0">
              <a:buNone/>
              <a:defRPr sz="1200" b="1">
                <a:solidFill>
                  <a:schemeClr val="bg1"/>
                </a:solidFill>
              </a:defRPr>
            </a:lvl3pPr>
            <a:lvl4pPr marL="1371600" indent="0">
              <a:buNone/>
              <a:defRPr sz="1200" b="1">
                <a:solidFill>
                  <a:schemeClr val="bg1"/>
                </a:solidFill>
              </a:defRPr>
            </a:lvl4pPr>
            <a:lvl5pPr marL="1828800" indent="0">
              <a:buNone/>
              <a:defRPr sz="1200" b="1">
                <a:solidFill>
                  <a:schemeClr val="bg1"/>
                </a:solidFill>
              </a:defRPr>
            </a:lvl5pPr>
          </a:lstStyle>
          <a:p>
            <a:pPr lvl="0"/>
            <a:r>
              <a:rPr lang="en-US"/>
              <a:t>First name Last name</a:t>
            </a:r>
          </a:p>
        </p:txBody>
      </p:sp>
      <p:sp>
        <p:nvSpPr>
          <p:cNvPr id="3" name="Text Placeholder 17">
            <a:extLst>
              <a:ext uri="{FF2B5EF4-FFF2-40B4-BE49-F238E27FC236}">
                <a16:creationId xmlns:a16="http://schemas.microsoft.com/office/drawing/2014/main" id="{DADB3285-032F-C5EA-E4E6-C62E075FF1F0}"/>
              </a:ext>
            </a:extLst>
          </p:cNvPr>
          <p:cNvSpPr>
            <a:spLocks noGrp="1"/>
          </p:cNvSpPr>
          <p:nvPr>
            <p:ph type="body" sz="quarter" idx="11" hasCustomPrompt="1"/>
          </p:nvPr>
        </p:nvSpPr>
        <p:spPr>
          <a:xfrm>
            <a:off x="288559" y="4560602"/>
            <a:ext cx="8642082" cy="344385"/>
          </a:xfrm>
          <a:prstGeom prst="rect">
            <a:avLst/>
          </a:prstGeom>
        </p:spPr>
        <p:txBody>
          <a:bodyPr tIns="0" bIns="0">
            <a:noAutofit/>
          </a:bodyPr>
          <a:lstStyle>
            <a:lvl1pPr marL="0" indent="0">
              <a:lnSpc>
                <a:spcPct val="100000"/>
              </a:lnSpc>
              <a:spcBef>
                <a:spcPts val="0"/>
              </a:spcBef>
              <a:spcAft>
                <a:spcPts val="0"/>
              </a:spcAft>
              <a:buNone/>
              <a:defRPr sz="1200" b="0">
                <a:solidFill>
                  <a:schemeClr val="bg1"/>
                </a:solidFill>
              </a:defRPr>
            </a:lvl1pPr>
            <a:lvl2pPr marL="457200" indent="0">
              <a:buNone/>
              <a:defRPr sz="1200" b="1">
                <a:solidFill>
                  <a:schemeClr val="bg1"/>
                </a:solidFill>
              </a:defRPr>
            </a:lvl2pPr>
            <a:lvl3pPr marL="914400" indent="0">
              <a:buNone/>
              <a:defRPr sz="1200" b="1">
                <a:solidFill>
                  <a:schemeClr val="bg1"/>
                </a:solidFill>
              </a:defRPr>
            </a:lvl3pPr>
            <a:lvl4pPr marL="1371600" indent="0">
              <a:buNone/>
              <a:defRPr sz="1200" b="1">
                <a:solidFill>
                  <a:schemeClr val="bg1"/>
                </a:solidFill>
              </a:defRPr>
            </a:lvl4pPr>
            <a:lvl5pPr marL="1828800" indent="0">
              <a:buNone/>
              <a:defRPr sz="1200" b="1">
                <a:solidFill>
                  <a:schemeClr val="bg1"/>
                </a:solidFill>
              </a:defRPr>
            </a:lvl5pPr>
          </a:lstStyle>
          <a:p>
            <a:pPr lvl="0"/>
            <a:r>
              <a:rPr lang="en-US"/>
              <a:t>Title/Department</a:t>
            </a:r>
          </a:p>
        </p:txBody>
      </p:sp>
      <p:sp>
        <p:nvSpPr>
          <p:cNvPr id="6" name="Text Placeholder 17">
            <a:extLst>
              <a:ext uri="{FF2B5EF4-FFF2-40B4-BE49-F238E27FC236}">
                <a16:creationId xmlns:a16="http://schemas.microsoft.com/office/drawing/2014/main" id="{D91FCFC2-D727-8EBA-2D19-E4EEAE93A971}"/>
              </a:ext>
            </a:extLst>
          </p:cNvPr>
          <p:cNvSpPr>
            <a:spLocks noGrp="1"/>
          </p:cNvSpPr>
          <p:nvPr>
            <p:ph type="body" sz="quarter" idx="12" hasCustomPrompt="1"/>
          </p:nvPr>
        </p:nvSpPr>
        <p:spPr>
          <a:xfrm>
            <a:off x="288559" y="5110167"/>
            <a:ext cx="8642082" cy="344385"/>
          </a:xfrm>
          <a:prstGeom prst="rect">
            <a:avLst/>
          </a:prstGeom>
        </p:spPr>
        <p:txBody>
          <a:bodyPr tIns="0" bIns="0">
            <a:noAutofit/>
          </a:bodyPr>
          <a:lstStyle>
            <a:lvl1pPr marL="0" indent="0">
              <a:lnSpc>
                <a:spcPct val="100000"/>
              </a:lnSpc>
              <a:spcBef>
                <a:spcPts val="0"/>
              </a:spcBef>
              <a:spcAft>
                <a:spcPts val="0"/>
              </a:spcAft>
              <a:buNone/>
              <a:defRPr sz="1200" b="0">
                <a:solidFill>
                  <a:schemeClr val="bg1"/>
                </a:solidFill>
              </a:defRPr>
            </a:lvl1pPr>
            <a:lvl2pPr marL="457200" indent="0">
              <a:buNone/>
              <a:defRPr sz="1200" b="1">
                <a:solidFill>
                  <a:schemeClr val="bg1"/>
                </a:solidFill>
              </a:defRPr>
            </a:lvl2pPr>
            <a:lvl3pPr marL="914400" indent="0">
              <a:buNone/>
              <a:defRPr sz="1200" b="1">
                <a:solidFill>
                  <a:schemeClr val="bg1"/>
                </a:solidFill>
              </a:defRPr>
            </a:lvl3pPr>
            <a:lvl4pPr marL="1371600" indent="0">
              <a:buNone/>
              <a:defRPr sz="1200" b="1">
                <a:solidFill>
                  <a:schemeClr val="bg1"/>
                </a:solidFill>
              </a:defRPr>
            </a:lvl4pPr>
            <a:lvl5pPr marL="1828800" indent="0">
              <a:buNone/>
              <a:defRPr sz="1200" b="1">
                <a:solidFill>
                  <a:schemeClr val="bg1"/>
                </a:solidFill>
              </a:defRPr>
            </a:lvl5pPr>
          </a:lstStyle>
          <a:p>
            <a:pPr lvl="0"/>
            <a:r>
              <a:rPr lang="en-US"/>
              <a:t>Date</a:t>
            </a:r>
          </a:p>
        </p:txBody>
      </p:sp>
    </p:spTree>
    <p:extLst>
      <p:ext uri="{BB962C8B-B14F-4D97-AF65-F5344CB8AC3E}">
        <p14:creationId xmlns:p14="http://schemas.microsoft.com/office/powerpoint/2010/main" val="2531417161"/>
      </p:ext>
    </p:extLst>
  </p:cSld>
  <p:clrMapOvr>
    <a:overrideClrMapping bg1="lt1" tx1="dk1" bg2="lt2" tx2="dk2" accent1="accent1" accent2="accent2" accent3="accent3" accent4="accent4" accent5="accent5" accent6="accent6" hlink="hlink" folHlink="folHlink"/>
  </p:clrMapOvr>
  <p:hf sldNum="0" hdr="0" ftr="0" dt="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841480" y="6446520"/>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9AA3BC"/>
                </a:solidFill>
                <a:latin typeface="Aptos"/>
                <a:ea typeface="Aptos"/>
                <a:cs typeface="Aptos"/>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3.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45C2B3C7-96DB-9CB1-B976-7A4EF956DA5A}"/>
              </a:ext>
            </a:extLst>
          </p:cNvPr>
          <p:cNvSpPr/>
          <p:nvPr/>
        </p:nvSpPr>
        <p:spPr>
          <a:xfrm>
            <a:off x="7406640" y="228600"/>
            <a:ext cx="4160520" cy="438912"/>
          </a:xfrm>
          <a:prstGeom prst="rect">
            <a:avLst/>
          </a:prstGeom>
          <a:noFill/>
          <a:ln/>
        </p:spPr>
        <p:txBody>
          <a:bodyPr wrap="square" lIns="0" tIns="0" rIns="0" bIns="0" rtlCol="0" anchor="ctr">
            <a:normAutofit lnSpcReduction="10000"/>
          </a:bodyPr>
          <a:lstStyle/>
          <a:p>
            <a:pPr marL="0" indent="0" algn="r">
              <a:buNone/>
            </a:pPr>
            <a:r>
              <a:rPr lang="en-US" sz="3000" b="1" dirty="0">
                <a:solidFill>
                  <a:srgbClr val="FFFFFF"/>
                </a:solidFill>
              </a:rPr>
              <a:t>HACKFEST 2026</a:t>
            </a:r>
            <a:endParaRPr lang="en-US" sz="3000" b="1" dirty="0"/>
          </a:p>
        </p:txBody>
      </p:sp>
      <p:sp>
        <p:nvSpPr>
          <p:cNvPr id="6" name="Text 2">
            <a:extLst>
              <a:ext uri="{FF2B5EF4-FFF2-40B4-BE49-F238E27FC236}">
                <a16:creationId xmlns:a16="http://schemas.microsoft.com/office/drawing/2014/main" id="{049B5C7B-01D0-2D2D-0BA9-86D4216B6DCF}"/>
              </a:ext>
            </a:extLst>
          </p:cNvPr>
          <p:cNvSpPr/>
          <p:nvPr/>
        </p:nvSpPr>
        <p:spPr>
          <a:xfrm>
            <a:off x="8140588" y="667512"/>
            <a:ext cx="3426572" cy="283464"/>
          </a:xfrm>
          <a:prstGeom prst="rect">
            <a:avLst/>
          </a:prstGeom>
          <a:noFill/>
          <a:ln/>
        </p:spPr>
        <p:txBody>
          <a:bodyPr wrap="square" lIns="0" tIns="0" rIns="0" bIns="0" rtlCol="0" anchor="ctr"/>
          <a:lstStyle/>
          <a:p>
            <a:pPr marL="0" indent="0" algn="r">
              <a:buNone/>
            </a:pPr>
            <a:r>
              <a:rPr lang="en-US" sz="1400" dirty="0">
                <a:solidFill>
                  <a:srgbClr val="FFFFFF"/>
                </a:solidFill>
              </a:rPr>
              <a:t>By Innovation Council</a:t>
            </a:r>
            <a:endParaRPr lang="en-US" sz="1400" dirty="0"/>
          </a:p>
        </p:txBody>
      </p:sp>
      <p:sp>
        <p:nvSpPr>
          <p:cNvPr id="8" name="Text 1">
            <a:extLst>
              <a:ext uri="{FF2B5EF4-FFF2-40B4-BE49-F238E27FC236}">
                <a16:creationId xmlns:a16="http://schemas.microsoft.com/office/drawing/2014/main" id="{C0D318E5-DCBD-088D-763C-19720A6A7AAB}"/>
              </a:ext>
            </a:extLst>
          </p:cNvPr>
          <p:cNvSpPr/>
          <p:nvPr/>
        </p:nvSpPr>
        <p:spPr>
          <a:xfrm>
            <a:off x="7704697" y="5751576"/>
            <a:ext cx="4160520" cy="438912"/>
          </a:xfrm>
          <a:prstGeom prst="rect">
            <a:avLst/>
          </a:prstGeom>
          <a:noFill/>
          <a:ln/>
        </p:spPr>
        <p:txBody>
          <a:bodyPr wrap="square" lIns="0" tIns="0" rIns="0" bIns="0" rtlCol="0" anchor="ctr">
            <a:normAutofit fontScale="77500" lnSpcReduction="20000"/>
          </a:bodyPr>
          <a:lstStyle/>
          <a:p>
            <a:pPr marL="0" indent="0" algn="r">
              <a:buNone/>
            </a:pPr>
            <a:r>
              <a:rPr lang="en-US" sz="3000" b="1" dirty="0">
                <a:solidFill>
                  <a:srgbClr val="FFFFFF"/>
                </a:solidFill>
              </a:rPr>
              <a:t>Ignite Ideas. Build the future.</a:t>
            </a:r>
            <a:endParaRPr lang="en-US" sz="3000" b="1" dirty="0"/>
          </a:p>
        </p:txBody>
      </p:sp>
      <p:sp>
        <p:nvSpPr>
          <p:cNvPr id="10" name="Text 1">
            <a:extLst>
              <a:ext uri="{FF2B5EF4-FFF2-40B4-BE49-F238E27FC236}">
                <a16:creationId xmlns:a16="http://schemas.microsoft.com/office/drawing/2014/main" id="{364064EB-8F77-52B3-74A8-BF6DBCB6459A}"/>
              </a:ext>
            </a:extLst>
          </p:cNvPr>
          <p:cNvSpPr/>
          <p:nvPr/>
        </p:nvSpPr>
        <p:spPr>
          <a:xfrm>
            <a:off x="338328" y="3246120"/>
            <a:ext cx="6400800" cy="1783080"/>
          </a:xfrm>
          <a:prstGeom prst="rect">
            <a:avLst/>
          </a:prstGeom>
          <a:noFill/>
          <a:ln/>
        </p:spPr>
        <p:txBody>
          <a:bodyPr wrap="square" lIns="0" tIns="0" rIns="0" bIns="0" rtlCol="0" anchor="b"/>
          <a:lstStyle/>
          <a:p>
            <a:pPr marL="0" indent="0" algn="l">
              <a:buNone/>
            </a:pPr>
            <a:r>
              <a:rPr lang="en-GB" sz="4400" b="1" dirty="0">
                <a:solidFill>
                  <a:srgbClr val="FFFFFF"/>
                </a:solidFill>
              </a:rPr>
              <a:t>NIMO</a:t>
            </a:r>
          </a:p>
          <a:p>
            <a:pPr marL="0" indent="0" algn="l">
              <a:spcAft>
                <a:spcPts val="900"/>
              </a:spcAft>
              <a:buNone/>
            </a:pPr>
            <a:r>
              <a:rPr lang="en-GB" sz="2400" b="1" dirty="0">
                <a:solidFill>
                  <a:srgbClr val="FFFFFF"/>
                </a:solidFill>
              </a:rPr>
              <a:t>The Product Truth Agent</a:t>
            </a:r>
          </a:p>
          <a:p>
            <a:pPr marL="0" indent="0" algn="l">
              <a:buNone/>
            </a:pPr>
            <a:r>
              <a:rPr lang="en-GB" sz="1500" dirty="0">
                <a:solidFill>
                  <a:srgbClr val="DCE8FF"/>
                </a:solidFill>
              </a:rPr>
              <a:t>Team Matrix Slayers</a:t>
            </a:r>
          </a:p>
        </p:txBody>
      </p:sp>
    </p:spTree>
    <p:extLst>
      <p:ext uri="{BB962C8B-B14F-4D97-AF65-F5344CB8AC3E}">
        <p14:creationId xmlns:p14="http://schemas.microsoft.com/office/powerpoint/2010/main" val="2150649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420624"/>
            <a:ext cx="2468880" cy="201168"/>
          </a:xfrm>
          <a:prstGeom prst="rect">
            <a:avLst/>
          </a:prstGeom>
          <a:noFill/>
          <a:ln/>
        </p:spPr>
        <p:txBody>
          <a:bodyPr wrap="square" lIns="0" tIns="0" rIns="0" bIns="0" rtlCol="0" anchor="ctr"/>
          <a:lstStyle/>
          <a:p>
            <a:pPr marL="0" indent="0">
              <a:buNone/>
            </a:pPr>
            <a:r>
              <a:rPr lang="en-US" sz="900" b="1" dirty="0">
                <a:solidFill>
                  <a:srgbClr val="2E6AF6"/>
                </a:solidFill>
              </a:rPr>
              <a:t>01 / STORY</a:t>
            </a:r>
            <a:endParaRPr lang="en-US" sz="900" dirty="0"/>
          </a:p>
        </p:txBody>
      </p:sp>
      <p:sp>
        <p:nvSpPr>
          <p:cNvPr id="3" name="Text 1"/>
          <p:cNvSpPr/>
          <p:nvPr/>
        </p:nvSpPr>
        <p:spPr>
          <a:xfrm>
            <a:off x="566928" y="621792"/>
            <a:ext cx="9875520" cy="420624"/>
          </a:xfrm>
          <a:prstGeom prst="rect">
            <a:avLst/>
          </a:prstGeom>
          <a:noFill/>
          <a:ln/>
        </p:spPr>
        <p:txBody>
          <a:bodyPr wrap="square" lIns="0" tIns="0" rIns="0" bIns="0" rtlCol="0" anchor="ctr">
            <a:normAutofit/>
          </a:bodyPr>
          <a:lstStyle/>
          <a:p>
            <a:pPr marL="0" indent="0">
              <a:buNone/>
            </a:pPr>
            <a:r>
              <a:rPr lang="en-US" sz="2700" b="1" dirty="0">
                <a:solidFill>
                  <a:srgbClr val="08124F"/>
                </a:solidFill>
              </a:rPr>
              <a:t>Problem &amp; Solution Overview</a:t>
            </a:r>
            <a:endParaRPr lang="en-US" sz="2700" dirty="0"/>
          </a:p>
        </p:txBody>
      </p:sp>
      <p:sp>
        <p:nvSpPr>
          <p:cNvPr id="4" name="Text 2"/>
          <p:cNvSpPr/>
          <p:nvPr/>
        </p:nvSpPr>
        <p:spPr>
          <a:xfrm>
            <a:off x="566928" y="1078992"/>
            <a:ext cx="10515600" cy="274320"/>
          </a:xfrm>
          <a:prstGeom prst="rect">
            <a:avLst/>
          </a:prstGeom>
          <a:noFill/>
          <a:ln/>
        </p:spPr>
        <p:txBody>
          <a:bodyPr wrap="square" lIns="0" tIns="0" rIns="0" bIns="0" rtlCol="0" anchor="ctr">
            <a:normAutofit/>
          </a:bodyPr>
          <a:lstStyle/>
          <a:p>
            <a:pPr marL="0" indent="0">
              <a:buNone/>
            </a:pPr>
            <a:r>
              <a:rPr lang="en-GB" sz="1050" dirty="0">
                <a:solidFill>
                  <a:srgbClr val="5E6784"/>
                </a:solidFill>
              </a:rPr>
              <a:t>Linking a retail record to the right product page, and reading that page correctly, is still done by hand.</a:t>
            </a:r>
          </a:p>
        </p:txBody>
      </p:sp>
      <p:sp>
        <p:nvSpPr>
          <p:cNvPr id="5" name="Shape 3"/>
          <p:cNvSpPr/>
          <p:nvPr/>
        </p:nvSpPr>
        <p:spPr>
          <a:xfrm>
            <a:off x="566928" y="1572768"/>
            <a:ext cx="5349240" cy="1261872"/>
          </a:xfrm>
          <a:prstGeom prst="roundRect">
            <a:avLst>
              <a:gd name="adj" fmla="val 7246"/>
            </a:avLst>
          </a:prstGeom>
          <a:solidFill>
            <a:srgbClr val="FFFFFF"/>
          </a:solidFill>
          <a:ln w="12700">
            <a:solidFill>
              <a:srgbClr val="DCE1EE"/>
            </a:solidFill>
            <a:prstDash val="solid"/>
          </a:ln>
          <a:effectLst>
            <a:outerShdw blurRad="25400" dist="12700" dir="2700000" algn="bl" rotWithShape="0">
              <a:srgbClr val="000000">
                <a:alpha val="10000"/>
              </a:srgbClr>
            </a:outerShdw>
          </a:effectLst>
        </p:spPr>
        <p:txBody>
          <a:bodyPr/>
          <a:lstStyle/>
          <a:p>
            <a:endParaRPr lang="en-US"/>
          </a:p>
        </p:txBody>
      </p:sp>
      <p:sp>
        <p:nvSpPr>
          <p:cNvPr id="6" name="Shape 4"/>
          <p:cNvSpPr/>
          <p:nvPr/>
        </p:nvSpPr>
        <p:spPr>
          <a:xfrm>
            <a:off x="566928" y="1572768"/>
            <a:ext cx="73152" cy="1261872"/>
          </a:xfrm>
          <a:prstGeom prst="rect">
            <a:avLst/>
          </a:prstGeom>
          <a:solidFill>
            <a:srgbClr val="2E6AF6"/>
          </a:solidFill>
          <a:ln w="12700">
            <a:solidFill>
              <a:srgbClr val="2E6AF6"/>
            </a:solidFill>
            <a:prstDash val="solid"/>
          </a:ln>
        </p:spPr>
        <p:txBody>
          <a:bodyPr/>
          <a:lstStyle/>
          <a:p>
            <a:endParaRPr lang="en-US"/>
          </a:p>
        </p:txBody>
      </p:sp>
      <p:sp>
        <p:nvSpPr>
          <p:cNvPr id="7" name="Text 5"/>
          <p:cNvSpPr/>
          <p:nvPr/>
        </p:nvSpPr>
        <p:spPr>
          <a:xfrm>
            <a:off x="768096" y="1728216"/>
            <a:ext cx="4983480" cy="201168"/>
          </a:xfrm>
          <a:prstGeom prst="rect">
            <a:avLst/>
          </a:prstGeom>
          <a:noFill/>
          <a:ln/>
        </p:spPr>
        <p:txBody>
          <a:bodyPr wrap="square" lIns="0" tIns="0" rIns="0" bIns="0" rtlCol="0" anchor="ctr">
            <a:normAutofit/>
          </a:bodyPr>
          <a:lstStyle/>
          <a:p>
            <a:pPr marL="0" indent="0">
              <a:buNone/>
            </a:pPr>
            <a:r>
              <a:rPr lang="en-US" sz="850" b="1" dirty="0">
                <a:solidFill>
                  <a:srgbClr val="5E6784"/>
                </a:solidFill>
              </a:rPr>
              <a:t>PROBLEM STATEMENT</a:t>
            </a:r>
            <a:endParaRPr lang="en-US" sz="850" dirty="0"/>
          </a:p>
        </p:txBody>
      </p:sp>
      <p:sp>
        <p:nvSpPr>
          <p:cNvPr id="8" name="Text 6"/>
          <p:cNvSpPr/>
          <p:nvPr/>
        </p:nvSpPr>
        <p:spPr>
          <a:xfrm>
            <a:off x="768096" y="1956816"/>
            <a:ext cx="4965192" cy="749808"/>
          </a:xfrm>
          <a:prstGeom prst="rect">
            <a:avLst/>
          </a:prstGeom>
          <a:noFill/>
          <a:ln/>
        </p:spPr>
        <p:txBody>
          <a:bodyPr wrap="square" lIns="381" tIns="381" rIns="381" bIns="381" rtlCol="0" anchor="t">
            <a:normAutofit/>
          </a:bodyPr>
          <a:lstStyle/>
          <a:p>
            <a:pPr marL="0" indent="0">
              <a:buNone/>
            </a:pPr>
            <a:r>
              <a:rPr lang="en-GB" sz="1200" dirty="0">
                <a:solidFill>
                  <a:srgbClr val="172044"/>
                </a:solidFill>
              </a:rPr>
              <a:t>One product appears on dozens of pages with different names, pack sizes and promotions. Picking the true page and coding its 13 characteristics is manual, slow and easy to get wrong on look-alikes: a 2-pack, a refill, a sister variant.</a:t>
            </a:r>
          </a:p>
        </p:txBody>
      </p:sp>
      <p:sp>
        <p:nvSpPr>
          <p:cNvPr id="9" name="Text 7"/>
          <p:cNvSpPr/>
          <p:nvPr/>
        </p:nvSpPr>
        <p:spPr>
          <a:xfrm>
            <a:off x="5458968" y="1700784"/>
            <a:ext cx="228600" cy="228600"/>
          </a:xfrm>
          <a:prstGeom prst="rect">
            <a:avLst/>
          </a:prstGeom>
          <a:noFill/>
          <a:ln/>
        </p:spPr>
        <p:txBody>
          <a:bodyPr wrap="square" lIns="0" tIns="0" rIns="0" bIns="0" rtlCol="0" anchor="ctr"/>
          <a:lstStyle/>
          <a:p>
            <a:pPr marL="0" indent="0" algn="ctr">
              <a:buNone/>
            </a:pPr>
            <a:r>
              <a:rPr lang="en-US" sz="1200" b="1" dirty="0">
                <a:solidFill>
                  <a:srgbClr val="2E6AF6"/>
                </a:solidFill>
              </a:rPr>
              <a:t>01</a:t>
            </a:r>
            <a:endParaRPr lang="en-US" sz="1200" dirty="0"/>
          </a:p>
        </p:txBody>
      </p:sp>
      <p:sp>
        <p:nvSpPr>
          <p:cNvPr id="10" name="Shape 8"/>
          <p:cNvSpPr/>
          <p:nvPr/>
        </p:nvSpPr>
        <p:spPr>
          <a:xfrm>
            <a:off x="6245352" y="1572768"/>
            <a:ext cx="5349240" cy="1261872"/>
          </a:xfrm>
          <a:prstGeom prst="roundRect">
            <a:avLst>
              <a:gd name="adj" fmla="val 7246"/>
            </a:avLst>
          </a:prstGeom>
          <a:solidFill>
            <a:srgbClr val="FFFFFF"/>
          </a:solidFill>
          <a:ln w="12700">
            <a:solidFill>
              <a:srgbClr val="DCE1EE"/>
            </a:solidFill>
            <a:prstDash val="solid"/>
          </a:ln>
          <a:effectLst>
            <a:outerShdw blurRad="25400" dist="12700" dir="2700000" algn="bl" rotWithShape="0">
              <a:srgbClr val="000000">
                <a:alpha val="10000"/>
              </a:srgbClr>
            </a:outerShdw>
          </a:effectLst>
        </p:spPr>
        <p:txBody>
          <a:bodyPr/>
          <a:lstStyle/>
          <a:p>
            <a:endParaRPr lang="en-US"/>
          </a:p>
        </p:txBody>
      </p:sp>
      <p:sp>
        <p:nvSpPr>
          <p:cNvPr id="11" name="Shape 9"/>
          <p:cNvSpPr/>
          <p:nvPr/>
        </p:nvSpPr>
        <p:spPr>
          <a:xfrm>
            <a:off x="6245352" y="1572768"/>
            <a:ext cx="73152" cy="1261872"/>
          </a:xfrm>
          <a:prstGeom prst="rect">
            <a:avLst/>
          </a:prstGeom>
          <a:solidFill>
            <a:srgbClr val="35C7D8"/>
          </a:solidFill>
          <a:ln w="12700">
            <a:solidFill>
              <a:srgbClr val="35C7D8"/>
            </a:solidFill>
            <a:prstDash val="solid"/>
          </a:ln>
        </p:spPr>
        <p:txBody>
          <a:bodyPr/>
          <a:lstStyle/>
          <a:p>
            <a:endParaRPr lang="en-US"/>
          </a:p>
        </p:txBody>
      </p:sp>
      <p:sp>
        <p:nvSpPr>
          <p:cNvPr id="12" name="Text 10"/>
          <p:cNvSpPr/>
          <p:nvPr/>
        </p:nvSpPr>
        <p:spPr>
          <a:xfrm>
            <a:off x="6446520" y="1728216"/>
            <a:ext cx="4983480" cy="201168"/>
          </a:xfrm>
          <a:prstGeom prst="rect">
            <a:avLst/>
          </a:prstGeom>
          <a:noFill/>
          <a:ln/>
        </p:spPr>
        <p:txBody>
          <a:bodyPr wrap="square" lIns="0" tIns="0" rIns="0" bIns="0" rtlCol="0" anchor="ctr">
            <a:normAutofit/>
          </a:bodyPr>
          <a:lstStyle/>
          <a:p>
            <a:pPr marL="0" indent="0">
              <a:buNone/>
            </a:pPr>
            <a:r>
              <a:rPr lang="en-US" sz="850" b="1" dirty="0">
                <a:solidFill>
                  <a:srgbClr val="5E6784"/>
                </a:solidFill>
              </a:rPr>
              <a:t>TARGET AUDIENCE</a:t>
            </a:r>
            <a:endParaRPr lang="en-US" sz="850" dirty="0"/>
          </a:p>
        </p:txBody>
      </p:sp>
      <p:sp>
        <p:nvSpPr>
          <p:cNvPr id="13" name="Text 11"/>
          <p:cNvSpPr/>
          <p:nvPr/>
        </p:nvSpPr>
        <p:spPr>
          <a:xfrm>
            <a:off x="6446520" y="1956816"/>
            <a:ext cx="4965192" cy="749808"/>
          </a:xfrm>
          <a:prstGeom prst="rect">
            <a:avLst/>
          </a:prstGeom>
          <a:noFill/>
          <a:ln/>
        </p:spPr>
        <p:txBody>
          <a:bodyPr wrap="square" lIns="381" tIns="381" rIns="381" bIns="381" rtlCol="0" anchor="t">
            <a:normAutofit/>
          </a:bodyPr>
          <a:lstStyle/>
          <a:p>
            <a:pPr marL="0" indent="0">
              <a:buNone/>
            </a:pPr>
            <a:r>
              <a:rPr lang="en-GB" sz="1200" dirty="0">
                <a:solidFill>
                  <a:srgbClr val="172044"/>
                </a:solidFill>
              </a:rPr>
              <a:t>NIQ coding and data-quality teams who link retailer records to products and characteristics, and the analysts and clients downstream who depend on that coding being right.</a:t>
            </a:r>
          </a:p>
        </p:txBody>
      </p:sp>
      <p:sp>
        <p:nvSpPr>
          <p:cNvPr id="14" name="Text 12"/>
          <p:cNvSpPr/>
          <p:nvPr/>
        </p:nvSpPr>
        <p:spPr>
          <a:xfrm>
            <a:off x="11137392" y="1700784"/>
            <a:ext cx="228600" cy="228600"/>
          </a:xfrm>
          <a:prstGeom prst="rect">
            <a:avLst/>
          </a:prstGeom>
          <a:noFill/>
          <a:ln/>
        </p:spPr>
        <p:txBody>
          <a:bodyPr wrap="square" lIns="0" tIns="0" rIns="0" bIns="0" rtlCol="0" anchor="ctr"/>
          <a:lstStyle/>
          <a:p>
            <a:pPr marL="0" indent="0" algn="ctr">
              <a:buNone/>
            </a:pPr>
            <a:r>
              <a:rPr lang="en-US" sz="1200" b="1" dirty="0">
                <a:solidFill>
                  <a:srgbClr val="35C7D8"/>
                </a:solidFill>
              </a:rPr>
              <a:t>02</a:t>
            </a:r>
            <a:endParaRPr lang="en-US" sz="1200" dirty="0"/>
          </a:p>
        </p:txBody>
      </p:sp>
      <p:sp>
        <p:nvSpPr>
          <p:cNvPr id="15" name="Shape 13"/>
          <p:cNvSpPr/>
          <p:nvPr/>
        </p:nvSpPr>
        <p:spPr>
          <a:xfrm>
            <a:off x="566928" y="3090672"/>
            <a:ext cx="5349240" cy="1481328"/>
          </a:xfrm>
          <a:prstGeom prst="roundRect">
            <a:avLst>
              <a:gd name="adj" fmla="val 6173"/>
            </a:avLst>
          </a:prstGeom>
          <a:solidFill>
            <a:srgbClr val="FFFFFF"/>
          </a:solidFill>
          <a:ln w="12700">
            <a:solidFill>
              <a:srgbClr val="DCE1EE"/>
            </a:solidFill>
            <a:prstDash val="solid"/>
          </a:ln>
          <a:effectLst>
            <a:outerShdw blurRad="25400" dist="12700" dir="2700000" algn="bl" rotWithShape="0">
              <a:srgbClr val="000000">
                <a:alpha val="10000"/>
              </a:srgbClr>
            </a:outerShdw>
          </a:effectLst>
        </p:spPr>
        <p:txBody>
          <a:bodyPr/>
          <a:lstStyle/>
          <a:p>
            <a:endParaRPr lang="en-US"/>
          </a:p>
        </p:txBody>
      </p:sp>
      <p:sp>
        <p:nvSpPr>
          <p:cNvPr id="16" name="Shape 14"/>
          <p:cNvSpPr/>
          <p:nvPr/>
        </p:nvSpPr>
        <p:spPr>
          <a:xfrm>
            <a:off x="566928" y="3090672"/>
            <a:ext cx="73152" cy="1481328"/>
          </a:xfrm>
          <a:prstGeom prst="rect">
            <a:avLst/>
          </a:prstGeom>
          <a:solidFill>
            <a:srgbClr val="FFC83D"/>
          </a:solidFill>
          <a:ln w="12700">
            <a:solidFill>
              <a:srgbClr val="FFC83D"/>
            </a:solidFill>
            <a:prstDash val="solid"/>
          </a:ln>
        </p:spPr>
        <p:txBody>
          <a:bodyPr/>
          <a:lstStyle/>
          <a:p>
            <a:endParaRPr lang="en-US"/>
          </a:p>
        </p:txBody>
      </p:sp>
      <p:sp>
        <p:nvSpPr>
          <p:cNvPr id="17" name="Text 15"/>
          <p:cNvSpPr/>
          <p:nvPr/>
        </p:nvSpPr>
        <p:spPr>
          <a:xfrm>
            <a:off x="768096" y="3246120"/>
            <a:ext cx="4983480" cy="201168"/>
          </a:xfrm>
          <a:prstGeom prst="rect">
            <a:avLst/>
          </a:prstGeom>
          <a:noFill/>
          <a:ln/>
        </p:spPr>
        <p:txBody>
          <a:bodyPr wrap="square" lIns="0" tIns="0" rIns="0" bIns="0" rtlCol="0" anchor="ctr">
            <a:normAutofit/>
          </a:bodyPr>
          <a:lstStyle/>
          <a:p>
            <a:pPr marL="0" indent="0">
              <a:buNone/>
            </a:pPr>
            <a:r>
              <a:rPr lang="en-US" sz="850" b="1" dirty="0">
                <a:solidFill>
                  <a:srgbClr val="5E6784"/>
                </a:solidFill>
              </a:rPr>
              <a:t>YOUR SOLUTION</a:t>
            </a:r>
            <a:endParaRPr lang="en-US" sz="850" dirty="0"/>
          </a:p>
        </p:txBody>
      </p:sp>
      <p:sp>
        <p:nvSpPr>
          <p:cNvPr id="18" name="Text 16"/>
          <p:cNvSpPr/>
          <p:nvPr/>
        </p:nvSpPr>
        <p:spPr>
          <a:xfrm>
            <a:off x="768096" y="3493008"/>
            <a:ext cx="4965192" cy="960120"/>
          </a:xfrm>
          <a:prstGeom prst="rect">
            <a:avLst/>
          </a:prstGeom>
          <a:noFill/>
          <a:ln/>
        </p:spPr>
        <p:txBody>
          <a:bodyPr wrap="square" lIns="381" tIns="381" rIns="381" bIns="381" rtlCol="0" anchor="t">
            <a:normAutofit/>
          </a:bodyPr>
          <a:lstStyle/>
          <a:p>
            <a:pPr marL="0" indent="0">
              <a:buNone/>
            </a:pPr>
            <a:r>
              <a:rPr lang="en-GB" sz="1200" dirty="0">
                <a:solidFill>
                  <a:srgbClr val="172044"/>
                </a:solidFill>
              </a:rPr>
              <a:t>NIMO reads a retail record (description, brand, barcode, retailer), finds the page that is that product, names its module, fills only the characteristics that apply and explains each answer. It writes the submission file itself, in the exact qa format.</a:t>
            </a:r>
          </a:p>
        </p:txBody>
      </p:sp>
      <p:sp>
        <p:nvSpPr>
          <p:cNvPr id="19" name="Text 17"/>
          <p:cNvSpPr/>
          <p:nvPr/>
        </p:nvSpPr>
        <p:spPr>
          <a:xfrm>
            <a:off x="5458968" y="3218688"/>
            <a:ext cx="228600" cy="228600"/>
          </a:xfrm>
          <a:prstGeom prst="rect">
            <a:avLst/>
          </a:prstGeom>
          <a:noFill/>
          <a:ln/>
        </p:spPr>
        <p:txBody>
          <a:bodyPr wrap="square" lIns="0" tIns="0" rIns="0" bIns="0" rtlCol="0" anchor="ctr"/>
          <a:lstStyle/>
          <a:p>
            <a:pPr marL="0" indent="0" algn="ctr">
              <a:buNone/>
            </a:pPr>
            <a:r>
              <a:rPr lang="en-US" sz="1200" b="1" dirty="0">
                <a:solidFill>
                  <a:srgbClr val="FFC83D"/>
                </a:solidFill>
              </a:rPr>
              <a:t>03</a:t>
            </a:r>
            <a:endParaRPr lang="en-US" sz="1200" dirty="0"/>
          </a:p>
        </p:txBody>
      </p:sp>
      <p:sp>
        <p:nvSpPr>
          <p:cNvPr id="20" name="Shape 18"/>
          <p:cNvSpPr/>
          <p:nvPr/>
        </p:nvSpPr>
        <p:spPr>
          <a:xfrm>
            <a:off x="6245352" y="3090672"/>
            <a:ext cx="5349240" cy="1481328"/>
          </a:xfrm>
          <a:prstGeom prst="roundRect">
            <a:avLst>
              <a:gd name="adj" fmla="val 6173"/>
            </a:avLst>
          </a:prstGeom>
          <a:solidFill>
            <a:srgbClr val="FFFFFF"/>
          </a:solidFill>
          <a:ln w="12700">
            <a:solidFill>
              <a:srgbClr val="DCE1EE"/>
            </a:solidFill>
            <a:prstDash val="solid"/>
          </a:ln>
          <a:effectLst>
            <a:outerShdw blurRad="25400" dist="12700" dir="2700000" algn="bl" rotWithShape="0">
              <a:srgbClr val="000000">
                <a:alpha val="10000"/>
              </a:srgbClr>
            </a:outerShdw>
          </a:effectLst>
        </p:spPr>
        <p:txBody>
          <a:bodyPr/>
          <a:lstStyle/>
          <a:p>
            <a:endParaRPr lang="en-US"/>
          </a:p>
        </p:txBody>
      </p:sp>
      <p:sp>
        <p:nvSpPr>
          <p:cNvPr id="21" name="Shape 19"/>
          <p:cNvSpPr/>
          <p:nvPr/>
        </p:nvSpPr>
        <p:spPr>
          <a:xfrm>
            <a:off x="6245352" y="3090672"/>
            <a:ext cx="73152" cy="1481328"/>
          </a:xfrm>
          <a:prstGeom prst="rect">
            <a:avLst/>
          </a:prstGeom>
          <a:solidFill>
            <a:srgbClr val="38B27B"/>
          </a:solidFill>
          <a:ln w="12700">
            <a:solidFill>
              <a:srgbClr val="38B27B"/>
            </a:solidFill>
            <a:prstDash val="solid"/>
          </a:ln>
        </p:spPr>
        <p:txBody>
          <a:bodyPr/>
          <a:lstStyle/>
          <a:p>
            <a:endParaRPr lang="en-US"/>
          </a:p>
        </p:txBody>
      </p:sp>
      <p:sp>
        <p:nvSpPr>
          <p:cNvPr id="22" name="Text 20"/>
          <p:cNvSpPr/>
          <p:nvPr/>
        </p:nvSpPr>
        <p:spPr>
          <a:xfrm>
            <a:off x="6446520" y="3246120"/>
            <a:ext cx="4983480" cy="201168"/>
          </a:xfrm>
          <a:prstGeom prst="rect">
            <a:avLst/>
          </a:prstGeom>
          <a:noFill/>
          <a:ln/>
        </p:spPr>
        <p:txBody>
          <a:bodyPr wrap="square" lIns="0" tIns="0" rIns="0" bIns="0" rtlCol="0" anchor="ctr">
            <a:normAutofit/>
          </a:bodyPr>
          <a:lstStyle/>
          <a:p>
            <a:pPr marL="0" indent="0">
              <a:buNone/>
            </a:pPr>
            <a:r>
              <a:rPr lang="en-US" sz="850" b="1" dirty="0">
                <a:solidFill>
                  <a:srgbClr val="5E6784"/>
                </a:solidFill>
              </a:rPr>
              <a:t>VALUE PROPOSITION</a:t>
            </a:r>
            <a:endParaRPr lang="en-US" sz="850" dirty="0"/>
          </a:p>
        </p:txBody>
      </p:sp>
      <p:sp>
        <p:nvSpPr>
          <p:cNvPr id="23" name="Text 21"/>
          <p:cNvSpPr/>
          <p:nvPr/>
        </p:nvSpPr>
        <p:spPr>
          <a:xfrm>
            <a:off x="6446520" y="3493008"/>
            <a:ext cx="4965192" cy="960120"/>
          </a:xfrm>
          <a:prstGeom prst="rect">
            <a:avLst/>
          </a:prstGeom>
          <a:noFill/>
          <a:ln/>
        </p:spPr>
        <p:txBody>
          <a:bodyPr wrap="square" lIns="381" tIns="381" rIns="381" bIns="381" rtlCol="0" anchor="t">
            <a:normAutofit/>
          </a:bodyPr>
          <a:lstStyle/>
          <a:p>
            <a:pPr marL="0" indent="0">
              <a:buNone/>
            </a:pPr>
            <a:r>
              <a:rPr lang="en-GB" sz="1200" dirty="0">
                <a:solidFill>
                  <a:srgbClr val="172044"/>
                </a:solidFill>
              </a:rPr>
              <a:t>It proves identity instead of guessing: the same barcode on the page confirms it, a different one rules it out. It remembers every product it has confirmed, so a repeat costs a lookup, not a search. And every answer comes with its evidence.</a:t>
            </a:r>
          </a:p>
        </p:txBody>
      </p:sp>
      <p:sp>
        <p:nvSpPr>
          <p:cNvPr id="24" name="Text 22"/>
          <p:cNvSpPr/>
          <p:nvPr/>
        </p:nvSpPr>
        <p:spPr>
          <a:xfrm>
            <a:off x="11137392" y="3218688"/>
            <a:ext cx="228600" cy="228600"/>
          </a:xfrm>
          <a:prstGeom prst="rect">
            <a:avLst/>
          </a:prstGeom>
          <a:noFill/>
          <a:ln/>
        </p:spPr>
        <p:txBody>
          <a:bodyPr wrap="square" lIns="0" tIns="0" rIns="0" bIns="0" rtlCol="0" anchor="ctr"/>
          <a:lstStyle/>
          <a:p>
            <a:pPr marL="0" indent="0" algn="ctr">
              <a:buNone/>
            </a:pPr>
            <a:r>
              <a:rPr lang="en-US" sz="1200" b="1" dirty="0">
                <a:solidFill>
                  <a:srgbClr val="38B27B"/>
                </a:solidFill>
              </a:rPr>
              <a:t>04</a:t>
            </a:r>
            <a:endParaRPr lang="en-US" sz="1200" dirty="0"/>
          </a:p>
        </p:txBody>
      </p:sp>
      <p:sp>
        <p:nvSpPr>
          <p:cNvPr id="25" name="Shape 23"/>
          <p:cNvSpPr/>
          <p:nvPr/>
        </p:nvSpPr>
        <p:spPr>
          <a:xfrm>
            <a:off x="566928" y="4956048"/>
            <a:ext cx="1271016" cy="310896"/>
          </a:xfrm>
          <a:prstGeom prst="roundRect">
            <a:avLst>
              <a:gd name="adj" fmla="val 23529"/>
            </a:avLst>
          </a:prstGeom>
          <a:solidFill>
            <a:srgbClr val="DCE8FF"/>
          </a:solidFill>
          <a:ln w="12700">
            <a:solidFill>
              <a:srgbClr val="DCE8FF"/>
            </a:solidFill>
            <a:prstDash val="solid"/>
          </a:ln>
        </p:spPr>
        <p:txBody>
          <a:bodyPr/>
          <a:lstStyle/>
          <a:p>
            <a:endParaRPr lang="en-US"/>
          </a:p>
        </p:txBody>
      </p:sp>
      <p:sp>
        <p:nvSpPr>
          <p:cNvPr id="26" name="Text 24"/>
          <p:cNvSpPr/>
          <p:nvPr/>
        </p:nvSpPr>
        <p:spPr>
          <a:xfrm>
            <a:off x="566928" y="5038344"/>
            <a:ext cx="1271016" cy="146304"/>
          </a:xfrm>
          <a:prstGeom prst="rect">
            <a:avLst/>
          </a:prstGeom>
          <a:noFill/>
          <a:ln/>
        </p:spPr>
        <p:txBody>
          <a:bodyPr wrap="square" lIns="0" tIns="0" rIns="0" bIns="0" rtlCol="0" anchor="ctr"/>
          <a:lstStyle/>
          <a:p>
            <a:pPr marL="0" indent="0" algn="ctr">
              <a:buNone/>
            </a:pPr>
            <a:r>
              <a:rPr lang="en-GB" sz="850" b="1" dirty="0">
                <a:solidFill>
                  <a:srgbClr val="2E6AF6"/>
                </a:solidFill>
              </a:rPr>
              <a:t>BEFORE → AFTER</a:t>
            </a:r>
          </a:p>
        </p:txBody>
      </p:sp>
      <p:sp>
        <p:nvSpPr>
          <p:cNvPr id="27" name="Text 25"/>
          <p:cNvSpPr/>
          <p:nvPr/>
        </p:nvSpPr>
        <p:spPr>
          <a:xfrm>
            <a:off x="2011680" y="4956048"/>
            <a:ext cx="9509760" cy="310896"/>
          </a:xfrm>
          <a:prstGeom prst="rect">
            <a:avLst/>
          </a:prstGeom>
          <a:noFill/>
          <a:ln/>
        </p:spPr>
        <p:txBody>
          <a:bodyPr wrap="square" lIns="0" tIns="0" rIns="0" bIns="0" rtlCol="0" anchor="ctr"/>
          <a:lstStyle/>
          <a:p>
            <a:pPr marL="0" indent="0">
              <a:buNone/>
            </a:pPr>
            <a:r>
              <a:rPr lang="en-GB" sz="1100" b="1" dirty="0">
                <a:solidFill>
                  <a:srgbClr val="08124F"/>
                </a:solidFill>
              </a:rPr>
              <a:t>Before: </a:t>
            </a:r>
            <a:r>
              <a:rPr lang="en-GB" sz="1100" dirty="0">
                <a:solidFill>
                  <a:srgbClr val="5E6784"/>
                </a:solidFill>
              </a:rPr>
              <a:t>a coder opens pages one by one.   </a:t>
            </a:r>
            <a:r>
              <a:rPr lang="en-GB" sz="1100" b="1" dirty="0">
                <a:solidFill>
                  <a:srgbClr val="08124F"/>
                </a:solidFill>
              </a:rPr>
              <a:t>After: </a:t>
            </a:r>
            <a:r>
              <a:rPr lang="en-GB" sz="1100" dirty="0">
                <a:solidFill>
                  <a:srgbClr val="5E6784"/>
                </a:solidFill>
              </a:rPr>
              <a:t>all 412 qa products resolved in one run, 114 confirmed by barcode, each with its reasoning.</a:t>
            </a:r>
          </a:p>
        </p:txBody>
      </p:sp>
      <p:sp>
        <p:nvSpPr>
          <p:cNvPr id="28" name="Slide Number Placeholder 0"/>
          <p:cNvSpPr>
            <a:spLocks noGrp="1"/>
          </p:cNvSpPr>
          <p:nvPr>
            <p:ph type="sldNum" sz="quarter" idx="4294967295"/>
          </p:nvPr>
        </p:nvSpPr>
        <p:spPr>
          <a:xfrm>
            <a:off x="11841480" y="6446520"/>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9AA3BC"/>
                </a:solidFill>
                <a:latin typeface="Aptos"/>
                <a:ea typeface="Aptos"/>
                <a:cs typeface="Aptos"/>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420624"/>
            <a:ext cx="2468880" cy="201168"/>
          </a:xfrm>
          <a:prstGeom prst="rect">
            <a:avLst/>
          </a:prstGeom>
          <a:noFill/>
          <a:ln/>
        </p:spPr>
        <p:txBody>
          <a:bodyPr wrap="square" lIns="0" tIns="0" rIns="0" bIns="0" rtlCol="0" anchor="ctr"/>
          <a:lstStyle/>
          <a:p>
            <a:pPr marL="0" indent="0">
              <a:buNone/>
            </a:pPr>
            <a:r>
              <a:rPr lang="en-US" sz="900" b="1" dirty="0">
                <a:solidFill>
                  <a:srgbClr val="2E6AF6"/>
                </a:solidFill>
              </a:rPr>
              <a:t>02 / SOLUTION</a:t>
            </a:r>
            <a:endParaRPr lang="en-US" sz="900" dirty="0"/>
          </a:p>
        </p:txBody>
      </p:sp>
      <p:sp>
        <p:nvSpPr>
          <p:cNvPr id="3" name="Text 1"/>
          <p:cNvSpPr/>
          <p:nvPr/>
        </p:nvSpPr>
        <p:spPr>
          <a:xfrm>
            <a:off x="566928" y="621792"/>
            <a:ext cx="9875520" cy="420624"/>
          </a:xfrm>
          <a:prstGeom prst="rect">
            <a:avLst/>
          </a:prstGeom>
          <a:noFill/>
          <a:ln/>
        </p:spPr>
        <p:txBody>
          <a:bodyPr wrap="square" lIns="0" tIns="0" rIns="0" bIns="0" rtlCol="0" anchor="ctr">
            <a:normAutofit/>
          </a:bodyPr>
          <a:lstStyle/>
          <a:p>
            <a:pPr marL="0" indent="0">
              <a:buNone/>
            </a:pPr>
            <a:r>
              <a:rPr lang="en-US" sz="2700" b="1" dirty="0">
                <a:solidFill>
                  <a:srgbClr val="08124F"/>
                </a:solidFill>
              </a:rPr>
              <a:t>Detailed Solution</a:t>
            </a:r>
            <a:endParaRPr lang="en-US" sz="2700" dirty="0"/>
          </a:p>
        </p:txBody>
      </p:sp>
      <p:sp>
        <p:nvSpPr>
          <p:cNvPr id="4" name="Text 2"/>
          <p:cNvSpPr/>
          <p:nvPr/>
        </p:nvSpPr>
        <p:spPr>
          <a:xfrm>
            <a:off x="566928" y="1078992"/>
            <a:ext cx="10515600" cy="274320"/>
          </a:xfrm>
          <a:prstGeom prst="rect">
            <a:avLst/>
          </a:prstGeom>
          <a:noFill/>
          <a:ln/>
        </p:spPr>
        <p:txBody>
          <a:bodyPr wrap="square" lIns="0" tIns="0" rIns="0" bIns="0" rtlCol="0" anchor="ctr">
            <a:normAutofit/>
          </a:bodyPr>
          <a:lstStyle/>
          <a:p>
            <a:pPr marL="0" indent="0">
              <a:buNone/>
            </a:pPr>
            <a:r>
              <a:rPr lang="en-GB" sz="1050" dirty="0">
                <a:solidFill>
                  <a:srgbClr val="5E6784"/>
                </a:solidFill>
              </a:rPr>
              <a:t>Rules and evidence do most of the work. The model is used only where judgement is needed.</a:t>
            </a:r>
          </a:p>
        </p:txBody>
      </p:sp>
      <p:sp>
        <p:nvSpPr>
          <p:cNvPr id="5" name="Shape 3"/>
          <p:cNvSpPr/>
          <p:nvPr/>
        </p:nvSpPr>
        <p:spPr>
          <a:xfrm>
            <a:off x="566928" y="1600200"/>
            <a:ext cx="3703320" cy="3401568"/>
          </a:xfrm>
          <a:prstGeom prst="roundRect">
            <a:avLst>
              <a:gd name="adj" fmla="val 2688"/>
            </a:avLst>
          </a:prstGeom>
          <a:solidFill>
            <a:srgbClr val="FFFFFF"/>
          </a:solidFill>
          <a:ln w="12700">
            <a:solidFill>
              <a:srgbClr val="DCE1EE"/>
            </a:solidFill>
            <a:prstDash val="solid"/>
          </a:ln>
          <a:effectLst>
            <a:outerShdw blurRad="25400" dist="12700" dir="2700000" algn="bl" rotWithShape="0">
              <a:srgbClr val="000000">
                <a:alpha val="10000"/>
              </a:srgbClr>
            </a:outerShdw>
          </a:effectLst>
        </p:spPr>
        <p:txBody>
          <a:bodyPr/>
          <a:lstStyle/>
          <a:p>
            <a:endParaRPr lang="en-US"/>
          </a:p>
        </p:txBody>
      </p:sp>
      <p:sp>
        <p:nvSpPr>
          <p:cNvPr id="6" name="Shape 4"/>
          <p:cNvSpPr/>
          <p:nvPr/>
        </p:nvSpPr>
        <p:spPr>
          <a:xfrm>
            <a:off x="566928" y="1600200"/>
            <a:ext cx="73152" cy="3401568"/>
          </a:xfrm>
          <a:prstGeom prst="rect">
            <a:avLst/>
          </a:prstGeom>
          <a:solidFill>
            <a:srgbClr val="2E6AF6"/>
          </a:solidFill>
          <a:ln w="12700">
            <a:solidFill>
              <a:srgbClr val="2E6AF6"/>
            </a:solidFill>
            <a:prstDash val="solid"/>
          </a:ln>
        </p:spPr>
        <p:txBody>
          <a:bodyPr/>
          <a:lstStyle/>
          <a:p>
            <a:endParaRPr lang="en-US"/>
          </a:p>
        </p:txBody>
      </p:sp>
      <p:sp>
        <p:nvSpPr>
          <p:cNvPr id="7" name="Text 5"/>
          <p:cNvSpPr/>
          <p:nvPr/>
        </p:nvSpPr>
        <p:spPr>
          <a:xfrm>
            <a:off x="768096" y="1755648"/>
            <a:ext cx="3337560" cy="201168"/>
          </a:xfrm>
          <a:prstGeom prst="rect">
            <a:avLst/>
          </a:prstGeom>
          <a:noFill/>
          <a:ln/>
        </p:spPr>
        <p:txBody>
          <a:bodyPr wrap="square" lIns="0" tIns="0" rIns="0" bIns="0" rtlCol="0" anchor="ctr">
            <a:normAutofit/>
          </a:bodyPr>
          <a:lstStyle/>
          <a:p>
            <a:pPr marL="0" indent="0">
              <a:buNone/>
            </a:pPr>
            <a:r>
              <a:rPr lang="en-US" sz="850" b="1" dirty="0">
                <a:solidFill>
                  <a:srgbClr val="5E6784"/>
                </a:solidFill>
              </a:rPr>
              <a:t>INNOVATION &amp; ORIGINALITY</a:t>
            </a:r>
            <a:endParaRPr lang="en-US" sz="850" dirty="0"/>
          </a:p>
        </p:txBody>
      </p:sp>
      <p:sp>
        <p:nvSpPr>
          <p:cNvPr id="8" name="Text 6"/>
          <p:cNvSpPr/>
          <p:nvPr/>
        </p:nvSpPr>
        <p:spPr>
          <a:xfrm>
            <a:off x="768096" y="2103120"/>
            <a:ext cx="3337560" cy="2743200"/>
          </a:xfrm>
          <a:prstGeom prst="rect">
            <a:avLst/>
          </a:prstGeom>
          <a:noFill/>
          <a:ln/>
        </p:spPr>
        <p:txBody>
          <a:bodyPr wrap="square" lIns="381" tIns="381" rIns="381" bIns="381" rtlCol="0" anchor="t">
            <a:normAutofit/>
          </a:bodyPr>
          <a:lstStyle/>
          <a:p>
            <a:pPr marL="0" indent="0">
              <a:spcAft>
                <a:spcPts val="700"/>
              </a:spcAft>
              <a:buNone/>
            </a:pPr>
            <a:r>
              <a:rPr lang="en-GB" sz="1150" b="1" dirty="0">
                <a:solidFill>
                  <a:srgbClr val="08124F"/>
                </a:solidFill>
              </a:rPr>
              <a:t>Barcode first. </a:t>
            </a:r>
            <a:r>
              <a:rPr lang="en-GB" sz="1150" dirty="0">
                <a:solidFill>
                  <a:srgbClr val="172044"/>
                </a:solidFill>
              </a:rPr>
              <a:t>A page showing the record's barcode is accepted; a different barcode is rejected, however similar the text looks.</a:t>
            </a:r>
          </a:p>
          <a:p>
            <a:pPr marL="0" indent="0">
              <a:spcAft>
                <a:spcPts val="700"/>
              </a:spcAft>
              <a:buNone/>
            </a:pPr>
            <a:r>
              <a:rPr lang="en-GB" sz="1150" b="1" dirty="0">
                <a:solidFill>
                  <a:srgbClr val="08124F"/>
                </a:solidFill>
              </a:rPr>
              <a:t>A memory of products. </a:t>
            </a:r>
            <a:r>
              <a:rPr lang="en-GB" sz="1150" dirty="0">
                <a:solidFill>
                  <a:srgbClr val="172044"/>
                </a:solidFill>
              </a:rPr>
              <a:t>Every confirmed product is stored. On the re-run, 111 of the 412 qa rows were answered from memory, with no search at all.</a:t>
            </a:r>
          </a:p>
          <a:p>
            <a:pPr marL="0" indent="0">
              <a:buNone/>
            </a:pPr>
            <a:r>
              <a:rPr lang="en-GB" sz="1150" b="1" dirty="0">
                <a:solidFill>
                  <a:srgbClr val="08124F"/>
                </a:solidFill>
              </a:rPr>
              <a:t>Reasoning you can check. </a:t>
            </a:r>
            <a:r>
              <a:rPr lang="en-GB" sz="1150" dirty="0">
                <a:solidFill>
                  <a:srgbClr val="172044"/>
                </a:solidFill>
              </a:rPr>
              <a:t>Each sentence is built from a recorded field, so it cannot claim anything the evidence does not show.</a:t>
            </a:r>
          </a:p>
        </p:txBody>
      </p:sp>
      <p:sp>
        <p:nvSpPr>
          <p:cNvPr id="9" name="Text 7"/>
          <p:cNvSpPr/>
          <p:nvPr/>
        </p:nvSpPr>
        <p:spPr>
          <a:xfrm>
            <a:off x="3813048" y="1728216"/>
            <a:ext cx="228600" cy="228600"/>
          </a:xfrm>
          <a:prstGeom prst="rect">
            <a:avLst/>
          </a:prstGeom>
          <a:noFill/>
          <a:ln/>
        </p:spPr>
        <p:txBody>
          <a:bodyPr wrap="square" lIns="0" tIns="0" rIns="0" bIns="0" rtlCol="0" anchor="ctr"/>
          <a:lstStyle/>
          <a:p>
            <a:pPr marL="0" indent="0" algn="ctr">
              <a:buNone/>
            </a:pPr>
            <a:r>
              <a:rPr lang="en-US" sz="1200" b="1" dirty="0">
                <a:solidFill>
                  <a:srgbClr val="2E6AF6"/>
                </a:solidFill>
              </a:rPr>
              <a:t>A</a:t>
            </a:r>
            <a:endParaRPr lang="en-US" sz="1200" dirty="0"/>
          </a:p>
        </p:txBody>
      </p:sp>
      <p:sp>
        <p:nvSpPr>
          <p:cNvPr id="10" name="Shape 8"/>
          <p:cNvSpPr/>
          <p:nvPr/>
        </p:nvSpPr>
        <p:spPr>
          <a:xfrm>
            <a:off x="4416552" y="1600200"/>
            <a:ext cx="3703320" cy="3401568"/>
          </a:xfrm>
          <a:prstGeom prst="roundRect">
            <a:avLst>
              <a:gd name="adj" fmla="val 2688"/>
            </a:avLst>
          </a:prstGeom>
          <a:solidFill>
            <a:srgbClr val="FFFFFF"/>
          </a:solidFill>
          <a:ln w="12700">
            <a:solidFill>
              <a:srgbClr val="DCE1EE"/>
            </a:solidFill>
            <a:prstDash val="solid"/>
          </a:ln>
          <a:effectLst>
            <a:outerShdw blurRad="25400" dist="12700" dir="2700000" algn="bl" rotWithShape="0">
              <a:srgbClr val="000000">
                <a:alpha val="10000"/>
              </a:srgbClr>
            </a:outerShdw>
          </a:effectLst>
        </p:spPr>
        <p:txBody>
          <a:bodyPr/>
          <a:lstStyle/>
          <a:p>
            <a:endParaRPr lang="en-US"/>
          </a:p>
        </p:txBody>
      </p:sp>
      <p:sp>
        <p:nvSpPr>
          <p:cNvPr id="11" name="Shape 9"/>
          <p:cNvSpPr/>
          <p:nvPr/>
        </p:nvSpPr>
        <p:spPr>
          <a:xfrm>
            <a:off x="4416552" y="1600200"/>
            <a:ext cx="73152" cy="3401568"/>
          </a:xfrm>
          <a:prstGeom prst="rect">
            <a:avLst/>
          </a:prstGeom>
          <a:solidFill>
            <a:srgbClr val="35C7D8"/>
          </a:solidFill>
          <a:ln w="12700">
            <a:solidFill>
              <a:srgbClr val="35C7D8"/>
            </a:solidFill>
            <a:prstDash val="solid"/>
          </a:ln>
        </p:spPr>
        <p:txBody>
          <a:bodyPr/>
          <a:lstStyle/>
          <a:p>
            <a:endParaRPr lang="en-US"/>
          </a:p>
        </p:txBody>
      </p:sp>
      <p:sp>
        <p:nvSpPr>
          <p:cNvPr id="12" name="Text 10"/>
          <p:cNvSpPr/>
          <p:nvPr/>
        </p:nvSpPr>
        <p:spPr>
          <a:xfrm>
            <a:off x="4617720" y="1755648"/>
            <a:ext cx="3337560" cy="201168"/>
          </a:xfrm>
          <a:prstGeom prst="rect">
            <a:avLst/>
          </a:prstGeom>
          <a:noFill/>
          <a:ln/>
        </p:spPr>
        <p:txBody>
          <a:bodyPr wrap="square" lIns="0" tIns="0" rIns="0" bIns="0" rtlCol="0" anchor="ctr">
            <a:normAutofit/>
          </a:bodyPr>
          <a:lstStyle/>
          <a:p>
            <a:pPr marL="0" indent="0">
              <a:buNone/>
            </a:pPr>
            <a:r>
              <a:rPr lang="en-US" sz="850" b="1" dirty="0">
                <a:solidFill>
                  <a:srgbClr val="5E6784"/>
                </a:solidFill>
              </a:rPr>
              <a:t>SCALABILITY</a:t>
            </a:r>
            <a:endParaRPr lang="en-US" sz="850" dirty="0"/>
          </a:p>
        </p:txBody>
      </p:sp>
      <p:sp>
        <p:nvSpPr>
          <p:cNvPr id="13" name="Text 11"/>
          <p:cNvSpPr/>
          <p:nvPr/>
        </p:nvSpPr>
        <p:spPr>
          <a:xfrm>
            <a:off x="4617720" y="2103120"/>
            <a:ext cx="3337560" cy="2743200"/>
          </a:xfrm>
          <a:prstGeom prst="rect">
            <a:avLst/>
          </a:prstGeom>
          <a:noFill/>
          <a:ln/>
        </p:spPr>
        <p:txBody>
          <a:bodyPr wrap="square" lIns="381" tIns="381" rIns="381" bIns="381" rtlCol="0" anchor="t">
            <a:normAutofit/>
          </a:bodyPr>
          <a:lstStyle/>
          <a:p>
            <a:pPr marL="0" indent="0">
              <a:spcAft>
                <a:spcPts val="700"/>
              </a:spcAft>
              <a:buNone/>
            </a:pPr>
            <a:r>
              <a:rPr lang="en-GB" sz="1150" b="1" dirty="0">
                <a:solidFill>
                  <a:srgbClr val="08124F"/>
                </a:solidFill>
              </a:rPr>
              <a:t>Cheaper as it grows. </a:t>
            </a:r>
            <a:r>
              <a:rPr lang="en-GB" sz="1150" dirty="0">
                <a:solidFill>
                  <a:srgbClr val="172044"/>
                </a:solidFill>
              </a:rPr>
              <a:t>A product seen once is a lookup the next time, so the cost per row falls as the registry fills.</a:t>
            </a:r>
          </a:p>
          <a:p>
            <a:pPr marL="0" indent="0">
              <a:spcAft>
                <a:spcPts val="700"/>
              </a:spcAft>
              <a:buNone/>
            </a:pPr>
            <a:r>
              <a:rPr lang="en-GB" sz="1150" b="1" dirty="0">
                <a:solidFill>
                  <a:srgbClr val="08124F"/>
                </a:solidFill>
              </a:rPr>
              <a:t>Built for large runs. </a:t>
            </a:r>
            <a:r>
              <a:rPr lang="en-GB" sz="1150" dirty="0">
                <a:solidFill>
                  <a:srgbClr val="172044"/>
                </a:solidFill>
              </a:rPr>
              <a:t>Every step is cached and resumable. 412 rows ran in 107 minutes on free search engines, and a re-run gives a byte-identical file.</a:t>
            </a:r>
          </a:p>
          <a:p>
            <a:pPr marL="0" indent="0">
              <a:buNone/>
            </a:pPr>
            <a:r>
              <a:rPr lang="en-GB" sz="1150" b="1" dirty="0">
                <a:solidFill>
                  <a:srgbClr val="08124F"/>
                </a:solidFill>
              </a:rPr>
              <a:t>Any list, any machine. </a:t>
            </a:r>
            <a:r>
              <a:rPr lang="en-GB" sz="1150" dirty="0">
                <a:solidFill>
                  <a:srgbClr val="172044"/>
                </a:solidFill>
              </a:rPr>
              <a:t>An Excel file with a description and brand goes through the same pipeline. Search works through SearxNG or the Brave API, with no Docker needed.</a:t>
            </a:r>
          </a:p>
        </p:txBody>
      </p:sp>
      <p:sp>
        <p:nvSpPr>
          <p:cNvPr id="14" name="Text 12"/>
          <p:cNvSpPr/>
          <p:nvPr/>
        </p:nvSpPr>
        <p:spPr>
          <a:xfrm>
            <a:off x="7662672" y="1728216"/>
            <a:ext cx="228600" cy="228600"/>
          </a:xfrm>
          <a:prstGeom prst="rect">
            <a:avLst/>
          </a:prstGeom>
          <a:noFill/>
          <a:ln/>
        </p:spPr>
        <p:txBody>
          <a:bodyPr wrap="square" lIns="0" tIns="0" rIns="0" bIns="0" rtlCol="0" anchor="ctr"/>
          <a:lstStyle/>
          <a:p>
            <a:pPr marL="0" indent="0" algn="ctr">
              <a:buNone/>
            </a:pPr>
            <a:r>
              <a:rPr lang="en-US" sz="1200" b="1" dirty="0">
                <a:solidFill>
                  <a:srgbClr val="35C7D8"/>
                </a:solidFill>
              </a:rPr>
              <a:t>B</a:t>
            </a:r>
            <a:endParaRPr lang="en-US" sz="1200" dirty="0"/>
          </a:p>
        </p:txBody>
      </p:sp>
      <p:sp>
        <p:nvSpPr>
          <p:cNvPr id="15" name="Shape 13"/>
          <p:cNvSpPr/>
          <p:nvPr/>
        </p:nvSpPr>
        <p:spPr>
          <a:xfrm>
            <a:off x="8266176" y="1600200"/>
            <a:ext cx="3328416" cy="3401568"/>
          </a:xfrm>
          <a:prstGeom prst="roundRect">
            <a:avLst>
              <a:gd name="adj" fmla="val 2747"/>
            </a:avLst>
          </a:prstGeom>
          <a:solidFill>
            <a:srgbClr val="FFFFFF"/>
          </a:solidFill>
          <a:ln w="12700">
            <a:solidFill>
              <a:srgbClr val="DCE1EE"/>
            </a:solidFill>
            <a:prstDash val="solid"/>
          </a:ln>
          <a:effectLst>
            <a:outerShdw blurRad="25400" dist="12700" dir="2700000" algn="bl" rotWithShape="0">
              <a:srgbClr val="000000">
                <a:alpha val="10000"/>
              </a:srgbClr>
            </a:outerShdw>
          </a:effectLst>
        </p:spPr>
        <p:txBody>
          <a:bodyPr/>
          <a:lstStyle/>
          <a:p>
            <a:endParaRPr lang="en-US"/>
          </a:p>
        </p:txBody>
      </p:sp>
      <p:sp>
        <p:nvSpPr>
          <p:cNvPr id="16" name="Shape 14"/>
          <p:cNvSpPr/>
          <p:nvPr/>
        </p:nvSpPr>
        <p:spPr>
          <a:xfrm>
            <a:off x="8266176" y="1600200"/>
            <a:ext cx="73152" cy="3401568"/>
          </a:xfrm>
          <a:prstGeom prst="rect">
            <a:avLst/>
          </a:prstGeom>
          <a:solidFill>
            <a:srgbClr val="FFC83D"/>
          </a:solidFill>
          <a:ln w="12700">
            <a:solidFill>
              <a:srgbClr val="FFC83D"/>
            </a:solidFill>
            <a:prstDash val="solid"/>
          </a:ln>
        </p:spPr>
        <p:txBody>
          <a:bodyPr/>
          <a:lstStyle/>
          <a:p>
            <a:endParaRPr lang="en-US"/>
          </a:p>
        </p:txBody>
      </p:sp>
      <p:sp>
        <p:nvSpPr>
          <p:cNvPr id="17" name="Text 15"/>
          <p:cNvSpPr/>
          <p:nvPr/>
        </p:nvSpPr>
        <p:spPr>
          <a:xfrm>
            <a:off x="8467344" y="1755648"/>
            <a:ext cx="2962656" cy="201168"/>
          </a:xfrm>
          <a:prstGeom prst="rect">
            <a:avLst/>
          </a:prstGeom>
          <a:noFill/>
          <a:ln/>
        </p:spPr>
        <p:txBody>
          <a:bodyPr wrap="square" lIns="0" tIns="0" rIns="0" bIns="0" rtlCol="0" anchor="ctr">
            <a:normAutofit/>
          </a:bodyPr>
          <a:lstStyle/>
          <a:p>
            <a:pPr marL="0" indent="0">
              <a:buNone/>
            </a:pPr>
            <a:r>
              <a:rPr lang="en-US" sz="850" b="1" dirty="0">
                <a:solidFill>
                  <a:srgbClr val="5E6784"/>
                </a:solidFill>
              </a:rPr>
              <a:t>ROLE OF AI &amp; COST EFFECTIVENESS</a:t>
            </a:r>
            <a:endParaRPr lang="en-US" sz="850" dirty="0"/>
          </a:p>
        </p:txBody>
      </p:sp>
      <p:sp>
        <p:nvSpPr>
          <p:cNvPr id="18" name="Text 16"/>
          <p:cNvSpPr/>
          <p:nvPr/>
        </p:nvSpPr>
        <p:spPr>
          <a:xfrm>
            <a:off x="8467344" y="2103120"/>
            <a:ext cx="2962656" cy="2743200"/>
          </a:xfrm>
          <a:prstGeom prst="rect">
            <a:avLst/>
          </a:prstGeom>
          <a:noFill/>
          <a:ln/>
        </p:spPr>
        <p:txBody>
          <a:bodyPr wrap="square" lIns="381" tIns="381" rIns="381" bIns="381" rtlCol="0" anchor="t">
            <a:normAutofit/>
          </a:bodyPr>
          <a:lstStyle/>
          <a:p>
            <a:pPr marL="0" indent="0">
              <a:spcAft>
                <a:spcPts val="700"/>
              </a:spcAft>
              <a:buNone/>
            </a:pPr>
            <a:r>
              <a:rPr lang="en-GB" sz="1150" b="1" dirty="0">
                <a:solidFill>
                  <a:srgbClr val="08124F"/>
                </a:solidFill>
              </a:rPr>
              <a:t>Two narrow jobs. </a:t>
            </a:r>
            <a:r>
              <a:rPr lang="en-GB" sz="1150" dirty="0">
                <a:solidFill>
                  <a:srgbClr val="172044"/>
                </a:solidFill>
              </a:rPr>
              <a:t>The model breaks ties between close candidates, answering with a number that points at one of them, never a URL. It also reads evidence into characteristic values.</a:t>
            </a:r>
          </a:p>
          <a:p>
            <a:pPr marL="0" indent="0">
              <a:spcAft>
                <a:spcPts val="700"/>
              </a:spcAft>
              <a:buNone/>
            </a:pPr>
            <a:r>
              <a:rPr lang="en-GB" sz="1150" b="1" dirty="0">
                <a:solidFill>
                  <a:srgbClr val="08124F"/>
                </a:solidFill>
              </a:rPr>
              <a:t>Checked, not trusted. </a:t>
            </a:r>
            <a:r>
              <a:rPr lang="en-GB" sz="1150" dirty="0">
                <a:solidFill>
                  <a:srgbClr val="172044"/>
                </a:solidFill>
              </a:rPr>
              <a:t>It is only asked for characteristics that apply to the module, and every value must be in NIQ's allowed list.</a:t>
            </a:r>
          </a:p>
          <a:p>
            <a:pPr marL="0" indent="0">
              <a:buNone/>
            </a:pPr>
            <a:r>
              <a:rPr lang="en-GB" sz="1150" b="1" dirty="0">
                <a:solidFill>
                  <a:srgbClr val="08124F"/>
                </a:solidFill>
              </a:rPr>
              <a:t>Low cost. </a:t>
            </a:r>
            <a:r>
              <a:rPr lang="en-GB" sz="1150" dirty="0">
                <a:solidFill>
                  <a:srgbClr val="172044"/>
                </a:solidFill>
              </a:rPr>
              <a:t>About 1M tokens for all 412 rows, and none on a re-run.</a:t>
            </a:r>
          </a:p>
        </p:txBody>
      </p:sp>
      <p:sp>
        <p:nvSpPr>
          <p:cNvPr id="19" name="Text 17"/>
          <p:cNvSpPr/>
          <p:nvPr/>
        </p:nvSpPr>
        <p:spPr>
          <a:xfrm>
            <a:off x="11137392" y="1728216"/>
            <a:ext cx="228600" cy="228600"/>
          </a:xfrm>
          <a:prstGeom prst="rect">
            <a:avLst/>
          </a:prstGeom>
          <a:noFill/>
          <a:ln/>
        </p:spPr>
        <p:txBody>
          <a:bodyPr wrap="square" lIns="0" tIns="0" rIns="0" bIns="0" rtlCol="0" anchor="ctr"/>
          <a:lstStyle/>
          <a:p>
            <a:pPr marL="0" indent="0" algn="ctr">
              <a:buNone/>
            </a:pPr>
            <a:r>
              <a:rPr lang="en-US" sz="1200" b="1" dirty="0">
                <a:solidFill>
                  <a:srgbClr val="FFC83D"/>
                </a:solidFill>
              </a:rPr>
              <a:t>C</a:t>
            </a:r>
            <a:endParaRPr lang="en-US" sz="1200" dirty="0"/>
          </a:p>
        </p:txBody>
      </p:sp>
      <p:sp>
        <p:nvSpPr>
          <p:cNvPr id="20" name="Shape 18"/>
          <p:cNvSpPr/>
          <p:nvPr/>
        </p:nvSpPr>
        <p:spPr>
          <a:xfrm>
            <a:off x="566928" y="5257800"/>
            <a:ext cx="1408176" cy="310896"/>
          </a:xfrm>
          <a:prstGeom prst="roundRect">
            <a:avLst>
              <a:gd name="adj" fmla="val 23529"/>
            </a:avLst>
          </a:prstGeom>
          <a:solidFill>
            <a:srgbClr val="08124F"/>
          </a:solidFill>
          <a:ln w="12700">
            <a:solidFill>
              <a:srgbClr val="08124F"/>
            </a:solidFill>
            <a:prstDash val="solid"/>
          </a:ln>
        </p:spPr>
        <p:txBody>
          <a:bodyPr/>
          <a:lstStyle/>
          <a:p>
            <a:endParaRPr lang="en-US"/>
          </a:p>
        </p:txBody>
      </p:sp>
      <p:sp>
        <p:nvSpPr>
          <p:cNvPr id="21" name="Text 19"/>
          <p:cNvSpPr/>
          <p:nvPr/>
        </p:nvSpPr>
        <p:spPr>
          <a:xfrm>
            <a:off x="566928" y="5321808"/>
            <a:ext cx="1408176" cy="146304"/>
          </a:xfrm>
          <a:prstGeom prst="rect">
            <a:avLst/>
          </a:prstGeom>
          <a:noFill/>
          <a:ln/>
        </p:spPr>
        <p:txBody>
          <a:bodyPr wrap="square" lIns="0" tIns="0" rIns="0" bIns="0" rtlCol="0" anchor="ctr"/>
          <a:lstStyle/>
          <a:p>
            <a:pPr marL="0" indent="0" algn="ctr">
              <a:buNone/>
            </a:pPr>
            <a:r>
              <a:rPr lang="en-GB" sz="850" b="1" dirty="0">
                <a:solidFill>
                  <a:srgbClr val="FFFFFF"/>
                </a:solidFill>
              </a:rPr>
              <a:t>ONE ROW, END TO END</a:t>
            </a:r>
          </a:p>
        </p:txBody>
      </p:sp>
      <p:sp>
        <p:nvSpPr>
          <p:cNvPr id="22" name="Text 20"/>
          <p:cNvSpPr/>
          <p:nvPr/>
        </p:nvSpPr>
        <p:spPr>
          <a:xfrm>
            <a:off x="2148840" y="5285232"/>
            <a:ext cx="9418320" cy="274320"/>
          </a:xfrm>
          <a:prstGeom prst="rect">
            <a:avLst/>
          </a:prstGeom>
          <a:noFill/>
          <a:ln/>
        </p:spPr>
        <p:txBody>
          <a:bodyPr wrap="square" lIns="0" tIns="0" rIns="0" bIns="0" rtlCol="0" anchor="ctr"/>
          <a:lstStyle/>
          <a:p>
            <a:pPr marL="0" indent="0">
              <a:buNone/>
            </a:pPr>
            <a:r>
              <a:rPr lang="en-GB" sz="1100" dirty="0">
                <a:solidFill>
                  <a:srgbClr val="08124F"/>
                </a:solidFill>
              </a:rPr>
              <a:t>Record  ›  memory check  ›  web search  ›  fetch pages  ›  match  ›  module  ›  characteristics  ›  reasoning  ›  qa output row</a:t>
            </a:r>
          </a:p>
        </p:txBody>
      </p:sp>
      <p:sp>
        <p:nvSpPr>
          <p:cNvPr id="25" name="Slide Number Placeholder 0"/>
          <p:cNvSpPr>
            <a:spLocks noGrp="1"/>
          </p:cNvSpPr>
          <p:nvPr>
            <p:ph type="sldNum" sz="quarter" idx="4294967295"/>
          </p:nvPr>
        </p:nvSpPr>
        <p:spPr>
          <a:xfrm>
            <a:off x="11841480" y="6446520"/>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9AA3BC"/>
                </a:solidFill>
                <a:latin typeface="Aptos"/>
                <a:ea typeface="Aptos"/>
                <a:cs typeface="Aptos"/>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420624"/>
            <a:ext cx="2468880" cy="201168"/>
          </a:xfrm>
          <a:prstGeom prst="rect">
            <a:avLst/>
          </a:prstGeom>
          <a:noFill/>
          <a:ln/>
        </p:spPr>
        <p:txBody>
          <a:bodyPr wrap="square" lIns="0" tIns="0" rIns="0" bIns="0" rtlCol="0" anchor="ctr"/>
          <a:lstStyle/>
          <a:p>
            <a:pPr marL="0" indent="0">
              <a:buNone/>
            </a:pPr>
            <a:r>
              <a:rPr lang="en-US" sz="900" b="1" dirty="0">
                <a:solidFill>
                  <a:srgbClr val="2E6AF6"/>
                </a:solidFill>
              </a:rPr>
              <a:t>03 / DEMO</a:t>
            </a:r>
            <a:endParaRPr lang="en-US" sz="900" dirty="0"/>
          </a:p>
        </p:txBody>
      </p:sp>
      <p:sp>
        <p:nvSpPr>
          <p:cNvPr id="3" name="Text 1"/>
          <p:cNvSpPr/>
          <p:nvPr/>
        </p:nvSpPr>
        <p:spPr>
          <a:xfrm>
            <a:off x="566928" y="621792"/>
            <a:ext cx="9875520" cy="420624"/>
          </a:xfrm>
          <a:prstGeom prst="rect">
            <a:avLst/>
          </a:prstGeom>
          <a:noFill/>
          <a:ln/>
        </p:spPr>
        <p:txBody>
          <a:bodyPr wrap="square" lIns="0" tIns="0" rIns="0" bIns="0" rtlCol="0" anchor="ctr">
            <a:normAutofit/>
          </a:bodyPr>
          <a:lstStyle/>
          <a:p>
            <a:pPr marL="0" indent="0">
              <a:buNone/>
            </a:pPr>
            <a:r>
              <a:rPr lang="en-US" sz="2700" b="1" dirty="0">
                <a:solidFill>
                  <a:srgbClr val="08124F"/>
                </a:solidFill>
              </a:rPr>
              <a:t>How It Works</a:t>
            </a:r>
            <a:endParaRPr lang="en-US" sz="2700" dirty="0"/>
          </a:p>
        </p:txBody>
      </p:sp>
      <p:sp>
        <p:nvSpPr>
          <p:cNvPr id="4" name="Text 2"/>
          <p:cNvSpPr/>
          <p:nvPr/>
        </p:nvSpPr>
        <p:spPr>
          <a:xfrm>
            <a:off x="566928" y="1078992"/>
            <a:ext cx="10515600" cy="274320"/>
          </a:xfrm>
          <a:prstGeom prst="rect">
            <a:avLst/>
          </a:prstGeom>
          <a:noFill/>
          <a:ln/>
        </p:spPr>
        <p:txBody>
          <a:bodyPr wrap="square" lIns="0" tIns="0" rIns="0" bIns="0" rtlCol="0" anchor="ctr">
            <a:normAutofit/>
          </a:bodyPr>
          <a:lstStyle/>
          <a:p>
            <a:pPr marL="0" indent="0">
              <a:buNone/>
            </a:pPr>
            <a:r>
              <a:rPr lang="en-GB" sz="1050" dirty="0">
                <a:solidFill>
                  <a:srgbClr val="5E6784"/>
                </a:solidFill>
              </a:rPr>
              <a:t>From one product record to one validated output row.</a:t>
            </a:r>
          </a:p>
        </p:txBody>
      </p:sp>
      <p:sp>
        <p:nvSpPr>
          <p:cNvPr id="5" name="Shape 3"/>
          <p:cNvSpPr/>
          <p:nvPr/>
        </p:nvSpPr>
        <p:spPr>
          <a:xfrm>
            <a:off x="594360" y="1591056"/>
            <a:ext cx="2103120" cy="1993392"/>
          </a:xfrm>
          <a:prstGeom prst="roundRect">
            <a:avLst>
              <a:gd name="adj" fmla="val 4587"/>
            </a:avLst>
          </a:prstGeom>
          <a:solidFill>
            <a:srgbClr val="FFFFFF"/>
          </a:solidFill>
          <a:ln w="12700">
            <a:solidFill>
              <a:srgbClr val="DCE1EE"/>
            </a:solidFill>
            <a:prstDash val="solid"/>
          </a:ln>
          <a:effectLst>
            <a:outerShdw blurRad="25400" dist="12700" dir="2700000" algn="bl" rotWithShape="0">
              <a:srgbClr val="000000">
                <a:alpha val="10000"/>
              </a:srgbClr>
            </a:outerShdw>
          </a:effectLst>
        </p:spPr>
        <p:txBody>
          <a:bodyPr/>
          <a:lstStyle/>
          <a:p>
            <a:endParaRPr lang="en-US"/>
          </a:p>
        </p:txBody>
      </p:sp>
      <p:sp>
        <p:nvSpPr>
          <p:cNvPr id="6" name="Shape 4"/>
          <p:cNvSpPr/>
          <p:nvPr/>
        </p:nvSpPr>
        <p:spPr>
          <a:xfrm>
            <a:off x="594360" y="1591056"/>
            <a:ext cx="73152" cy="1993392"/>
          </a:xfrm>
          <a:prstGeom prst="rect">
            <a:avLst/>
          </a:prstGeom>
          <a:solidFill>
            <a:srgbClr val="2E6AF6"/>
          </a:solidFill>
          <a:ln w="12700">
            <a:solidFill>
              <a:srgbClr val="2E6AF6"/>
            </a:solidFill>
            <a:prstDash val="solid"/>
          </a:ln>
        </p:spPr>
        <p:txBody>
          <a:bodyPr/>
          <a:lstStyle/>
          <a:p>
            <a:endParaRPr lang="en-US"/>
          </a:p>
        </p:txBody>
      </p:sp>
      <p:sp>
        <p:nvSpPr>
          <p:cNvPr id="7" name="Text 5"/>
          <p:cNvSpPr/>
          <p:nvPr/>
        </p:nvSpPr>
        <p:spPr>
          <a:xfrm>
            <a:off x="795528" y="1746504"/>
            <a:ext cx="1737360" cy="201168"/>
          </a:xfrm>
          <a:prstGeom prst="rect">
            <a:avLst/>
          </a:prstGeom>
          <a:noFill/>
          <a:ln/>
        </p:spPr>
        <p:txBody>
          <a:bodyPr wrap="square" lIns="0" tIns="0" rIns="0" bIns="0" rtlCol="0" anchor="ctr">
            <a:normAutofit/>
          </a:bodyPr>
          <a:lstStyle/>
          <a:p>
            <a:pPr marL="0" indent="0">
              <a:buNone/>
            </a:pPr>
            <a:r>
              <a:rPr lang="en-US" sz="850" b="1" dirty="0">
                <a:solidFill>
                  <a:srgbClr val="5E6784"/>
                </a:solidFill>
              </a:rPr>
              <a:t>INPUT</a:t>
            </a:r>
            <a:endParaRPr lang="en-US" sz="850" dirty="0"/>
          </a:p>
        </p:txBody>
      </p:sp>
      <p:sp>
        <p:nvSpPr>
          <p:cNvPr id="8" name="Text 6"/>
          <p:cNvSpPr/>
          <p:nvPr/>
        </p:nvSpPr>
        <p:spPr>
          <a:xfrm>
            <a:off x="795528" y="2029968"/>
            <a:ext cx="1719072" cy="1408176"/>
          </a:xfrm>
          <a:prstGeom prst="rect">
            <a:avLst/>
          </a:prstGeom>
          <a:noFill/>
          <a:ln/>
        </p:spPr>
        <p:txBody>
          <a:bodyPr wrap="square" lIns="381" tIns="381" rIns="381" bIns="381" rtlCol="0" anchor="t">
            <a:normAutofit/>
          </a:bodyPr>
          <a:lstStyle/>
          <a:p>
            <a:pPr marL="0" indent="0">
              <a:buNone/>
            </a:pPr>
            <a:r>
              <a:rPr lang="en-GB" sz="1100" dirty="0">
                <a:solidFill>
                  <a:srgbClr val="172044"/>
                </a:solidFill>
              </a:rPr>
              <a:t>A product record: description, brand, barcode, retailer, country. From the qa sheet, the web form or any Excel file.</a:t>
            </a:r>
          </a:p>
        </p:txBody>
      </p:sp>
      <p:sp>
        <p:nvSpPr>
          <p:cNvPr id="9" name="Text 7"/>
          <p:cNvSpPr/>
          <p:nvPr/>
        </p:nvSpPr>
        <p:spPr>
          <a:xfrm>
            <a:off x="2240280" y="1719072"/>
            <a:ext cx="228600" cy="228600"/>
          </a:xfrm>
          <a:prstGeom prst="rect">
            <a:avLst/>
          </a:prstGeom>
          <a:noFill/>
          <a:ln/>
        </p:spPr>
        <p:txBody>
          <a:bodyPr wrap="square" lIns="0" tIns="0" rIns="0" bIns="0" rtlCol="0" anchor="ctr"/>
          <a:lstStyle/>
          <a:p>
            <a:pPr marL="0" indent="0" algn="ctr">
              <a:buNone/>
            </a:pPr>
            <a:r>
              <a:rPr lang="en-US" sz="1200" b="1" dirty="0">
                <a:solidFill>
                  <a:srgbClr val="2E6AF6"/>
                </a:solidFill>
              </a:rPr>
              <a:t>01</a:t>
            </a:r>
            <a:endParaRPr lang="en-US" sz="1200" dirty="0"/>
          </a:p>
        </p:txBody>
      </p:sp>
      <p:sp>
        <p:nvSpPr>
          <p:cNvPr id="10" name="Shape 8"/>
          <p:cNvSpPr/>
          <p:nvPr/>
        </p:nvSpPr>
        <p:spPr>
          <a:xfrm>
            <a:off x="2715768" y="2258568"/>
            <a:ext cx="256032" cy="384048"/>
          </a:xfrm>
          <a:prstGeom prst="chevron">
            <a:avLst/>
          </a:prstGeom>
          <a:solidFill>
            <a:srgbClr val="C8D0E4"/>
          </a:solidFill>
          <a:ln w="12700">
            <a:solidFill>
              <a:srgbClr val="C8D0E4"/>
            </a:solidFill>
            <a:prstDash val="solid"/>
          </a:ln>
        </p:spPr>
        <p:txBody>
          <a:bodyPr/>
          <a:lstStyle/>
          <a:p>
            <a:endParaRPr lang="en-US"/>
          </a:p>
        </p:txBody>
      </p:sp>
      <p:sp>
        <p:nvSpPr>
          <p:cNvPr id="11" name="Shape 9"/>
          <p:cNvSpPr/>
          <p:nvPr/>
        </p:nvSpPr>
        <p:spPr>
          <a:xfrm>
            <a:off x="3035808" y="1591056"/>
            <a:ext cx="2103120" cy="1993392"/>
          </a:xfrm>
          <a:prstGeom prst="roundRect">
            <a:avLst>
              <a:gd name="adj" fmla="val 4587"/>
            </a:avLst>
          </a:prstGeom>
          <a:solidFill>
            <a:srgbClr val="FFFFFF"/>
          </a:solidFill>
          <a:ln w="12700">
            <a:solidFill>
              <a:srgbClr val="DCE1EE"/>
            </a:solidFill>
            <a:prstDash val="solid"/>
          </a:ln>
          <a:effectLst>
            <a:outerShdw blurRad="25400" dist="12700" dir="2700000" algn="bl" rotWithShape="0">
              <a:srgbClr val="000000">
                <a:alpha val="10000"/>
              </a:srgbClr>
            </a:outerShdw>
          </a:effectLst>
        </p:spPr>
        <p:txBody>
          <a:bodyPr/>
          <a:lstStyle/>
          <a:p>
            <a:endParaRPr lang="en-US"/>
          </a:p>
        </p:txBody>
      </p:sp>
      <p:sp>
        <p:nvSpPr>
          <p:cNvPr id="12" name="Shape 10"/>
          <p:cNvSpPr/>
          <p:nvPr/>
        </p:nvSpPr>
        <p:spPr>
          <a:xfrm>
            <a:off x="3035808" y="1591056"/>
            <a:ext cx="73152" cy="1993392"/>
          </a:xfrm>
          <a:prstGeom prst="rect">
            <a:avLst/>
          </a:prstGeom>
          <a:solidFill>
            <a:srgbClr val="35C7D8"/>
          </a:solidFill>
          <a:ln w="12700">
            <a:solidFill>
              <a:srgbClr val="35C7D8"/>
            </a:solidFill>
            <a:prstDash val="solid"/>
          </a:ln>
        </p:spPr>
        <p:txBody>
          <a:bodyPr/>
          <a:lstStyle/>
          <a:p>
            <a:endParaRPr lang="en-US"/>
          </a:p>
        </p:txBody>
      </p:sp>
      <p:sp>
        <p:nvSpPr>
          <p:cNvPr id="13" name="Text 11"/>
          <p:cNvSpPr/>
          <p:nvPr/>
        </p:nvSpPr>
        <p:spPr>
          <a:xfrm>
            <a:off x="3236976" y="1746504"/>
            <a:ext cx="1737360" cy="201168"/>
          </a:xfrm>
          <a:prstGeom prst="rect">
            <a:avLst/>
          </a:prstGeom>
          <a:noFill/>
          <a:ln/>
        </p:spPr>
        <p:txBody>
          <a:bodyPr wrap="square" lIns="0" tIns="0" rIns="0" bIns="0" rtlCol="0" anchor="ctr">
            <a:normAutofit/>
          </a:bodyPr>
          <a:lstStyle/>
          <a:p>
            <a:pPr marL="0" indent="0">
              <a:buNone/>
            </a:pPr>
            <a:r>
              <a:rPr lang="en-US" sz="850" b="1" dirty="0">
                <a:solidFill>
                  <a:srgbClr val="5E6784"/>
                </a:solidFill>
              </a:rPr>
              <a:t>INTELLIGENCE</a:t>
            </a:r>
            <a:endParaRPr lang="en-US" sz="850" dirty="0"/>
          </a:p>
        </p:txBody>
      </p:sp>
      <p:sp>
        <p:nvSpPr>
          <p:cNvPr id="14" name="Text 12"/>
          <p:cNvSpPr/>
          <p:nvPr/>
        </p:nvSpPr>
        <p:spPr>
          <a:xfrm>
            <a:off x="3236976" y="2029968"/>
            <a:ext cx="1719072" cy="1408176"/>
          </a:xfrm>
          <a:prstGeom prst="rect">
            <a:avLst/>
          </a:prstGeom>
          <a:noFill/>
          <a:ln/>
        </p:spPr>
        <p:txBody>
          <a:bodyPr wrap="square" lIns="381" tIns="381" rIns="381" bIns="381" rtlCol="0" anchor="t">
            <a:normAutofit/>
          </a:bodyPr>
          <a:lstStyle/>
          <a:p>
            <a:pPr marL="0" indent="0">
              <a:buNone/>
            </a:pPr>
            <a:r>
              <a:rPr lang="en-GB" sz="1100" dirty="0">
                <a:solidFill>
                  <a:srgbClr val="172044"/>
                </a:solidFill>
              </a:rPr>
              <a:t>Registry lookup, five search strategies, barcode rules, a calibrated match score, a module classifier, and the LLM for ties and characteristics.</a:t>
            </a:r>
          </a:p>
        </p:txBody>
      </p:sp>
      <p:sp>
        <p:nvSpPr>
          <p:cNvPr id="15" name="Text 13"/>
          <p:cNvSpPr/>
          <p:nvPr/>
        </p:nvSpPr>
        <p:spPr>
          <a:xfrm>
            <a:off x="4681728" y="1719072"/>
            <a:ext cx="228600" cy="228600"/>
          </a:xfrm>
          <a:prstGeom prst="rect">
            <a:avLst/>
          </a:prstGeom>
          <a:noFill/>
          <a:ln/>
        </p:spPr>
        <p:txBody>
          <a:bodyPr wrap="square" lIns="0" tIns="0" rIns="0" bIns="0" rtlCol="0" anchor="ctr"/>
          <a:lstStyle/>
          <a:p>
            <a:pPr marL="0" indent="0" algn="ctr">
              <a:buNone/>
            </a:pPr>
            <a:r>
              <a:rPr lang="en-US" sz="1200" b="1" dirty="0">
                <a:solidFill>
                  <a:srgbClr val="35C7D8"/>
                </a:solidFill>
              </a:rPr>
              <a:t>02</a:t>
            </a:r>
            <a:endParaRPr lang="en-US" sz="1200" dirty="0"/>
          </a:p>
        </p:txBody>
      </p:sp>
      <p:sp>
        <p:nvSpPr>
          <p:cNvPr id="16" name="Shape 14"/>
          <p:cNvSpPr/>
          <p:nvPr/>
        </p:nvSpPr>
        <p:spPr>
          <a:xfrm>
            <a:off x="5157216" y="2258568"/>
            <a:ext cx="256032" cy="384048"/>
          </a:xfrm>
          <a:prstGeom prst="chevron">
            <a:avLst/>
          </a:prstGeom>
          <a:solidFill>
            <a:srgbClr val="C8D0E4"/>
          </a:solidFill>
          <a:ln w="12700">
            <a:solidFill>
              <a:srgbClr val="C8D0E4"/>
            </a:solidFill>
            <a:prstDash val="solid"/>
          </a:ln>
        </p:spPr>
        <p:txBody>
          <a:bodyPr/>
          <a:lstStyle/>
          <a:p>
            <a:endParaRPr lang="en-US"/>
          </a:p>
        </p:txBody>
      </p:sp>
      <p:sp>
        <p:nvSpPr>
          <p:cNvPr id="17" name="Shape 15"/>
          <p:cNvSpPr/>
          <p:nvPr/>
        </p:nvSpPr>
        <p:spPr>
          <a:xfrm>
            <a:off x="5486400" y="1591056"/>
            <a:ext cx="2103120" cy="1993392"/>
          </a:xfrm>
          <a:prstGeom prst="roundRect">
            <a:avLst>
              <a:gd name="adj" fmla="val 4587"/>
            </a:avLst>
          </a:prstGeom>
          <a:solidFill>
            <a:srgbClr val="FFFFFF"/>
          </a:solidFill>
          <a:ln w="12700">
            <a:solidFill>
              <a:srgbClr val="DCE1EE"/>
            </a:solidFill>
            <a:prstDash val="solid"/>
          </a:ln>
          <a:effectLst>
            <a:outerShdw blurRad="25400" dist="12700" dir="2700000" algn="bl" rotWithShape="0">
              <a:srgbClr val="000000">
                <a:alpha val="10000"/>
              </a:srgbClr>
            </a:outerShdw>
          </a:effectLst>
        </p:spPr>
        <p:txBody>
          <a:bodyPr/>
          <a:lstStyle/>
          <a:p>
            <a:endParaRPr lang="en-US"/>
          </a:p>
        </p:txBody>
      </p:sp>
      <p:sp>
        <p:nvSpPr>
          <p:cNvPr id="18" name="Shape 16"/>
          <p:cNvSpPr/>
          <p:nvPr/>
        </p:nvSpPr>
        <p:spPr>
          <a:xfrm>
            <a:off x="5486400" y="1591056"/>
            <a:ext cx="73152" cy="1993392"/>
          </a:xfrm>
          <a:prstGeom prst="rect">
            <a:avLst/>
          </a:prstGeom>
          <a:solidFill>
            <a:srgbClr val="FFC83D"/>
          </a:solidFill>
          <a:ln w="12700">
            <a:solidFill>
              <a:srgbClr val="FFC83D"/>
            </a:solidFill>
            <a:prstDash val="solid"/>
          </a:ln>
        </p:spPr>
        <p:txBody>
          <a:bodyPr/>
          <a:lstStyle/>
          <a:p>
            <a:endParaRPr lang="en-US"/>
          </a:p>
        </p:txBody>
      </p:sp>
      <p:sp>
        <p:nvSpPr>
          <p:cNvPr id="19" name="Text 17"/>
          <p:cNvSpPr/>
          <p:nvPr/>
        </p:nvSpPr>
        <p:spPr>
          <a:xfrm>
            <a:off x="5687568" y="1746504"/>
            <a:ext cx="1737360" cy="201168"/>
          </a:xfrm>
          <a:prstGeom prst="rect">
            <a:avLst/>
          </a:prstGeom>
          <a:noFill/>
          <a:ln/>
        </p:spPr>
        <p:txBody>
          <a:bodyPr wrap="square" lIns="0" tIns="0" rIns="0" bIns="0" rtlCol="0" anchor="ctr">
            <a:normAutofit/>
          </a:bodyPr>
          <a:lstStyle/>
          <a:p>
            <a:pPr marL="0" indent="0">
              <a:buNone/>
            </a:pPr>
            <a:r>
              <a:rPr lang="en-US" sz="850" b="1" dirty="0">
                <a:solidFill>
                  <a:srgbClr val="5E6784"/>
                </a:solidFill>
              </a:rPr>
              <a:t>ACTION</a:t>
            </a:r>
            <a:endParaRPr lang="en-US" sz="850" dirty="0"/>
          </a:p>
        </p:txBody>
      </p:sp>
      <p:sp>
        <p:nvSpPr>
          <p:cNvPr id="20" name="Text 18"/>
          <p:cNvSpPr/>
          <p:nvPr/>
        </p:nvSpPr>
        <p:spPr>
          <a:xfrm>
            <a:off x="5687568" y="2029968"/>
            <a:ext cx="1719072" cy="1408176"/>
          </a:xfrm>
          <a:prstGeom prst="rect">
            <a:avLst/>
          </a:prstGeom>
          <a:noFill/>
          <a:ln/>
        </p:spPr>
        <p:txBody>
          <a:bodyPr wrap="square" lIns="381" tIns="381" rIns="381" bIns="381" rtlCol="0" anchor="t">
            <a:normAutofit/>
          </a:bodyPr>
          <a:lstStyle/>
          <a:p>
            <a:pPr marL="0" indent="0">
              <a:buNone/>
            </a:pPr>
            <a:r>
              <a:rPr lang="en-GB" sz="1100" dirty="0">
                <a:solidFill>
                  <a:srgbClr val="172044"/>
                </a:solidFill>
              </a:rPr>
              <a:t>Searches the web, fetches candidate pages safely, confirms barcodes, keeps only the characteristics that apply and validates every value.</a:t>
            </a:r>
          </a:p>
        </p:txBody>
      </p:sp>
      <p:sp>
        <p:nvSpPr>
          <p:cNvPr id="21" name="Text 19"/>
          <p:cNvSpPr/>
          <p:nvPr/>
        </p:nvSpPr>
        <p:spPr>
          <a:xfrm>
            <a:off x="7132320" y="1719072"/>
            <a:ext cx="228600" cy="228600"/>
          </a:xfrm>
          <a:prstGeom prst="rect">
            <a:avLst/>
          </a:prstGeom>
          <a:noFill/>
          <a:ln/>
        </p:spPr>
        <p:txBody>
          <a:bodyPr wrap="square" lIns="0" tIns="0" rIns="0" bIns="0" rtlCol="0" anchor="ctr"/>
          <a:lstStyle/>
          <a:p>
            <a:pPr marL="0" indent="0" algn="ctr">
              <a:buNone/>
            </a:pPr>
            <a:r>
              <a:rPr lang="en-US" sz="1200" b="1" dirty="0">
                <a:solidFill>
                  <a:srgbClr val="FFC83D"/>
                </a:solidFill>
              </a:rPr>
              <a:t>03</a:t>
            </a:r>
            <a:endParaRPr lang="en-US" sz="1200" dirty="0"/>
          </a:p>
        </p:txBody>
      </p:sp>
      <p:sp>
        <p:nvSpPr>
          <p:cNvPr id="22" name="Shape 20"/>
          <p:cNvSpPr/>
          <p:nvPr/>
        </p:nvSpPr>
        <p:spPr>
          <a:xfrm>
            <a:off x="7598664" y="2258568"/>
            <a:ext cx="256032" cy="384048"/>
          </a:xfrm>
          <a:prstGeom prst="chevron">
            <a:avLst/>
          </a:prstGeom>
          <a:solidFill>
            <a:srgbClr val="C8D0E4"/>
          </a:solidFill>
          <a:ln w="12700">
            <a:solidFill>
              <a:srgbClr val="C8D0E4"/>
            </a:solidFill>
            <a:prstDash val="solid"/>
          </a:ln>
        </p:spPr>
        <p:txBody>
          <a:bodyPr/>
          <a:lstStyle/>
          <a:p>
            <a:endParaRPr lang="en-US"/>
          </a:p>
        </p:txBody>
      </p:sp>
      <p:sp>
        <p:nvSpPr>
          <p:cNvPr id="23" name="Shape 21"/>
          <p:cNvSpPr/>
          <p:nvPr/>
        </p:nvSpPr>
        <p:spPr>
          <a:xfrm>
            <a:off x="7936992" y="1591056"/>
            <a:ext cx="2103120" cy="1993392"/>
          </a:xfrm>
          <a:prstGeom prst="roundRect">
            <a:avLst>
              <a:gd name="adj" fmla="val 4587"/>
            </a:avLst>
          </a:prstGeom>
          <a:solidFill>
            <a:srgbClr val="FFFFFF"/>
          </a:solidFill>
          <a:ln w="12700">
            <a:solidFill>
              <a:srgbClr val="DCE1EE"/>
            </a:solidFill>
            <a:prstDash val="solid"/>
          </a:ln>
          <a:effectLst>
            <a:outerShdw blurRad="25400" dist="12700" dir="2700000" algn="bl" rotWithShape="0">
              <a:srgbClr val="000000">
                <a:alpha val="10000"/>
              </a:srgbClr>
            </a:outerShdw>
          </a:effectLst>
        </p:spPr>
        <p:txBody>
          <a:bodyPr/>
          <a:lstStyle/>
          <a:p>
            <a:endParaRPr lang="en-US"/>
          </a:p>
        </p:txBody>
      </p:sp>
      <p:sp>
        <p:nvSpPr>
          <p:cNvPr id="24" name="Shape 22"/>
          <p:cNvSpPr/>
          <p:nvPr/>
        </p:nvSpPr>
        <p:spPr>
          <a:xfrm>
            <a:off x="7936992" y="1591056"/>
            <a:ext cx="73152" cy="1993392"/>
          </a:xfrm>
          <a:prstGeom prst="rect">
            <a:avLst/>
          </a:prstGeom>
          <a:solidFill>
            <a:srgbClr val="38B27B"/>
          </a:solidFill>
          <a:ln w="12700">
            <a:solidFill>
              <a:srgbClr val="38B27B"/>
            </a:solidFill>
            <a:prstDash val="solid"/>
          </a:ln>
        </p:spPr>
        <p:txBody>
          <a:bodyPr/>
          <a:lstStyle/>
          <a:p>
            <a:endParaRPr lang="en-US"/>
          </a:p>
        </p:txBody>
      </p:sp>
      <p:sp>
        <p:nvSpPr>
          <p:cNvPr id="25" name="Text 23"/>
          <p:cNvSpPr/>
          <p:nvPr/>
        </p:nvSpPr>
        <p:spPr>
          <a:xfrm>
            <a:off x="8138160" y="1746504"/>
            <a:ext cx="1737360" cy="201168"/>
          </a:xfrm>
          <a:prstGeom prst="rect">
            <a:avLst/>
          </a:prstGeom>
          <a:noFill/>
          <a:ln/>
        </p:spPr>
        <p:txBody>
          <a:bodyPr wrap="square" lIns="0" tIns="0" rIns="0" bIns="0" rtlCol="0" anchor="ctr">
            <a:normAutofit/>
          </a:bodyPr>
          <a:lstStyle/>
          <a:p>
            <a:pPr marL="0" indent="0">
              <a:buNone/>
            </a:pPr>
            <a:r>
              <a:rPr lang="en-US" sz="850" b="1" dirty="0">
                <a:solidFill>
                  <a:srgbClr val="5E6784"/>
                </a:solidFill>
              </a:rPr>
              <a:t>OUTCOME</a:t>
            </a:r>
            <a:endParaRPr lang="en-US" sz="850" dirty="0"/>
          </a:p>
        </p:txBody>
      </p:sp>
      <p:sp>
        <p:nvSpPr>
          <p:cNvPr id="26" name="Text 24"/>
          <p:cNvSpPr/>
          <p:nvPr/>
        </p:nvSpPr>
        <p:spPr>
          <a:xfrm>
            <a:off x="8138160" y="2029968"/>
            <a:ext cx="1719072" cy="1408176"/>
          </a:xfrm>
          <a:prstGeom prst="rect">
            <a:avLst/>
          </a:prstGeom>
          <a:noFill/>
          <a:ln/>
        </p:spPr>
        <p:txBody>
          <a:bodyPr wrap="square" lIns="381" tIns="381" rIns="381" bIns="381" rtlCol="0" anchor="t">
            <a:normAutofit/>
          </a:bodyPr>
          <a:lstStyle/>
          <a:p>
            <a:pPr marL="0" indent="0">
              <a:buNone/>
            </a:pPr>
            <a:r>
              <a:rPr lang="en-GB" sz="1100" dirty="0">
                <a:solidFill>
                  <a:srgbClr val="172044"/>
                </a:solidFill>
              </a:rPr>
              <a:t>One row per product in the exact qa format: URL, module, 13 characteristics and the reasoning. Plus a searchable results page.</a:t>
            </a:r>
          </a:p>
        </p:txBody>
      </p:sp>
      <p:sp>
        <p:nvSpPr>
          <p:cNvPr id="27" name="Text 25"/>
          <p:cNvSpPr/>
          <p:nvPr/>
        </p:nvSpPr>
        <p:spPr>
          <a:xfrm>
            <a:off x="9582912" y="1719072"/>
            <a:ext cx="228600" cy="228600"/>
          </a:xfrm>
          <a:prstGeom prst="rect">
            <a:avLst/>
          </a:prstGeom>
          <a:noFill/>
          <a:ln/>
        </p:spPr>
        <p:txBody>
          <a:bodyPr wrap="square" lIns="0" tIns="0" rIns="0" bIns="0" rtlCol="0" anchor="ctr"/>
          <a:lstStyle/>
          <a:p>
            <a:pPr marL="0" indent="0" algn="ctr">
              <a:buNone/>
            </a:pPr>
            <a:r>
              <a:rPr lang="en-US" sz="1200" b="1" dirty="0">
                <a:solidFill>
                  <a:srgbClr val="38B27B"/>
                </a:solidFill>
              </a:rPr>
              <a:t>04</a:t>
            </a:r>
            <a:endParaRPr lang="en-US" sz="1200" dirty="0"/>
          </a:p>
        </p:txBody>
      </p:sp>
      <p:sp>
        <p:nvSpPr>
          <p:cNvPr id="28" name="Shape 26"/>
          <p:cNvSpPr/>
          <p:nvPr/>
        </p:nvSpPr>
        <p:spPr>
          <a:xfrm>
            <a:off x="594360" y="3886200"/>
            <a:ext cx="3337560" cy="1298448"/>
          </a:xfrm>
          <a:prstGeom prst="roundRect">
            <a:avLst>
              <a:gd name="adj" fmla="val 7042"/>
            </a:avLst>
          </a:prstGeom>
          <a:solidFill>
            <a:srgbClr val="FFFFFF"/>
          </a:solidFill>
          <a:ln w="12700">
            <a:solidFill>
              <a:srgbClr val="DCE1EE"/>
            </a:solidFill>
            <a:prstDash val="solid"/>
          </a:ln>
          <a:effectLst>
            <a:outerShdw blurRad="25400" dist="12700" dir="2700000" algn="bl" rotWithShape="0">
              <a:srgbClr val="000000">
                <a:alpha val="10000"/>
              </a:srgbClr>
            </a:outerShdw>
          </a:effectLst>
        </p:spPr>
        <p:txBody>
          <a:bodyPr/>
          <a:lstStyle/>
          <a:p>
            <a:endParaRPr lang="en-US"/>
          </a:p>
        </p:txBody>
      </p:sp>
      <p:sp>
        <p:nvSpPr>
          <p:cNvPr id="29" name="Shape 27"/>
          <p:cNvSpPr/>
          <p:nvPr/>
        </p:nvSpPr>
        <p:spPr>
          <a:xfrm>
            <a:off x="594360" y="3886200"/>
            <a:ext cx="73152" cy="1298448"/>
          </a:xfrm>
          <a:prstGeom prst="rect">
            <a:avLst/>
          </a:prstGeom>
          <a:solidFill>
            <a:srgbClr val="2E6AF6"/>
          </a:solidFill>
          <a:ln w="12700">
            <a:solidFill>
              <a:srgbClr val="2E6AF6"/>
            </a:solidFill>
            <a:prstDash val="solid"/>
          </a:ln>
        </p:spPr>
        <p:txBody>
          <a:bodyPr/>
          <a:lstStyle/>
          <a:p>
            <a:endParaRPr lang="en-US"/>
          </a:p>
        </p:txBody>
      </p:sp>
      <p:sp>
        <p:nvSpPr>
          <p:cNvPr id="30" name="Text 28"/>
          <p:cNvSpPr/>
          <p:nvPr/>
        </p:nvSpPr>
        <p:spPr>
          <a:xfrm>
            <a:off x="795528" y="4041648"/>
            <a:ext cx="2971800" cy="201168"/>
          </a:xfrm>
          <a:prstGeom prst="rect">
            <a:avLst/>
          </a:prstGeom>
          <a:noFill/>
          <a:ln/>
        </p:spPr>
        <p:txBody>
          <a:bodyPr wrap="square" lIns="0" tIns="0" rIns="0" bIns="0" rtlCol="0" anchor="ctr">
            <a:normAutofit/>
          </a:bodyPr>
          <a:lstStyle/>
          <a:p>
            <a:pPr marL="0" indent="0">
              <a:buNone/>
            </a:pPr>
            <a:r>
              <a:rPr lang="en-US" sz="850" b="1" dirty="0">
                <a:solidFill>
                  <a:srgbClr val="5E6784"/>
                </a:solidFill>
              </a:rPr>
              <a:t>KEY FEATURES</a:t>
            </a:r>
            <a:endParaRPr lang="en-US" sz="850" dirty="0"/>
          </a:p>
        </p:txBody>
      </p:sp>
      <p:sp>
        <p:nvSpPr>
          <p:cNvPr id="31" name="Text 29"/>
          <p:cNvSpPr/>
          <p:nvPr/>
        </p:nvSpPr>
        <p:spPr>
          <a:xfrm>
            <a:off x="795528" y="4325112"/>
            <a:ext cx="2953512" cy="713232"/>
          </a:xfrm>
          <a:prstGeom prst="rect">
            <a:avLst/>
          </a:prstGeom>
          <a:noFill/>
          <a:ln/>
        </p:spPr>
        <p:txBody>
          <a:bodyPr wrap="square" lIns="381" tIns="381" rIns="381" bIns="381" rtlCol="0" anchor="t">
            <a:normAutofit/>
          </a:bodyPr>
          <a:lstStyle/>
          <a:p>
            <a:pPr marL="0" indent="0">
              <a:spcAft>
                <a:spcPts val="200"/>
              </a:spcAft>
              <a:buNone/>
            </a:pPr>
            <a:r>
              <a:rPr lang="en-GB" sz="1100" dirty="0">
                <a:solidFill>
                  <a:srgbClr val="172044"/>
                </a:solidFill>
              </a:rPr>
              <a:t>Identity proven by barcode</a:t>
            </a:r>
          </a:p>
          <a:p>
            <a:pPr marL="0" indent="0">
              <a:spcAft>
                <a:spcPts val="200"/>
              </a:spcAft>
              <a:buNone/>
            </a:pPr>
            <a:r>
              <a:rPr lang="en-GB" sz="1100" dirty="0">
                <a:solidFill>
                  <a:srgbClr val="172044"/>
                </a:solidFill>
              </a:rPr>
              <a:t>Remembers every resolved product</a:t>
            </a:r>
          </a:p>
          <a:p>
            <a:pPr marL="0" indent="0">
              <a:spcAft>
                <a:spcPts val="200"/>
              </a:spcAft>
              <a:buNone/>
            </a:pPr>
            <a:r>
              <a:rPr lang="en-GB" sz="1100" dirty="0">
                <a:solidFill>
                  <a:srgbClr val="172044"/>
                </a:solidFill>
              </a:rPr>
              <a:t>Every answer cites its evidence</a:t>
            </a:r>
          </a:p>
        </p:txBody>
      </p:sp>
      <p:sp>
        <p:nvSpPr>
          <p:cNvPr id="32" name="Shape 30"/>
          <p:cNvSpPr/>
          <p:nvPr/>
        </p:nvSpPr>
        <p:spPr>
          <a:xfrm>
            <a:off x="4087368" y="3886200"/>
            <a:ext cx="3337560" cy="1298448"/>
          </a:xfrm>
          <a:prstGeom prst="roundRect">
            <a:avLst>
              <a:gd name="adj" fmla="val 7042"/>
            </a:avLst>
          </a:prstGeom>
          <a:solidFill>
            <a:srgbClr val="FFFFFF"/>
          </a:solidFill>
          <a:ln w="12700">
            <a:solidFill>
              <a:srgbClr val="DCE1EE"/>
            </a:solidFill>
            <a:prstDash val="solid"/>
          </a:ln>
          <a:effectLst>
            <a:outerShdw blurRad="25400" dist="12700" dir="2700000" algn="bl" rotWithShape="0">
              <a:srgbClr val="000000">
                <a:alpha val="10000"/>
              </a:srgbClr>
            </a:outerShdw>
          </a:effectLst>
        </p:spPr>
        <p:txBody>
          <a:bodyPr/>
          <a:lstStyle/>
          <a:p>
            <a:endParaRPr lang="en-US"/>
          </a:p>
        </p:txBody>
      </p:sp>
      <p:sp>
        <p:nvSpPr>
          <p:cNvPr id="33" name="Shape 31"/>
          <p:cNvSpPr/>
          <p:nvPr/>
        </p:nvSpPr>
        <p:spPr>
          <a:xfrm>
            <a:off x="4087368" y="3886200"/>
            <a:ext cx="73152" cy="1298448"/>
          </a:xfrm>
          <a:prstGeom prst="rect">
            <a:avLst/>
          </a:prstGeom>
          <a:solidFill>
            <a:srgbClr val="35C7D8"/>
          </a:solidFill>
          <a:ln w="12700">
            <a:solidFill>
              <a:srgbClr val="35C7D8"/>
            </a:solidFill>
            <a:prstDash val="solid"/>
          </a:ln>
        </p:spPr>
        <p:txBody>
          <a:bodyPr/>
          <a:lstStyle/>
          <a:p>
            <a:endParaRPr lang="en-US"/>
          </a:p>
        </p:txBody>
      </p:sp>
      <p:sp>
        <p:nvSpPr>
          <p:cNvPr id="34" name="Text 32"/>
          <p:cNvSpPr/>
          <p:nvPr/>
        </p:nvSpPr>
        <p:spPr>
          <a:xfrm>
            <a:off x="4288536" y="4041648"/>
            <a:ext cx="2971800" cy="201168"/>
          </a:xfrm>
          <a:prstGeom prst="rect">
            <a:avLst/>
          </a:prstGeom>
          <a:noFill/>
          <a:ln/>
        </p:spPr>
        <p:txBody>
          <a:bodyPr wrap="square" lIns="0" tIns="0" rIns="0" bIns="0" rtlCol="0" anchor="ctr">
            <a:normAutofit/>
          </a:bodyPr>
          <a:lstStyle/>
          <a:p>
            <a:pPr marL="0" indent="0">
              <a:buNone/>
            </a:pPr>
            <a:r>
              <a:rPr lang="en-US" sz="850" b="1" dirty="0">
                <a:solidFill>
                  <a:srgbClr val="5E6784"/>
                </a:solidFill>
              </a:rPr>
              <a:t>TECH STACK</a:t>
            </a:r>
            <a:endParaRPr lang="en-US" sz="850" dirty="0"/>
          </a:p>
        </p:txBody>
      </p:sp>
      <p:sp>
        <p:nvSpPr>
          <p:cNvPr id="35" name="Text 33"/>
          <p:cNvSpPr/>
          <p:nvPr/>
        </p:nvSpPr>
        <p:spPr>
          <a:xfrm>
            <a:off x="4288536" y="4325112"/>
            <a:ext cx="2953512" cy="713232"/>
          </a:xfrm>
          <a:prstGeom prst="rect">
            <a:avLst/>
          </a:prstGeom>
          <a:noFill/>
          <a:ln/>
        </p:spPr>
        <p:txBody>
          <a:bodyPr wrap="square" lIns="381" tIns="381" rIns="381" bIns="381" rtlCol="0" anchor="t">
            <a:normAutofit/>
          </a:bodyPr>
          <a:lstStyle/>
          <a:p>
            <a:pPr marL="0" indent="0">
              <a:spcAft>
                <a:spcPts val="200"/>
              </a:spcAft>
              <a:buNone/>
            </a:pPr>
            <a:r>
              <a:rPr lang="en-GB" sz="1100" dirty="0">
                <a:solidFill>
                  <a:srgbClr val="172044"/>
                </a:solidFill>
              </a:rPr>
              <a:t>Python 3.12, pydantic, httpx, FastAPI</a:t>
            </a:r>
          </a:p>
          <a:p>
            <a:pPr marL="0" indent="0">
              <a:spcAft>
                <a:spcPts val="200"/>
              </a:spcAft>
              <a:buNone/>
            </a:pPr>
            <a:r>
              <a:rPr lang="en-GB" sz="1100" dirty="0">
                <a:solidFill>
                  <a:srgbClr val="172044"/>
                </a:solidFill>
              </a:rPr>
              <a:t>SearxNG or the Brave Search API</a:t>
            </a:r>
          </a:p>
          <a:p>
            <a:pPr marL="0" indent="0">
              <a:spcAft>
                <a:spcPts val="200"/>
              </a:spcAft>
              <a:buNone/>
            </a:pPr>
            <a:r>
              <a:rPr lang="en-GB" sz="1100" dirty="0">
                <a:solidFill>
                  <a:srgbClr val="172044"/>
                </a:solidFill>
              </a:rPr>
              <a:t>NIQ CIS LLM (hack-fest-gpt-5.6-luna)</a:t>
            </a:r>
          </a:p>
        </p:txBody>
      </p:sp>
      <p:sp>
        <p:nvSpPr>
          <p:cNvPr id="36" name="Shape 34"/>
          <p:cNvSpPr/>
          <p:nvPr/>
        </p:nvSpPr>
        <p:spPr>
          <a:xfrm>
            <a:off x="7580376" y="3886200"/>
            <a:ext cx="4014216" cy="1298448"/>
          </a:xfrm>
          <a:prstGeom prst="roundRect">
            <a:avLst>
              <a:gd name="adj" fmla="val 7042"/>
            </a:avLst>
          </a:prstGeom>
          <a:solidFill>
            <a:srgbClr val="FFFFFF"/>
          </a:solidFill>
          <a:ln w="12700">
            <a:solidFill>
              <a:srgbClr val="DCE1EE"/>
            </a:solidFill>
            <a:prstDash val="solid"/>
          </a:ln>
          <a:effectLst>
            <a:outerShdw blurRad="25400" dist="12700" dir="2700000" algn="bl" rotWithShape="0">
              <a:srgbClr val="000000">
                <a:alpha val="10000"/>
              </a:srgbClr>
            </a:outerShdw>
          </a:effectLst>
        </p:spPr>
        <p:txBody>
          <a:bodyPr/>
          <a:lstStyle/>
          <a:p>
            <a:endParaRPr lang="en-US"/>
          </a:p>
        </p:txBody>
      </p:sp>
      <p:sp>
        <p:nvSpPr>
          <p:cNvPr id="37" name="Shape 35"/>
          <p:cNvSpPr/>
          <p:nvPr/>
        </p:nvSpPr>
        <p:spPr>
          <a:xfrm>
            <a:off x="7580376" y="3886200"/>
            <a:ext cx="73152" cy="1298448"/>
          </a:xfrm>
          <a:prstGeom prst="rect">
            <a:avLst/>
          </a:prstGeom>
          <a:solidFill>
            <a:srgbClr val="FFC83D"/>
          </a:solidFill>
          <a:ln w="12700">
            <a:solidFill>
              <a:srgbClr val="FFC83D"/>
            </a:solidFill>
            <a:prstDash val="solid"/>
          </a:ln>
        </p:spPr>
        <p:txBody>
          <a:bodyPr/>
          <a:lstStyle/>
          <a:p>
            <a:endParaRPr lang="en-US"/>
          </a:p>
        </p:txBody>
      </p:sp>
      <p:sp>
        <p:nvSpPr>
          <p:cNvPr id="38" name="Text 36"/>
          <p:cNvSpPr/>
          <p:nvPr/>
        </p:nvSpPr>
        <p:spPr>
          <a:xfrm>
            <a:off x="7781544" y="4041648"/>
            <a:ext cx="3648456" cy="201168"/>
          </a:xfrm>
          <a:prstGeom prst="rect">
            <a:avLst/>
          </a:prstGeom>
          <a:noFill/>
          <a:ln/>
        </p:spPr>
        <p:txBody>
          <a:bodyPr wrap="square" lIns="0" tIns="0" rIns="0" bIns="0" rtlCol="0" anchor="ctr">
            <a:normAutofit/>
          </a:bodyPr>
          <a:lstStyle/>
          <a:p>
            <a:pPr marL="0" indent="0">
              <a:buNone/>
            </a:pPr>
            <a:r>
              <a:rPr lang="en-US" sz="850" b="1" dirty="0">
                <a:solidFill>
                  <a:srgbClr val="5E6784"/>
                </a:solidFill>
              </a:rPr>
              <a:t>DEMO LINK OR SCREENSHOTS</a:t>
            </a:r>
            <a:endParaRPr lang="en-US" sz="850" dirty="0"/>
          </a:p>
        </p:txBody>
      </p:sp>
      <p:sp>
        <p:nvSpPr>
          <p:cNvPr id="39" name="Text 37"/>
          <p:cNvSpPr/>
          <p:nvPr/>
        </p:nvSpPr>
        <p:spPr>
          <a:xfrm>
            <a:off x="7781544" y="4325112"/>
            <a:ext cx="3630168" cy="713232"/>
          </a:xfrm>
          <a:prstGeom prst="rect">
            <a:avLst/>
          </a:prstGeom>
          <a:noFill/>
          <a:ln/>
        </p:spPr>
        <p:txBody>
          <a:bodyPr wrap="square" lIns="381" tIns="381" rIns="381" bIns="381" rtlCol="0" anchor="t">
            <a:normAutofit/>
          </a:bodyPr>
          <a:lstStyle/>
          <a:p>
            <a:pPr marL="0" indent="0">
              <a:spcAft>
                <a:spcPts val="200"/>
              </a:spcAft>
              <a:buNone/>
            </a:pPr>
            <a:r>
              <a:rPr lang="en-GB" sz="1100" dirty="0">
                <a:solidFill>
                  <a:srgbClr val="172044"/>
                </a:solidFill>
              </a:rPr>
              <a:t>Live UI: uv run python -m nimo.ui --live</a:t>
            </a:r>
          </a:p>
          <a:p>
            <a:pPr marL="0" indent="0">
              <a:spcAft>
                <a:spcPts val="200"/>
              </a:spcAft>
              <a:buNone/>
            </a:pPr>
            <a:r>
              <a:rPr lang="en-GB" sz="1100" dirty="0">
                <a:solidFill>
                  <a:srgbClr val="172044"/>
                </a:solidFill>
              </a:rPr>
              <a:t>Results page: site_qa.html, opens offline</a:t>
            </a:r>
          </a:p>
          <a:p>
            <a:pPr marL="0" indent="0">
              <a:spcAft>
                <a:spcPts val="200"/>
              </a:spcAft>
              <a:buNone/>
            </a:pPr>
            <a:r>
              <a:rPr lang="en-GB" sz="1100" dirty="0">
                <a:solidFill>
                  <a:srgbClr val="172044"/>
                </a:solidFill>
              </a:rPr>
              <a:t>github.com/Nexxex-Aditya/NIMO  ·  screenshots next</a:t>
            </a:r>
          </a:p>
        </p:txBody>
      </p:sp>
      <p:sp>
        <p:nvSpPr>
          <p:cNvPr id="40" name="Slide Number Placeholder 0"/>
          <p:cNvSpPr>
            <a:spLocks noGrp="1"/>
          </p:cNvSpPr>
          <p:nvPr>
            <p:ph type="sldNum" sz="quarter" idx="4294967295"/>
          </p:nvPr>
        </p:nvSpPr>
        <p:spPr>
          <a:xfrm>
            <a:off x="11841480" y="6446520"/>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9AA3BC"/>
                </a:solidFill>
                <a:latin typeface="Aptos"/>
                <a:ea typeface="Aptos"/>
                <a:cs typeface="Aptos"/>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420624"/>
            <a:ext cx="2468880" cy="201168"/>
          </a:xfrm>
          <a:prstGeom prst="rect">
            <a:avLst/>
          </a:prstGeom>
          <a:noFill/>
          <a:ln/>
        </p:spPr>
        <p:txBody>
          <a:bodyPr wrap="square" lIns="0" tIns="0" rIns="0" bIns="0" rtlCol="0" anchor="ctr"/>
          <a:lstStyle/>
          <a:p>
            <a:pPr marL="0" indent="0">
              <a:buNone/>
            </a:pPr>
            <a:r>
              <a:rPr lang="en-US" sz="900" b="1" dirty="0">
                <a:solidFill>
                  <a:srgbClr val="2E6AF6"/>
                </a:solidFill>
              </a:rPr>
              <a:t>04 / IMPACT</a:t>
            </a:r>
            <a:endParaRPr lang="en-US" sz="900" dirty="0"/>
          </a:p>
        </p:txBody>
      </p:sp>
      <p:sp>
        <p:nvSpPr>
          <p:cNvPr id="3" name="Text 1"/>
          <p:cNvSpPr/>
          <p:nvPr/>
        </p:nvSpPr>
        <p:spPr>
          <a:xfrm>
            <a:off x="566928" y="621792"/>
            <a:ext cx="9875520" cy="420624"/>
          </a:xfrm>
          <a:prstGeom prst="rect">
            <a:avLst/>
          </a:prstGeom>
          <a:noFill/>
          <a:ln/>
        </p:spPr>
        <p:txBody>
          <a:bodyPr wrap="square" lIns="0" tIns="0" rIns="0" bIns="0" rtlCol="0" anchor="ctr">
            <a:normAutofit/>
          </a:bodyPr>
          <a:lstStyle/>
          <a:p>
            <a:pPr marL="0" indent="0">
              <a:buNone/>
            </a:pPr>
            <a:r>
              <a:rPr lang="en-US" sz="2700" b="1" dirty="0">
                <a:solidFill>
                  <a:srgbClr val="08124F"/>
                </a:solidFill>
              </a:rPr>
              <a:t>Impact &amp; Future Scope</a:t>
            </a:r>
            <a:endParaRPr lang="en-US" sz="2700" dirty="0"/>
          </a:p>
        </p:txBody>
      </p:sp>
      <p:sp>
        <p:nvSpPr>
          <p:cNvPr id="4" name="Text 2"/>
          <p:cNvSpPr/>
          <p:nvPr/>
        </p:nvSpPr>
        <p:spPr>
          <a:xfrm>
            <a:off x="566928" y="1078992"/>
            <a:ext cx="10515600" cy="274320"/>
          </a:xfrm>
          <a:prstGeom prst="rect">
            <a:avLst/>
          </a:prstGeom>
          <a:noFill/>
          <a:ln/>
        </p:spPr>
        <p:txBody>
          <a:bodyPr wrap="square" lIns="0" tIns="0" rIns="0" bIns="0" rtlCol="0" anchor="ctr">
            <a:normAutofit/>
          </a:bodyPr>
          <a:lstStyle/>
          <a:p>
            <a:pPr marL="0" indent="0">
              <a:buNone/>
            </a:pPr>
            <a:r>
              <a:rPr lang="en-GB" sz="1050" dirty="0">
                <a:solidFill>
                  <a:srgbClr val="5E6784"/>
                </a:solidFill>
              </a:rPr>
              <a:t>What it delivered on the qa set, where else it applies, and what we would do next.</a:t>
            </a:r>
          </a:p>
        </p:txBody>
      </p:sp>
      <p:sp>
        <p:nvSpPr>
          <p:cNvPr id="5" name="Shape 3"/>
          <p:cNvSpPr/>
          <p:nvPr/>
        </p:nvSpPr>
        <p:spPr>
          <a:xfrm>
            <a:off x="566928" y="1572768"/>
            <a:ext cx="3703320" cy="2121408"/>
          </a:xfrm>
          <a:prstGeom prst="roundRect">
            <a:avLst>
              <a:gd name="adj" fmla="val 4310"/>
            </a:avLst>
          </a:prstGeom>
          <a:solidFill>
            <a:srgbClr val="FFFFFF"/>
          </a:solidFill>
          <a:ln w="12700">
            <a:solidFill>
              <a:srgbClr val="DCE1EE"/>
            </a:solidFill>
            <a:prstDash val="solid"/>
          </a:ln>
          <a:effectLst>
            <a:outerShdw blurRad="25400" dist="12700" dir="2700000" algn="bl" rotWithShape="0">
              <a:srgbClr val="000000">
                <a:alpha val="10000"/>
              </a:srgbClr>
            </a:outerShdw>
          </a:effectLst>
        </p:spPr>
        <p:txBody>
          <a:bodyPr/>
          <a:lstStyle/>
          <a:p>
            <a:endParaRPr lang="en-US"/>
          </a:p>
        </p:txBody>
      </p:sp>
      <p:sp>
        <p:nvSpPr>
          <p:cNvPr id="6" name="Shape 4"/>
          <p:cNvSpPr/>
          <p:nvPr/>
        </p:nvSpPr>
        <p:spPr>
          <a:xfrm>
            <a:off x="566928" y="1572768"/>
            <a:ext cx="73152" cy="2121408"/>
          </a:xfrm>
          <a:prstGeom prst="rect">
            <a:avLst/>
          </a:prstGeom>
          <a:solidFill>
            <a:srgbClr val="38B27B"/>
          </a:solidFill>
          <a:ln w="12700">
            <a:solidFill>
              <a:srgbClr val="38B27B"/>
            </a:solidFill>
            <a:prstDash val="solid"/>
          </a:ln>
        </p:spPr>
        <p:txBody>
          <a:bodyPr/>
          <a:lstStyle/>
          <a:p>
            <a:endParaRPr lang="en-US"/>
          </a:p>
        </p:txBody>
      </p:sp>
      <p:sp>
        <p:nvSpPr>
          <p:cNvPr id="7" name="Text 5"/>
          <p:cNvSpPr/>
          <p:nvPr/>
        </p:nvSpPr>
        <p:spPr>
          <a:xfrm>
            <a:off x="768096" y="1728216"/>
            <a:ext cx="3337560" cy="201168"/>
          </a:xfrm>
          <a:prstGeom prst="rect">
            <a:avLst/>
          </a:prstGeom>
          <a:noFill/>
          <a:ln/>
        </p:spPr>
        <p:txBody>
          <a:bodyPr wrap="square" lIns="0" tIns="0" rIns="0" bIns="0" rtlCol="0" anchor="ctr">
            <a:normAutofit/>
          </a:bodyPr>
          <a:lstStyle/>
          <a:p>
            <a:pPr marL="0" indent="0">
              <a:buNone/>
            </a:pPr>
            <a:r>
              <a:rPr lang="en-US" sz="850" b="1" dirty="0">
                <a:solidFill>
                  <a:srgbClr val="5E6784"/>
                </a:solidFill>
              </a:rPr>
              <a:t>IMPACT</a:t>
            </a:r>
            <a:endParaRPr lang="en-US" sz="850" dirty="0"/>
          </a:p>
        </p:txBody>
      </p:sp>
      <p:sp>
        <p:nvSpPr>
          <p:cNvPr id="8" name="Text 6"/>
          <p:cNvSpPr/>
          <p:nvPr/>
        </p:nvSpPr>
        <p:spPr>
          <a:xfrm>
            <a:off x="768096" y="2011680"/>
            <a:ext cx="3337560" cy="1600200"/>
          </a:xfrm>
          <a:prstGeom prst="rect">
            <a:avLst/>
          </a:prstGeom>
          <a:noFill/>
          <a:ln/>
        </p:spPr>
        <p:txBody>
          <a:bodyPr wrap="square" lIns="381" tIns="381" rIns="381" bIns="381" rtlCol="0" anchor="t">
            <a:normAutofit/>
          </a:bodyPr>
          <a:lstStyle/>
          <a:p>
            <a:pPr marL="0" indent="0">
              <a:spcAft>
                <a:spcPts val="600"/>
              </a:spcAft>
              <a:buNone/>
            </a:pPr>
            <a:r>
              <a:rPr lang="en-GB" sz="1150" dirty="0">
                <a:solidFill>
                  <a:srgbClr val="172044"/>
                </a:solidFill>
              </a:rPr>
              <a:t>412 of 412 qa products resolved end to end; 114 confirmed by the page's own barcode.</a:t>
            </a:r>
          </a:p>
          <a:p>
            <a:pPr marL="0" indent="0">
              <a:spcAft>
                <a:spcPts val="600"/>
              </a:spcAft>
              <a:buNone/>
            </a:pPr>
            <a:r>
              <a:rPr lang="en-GB" sz="1150" dirty="0">
                <a:solidFill>
                  <a:srgbClr val="172044"/>
                </a:solidFill>
              </a:rPr>
              <a:t>Brand homepages given as answers: 100 before our fix, 0 after.</a:t>
            </a:r>
          </a:p>
          <a:p>
            <a:pPr marL="0" indent="0">
              <a:buNone/>
            </a:pPr>
            <a:r>
              <a:rPr lang="en-GB" sz="1150" dirty="0">
                <a:solidFill>
                  <a:srgbClr val="172044"/>
                </a:solidFill>
              </a:rPr>
              <a:t>Module accuracy 80.3% on the labelled set. A match confidence of 0.93 means about 93 in 100 are right.</a:t>
            </a:r>
          </a:p>
        </p:txBody>
      </p:sp>
      <p:sp>
        <p:nvSpPr>
          <p:cNvPr id="9" name="Text 7"/>
          <p:cNvSpPr/>
          <p:nvPr/>
        </p:nvSpPr>
        <p:spPr>
          <a:xfrm>
            <a:off x="3813048" y="1700784"/>
            <a:ext cx="228600" cy="228600"/>
          </a:xfrm>
          <a:prstGeom prst="rect">
            <a:avLst/>
          </a:prstGeom>
          <a:noFill/>
          <a:ln/>
        </p:spPr>
        <p:txBody>
          <a:bodyPr wrap="square" lIns="0" tIns="0" rIns="0" bIns="0" rtlCol="0" anchor="ctr"/>
          <a:lstStyle/>
          <a:p>
            <a:pPr marL="0" indent="0" algn="ctr">
              <a:buNone/>
            </a:pPr>
            <a:r>
              <a:rPr lang="en-US" sz="1200" b="1" dirty="0">
                <a:solidFill>
                  <a:srgbClr val="38B27B"/>
                </a:solidFill>
              </a:rPr>
              <a:t>01</a:t>
            </a:r>
            <a:endParaRPr lang="en-US" sz="1200" dirty="0"/>
          </a:p>
        </p:txBody>
      </p:sp>
      <p:sp>
        <p:nvSpPr>
          <p:cNvPr id="10" name="Shape 8"/>
          <p:cNvSpPr/>
          <p:nvPr/>
        </p:nvSpPr>
        <p:spPr>
          <a:xfrm>
            <a:off x="4425696" y="1572768"/>
            <a:ext cx="3703320" cy="2121408"/>
          </a:xfrm>
          <a:prstGeom prst="roundRect">
            <a:avLst>
              <a:gd name="adj" fmla="val 4310"/>
            </a:avLst>
          </a:prstGeom>
          <a:solidFill>
            <a:srgbClr val="FFFFFF"/>
          </a:solidFill>
          <a:ln w="12700">
            <a:solidFill>
              <a:srgbClr val="DCE1EE"/>
            </a:solidFill>
            <a:prstDash val="solid"/>
          </a:ln>
          <a:effectLst>
            <a:outerShdw blurRad="25400" dist="12700" dir="2700000" algn="bl" rotWithShape="0">
              <a:srgbClr val="000000">
                <a:alpha val="10000"/>
              </a:srgbClr>
            </a:outerShdw>
          </a:effectLst>
        </p:spPr>
        <p:txBody>
          <a:bodyPr/>
          <a:lstStyle/>
          <a:p>
            <a:endParaRPr lang="en-US"/>
          </a:p>
        </p:txBody>
      </p:sp>
      <p:sp>
        <p:nvSpPr>
          <p:cNvPr id="11" name="Shape 9"/>
          <p:cNvSpPr/>
          <p:nvPr/>
        </p:nvSpPr>
        <p:spPr>
          <a:xfrm>
            <a:off x="4425696" y="1572768"/>
            <a:ext cx="73152" cy="2121408"/>
          </a:xfrm>
          <a:prstGeom prst="rect">
            <a:avLst/>
          </a:prstGeom>
          <a:solidFill>
            <a:srgbClr val="2E6AF6"/>
          </a:solidFill>
          <a:ln w="12700">
            <a:solidFill>
              <a:srgbClr val="2E6AF6"/>
            </a:solidFill>
            <a:prstDash val="solid"/>
          </a:ln>
        </p:spPr>
        <p:txBody>
          <a:bodyPr/>
          <a:lstStyle/>
          <a:p>
            <a:endParaRPr lang="en-US"/>
          </a:p>
        </p:txBody>
      </p:sp>
      <p:sp>
        <p:nvSpPr>
          <p:cNvPr id="12" name="Text 10"/>
          <p:cNvSpPr/>
          <p:nvPr/>
        </p:nvSpPr>
        <p:spPr>
          <a:xfrm>
            <a:off x="4626864" y="1728216"/>
            <a:ext cx="3337560" cy="201168"/>
          </a:xfrm>
          <a:prstGeom prst="rect">
            <a:avLst/>
          </a:prstGeom>
          <a:noFill/>
          <a:ln/>
        </p:spPr>
        <p:txBody>
          <a:bodyPr wrap="square" lIns="0" tIns="0" rIns="0" bIns="0" rtlCol="0" anchor="ctr">
            <a:normAutofit/>
          </a:bodyPr>
          <a:lstStyle/>
          <a:p>
            <a:pPr marL="0" indent="0">
              <a:buNone/>
            </a:pPr>
            <a:r>
              <a:rPr lang="en-US" sz="850" b="1" dirty="0">
                <a:solidFill>
                  <a:srgbClr val="5E6784"/>
                </a:solidFill>
              </a:rPr>
              <a:t>MARKET POTENTIAL / USE CASES</a:t>
            </a:r>
            <a:endParaRPr lang="en-US" sz="850" dirty="0"/>
          </a:p>
        </p:txBody>
      </p:sp>
      <p:sp>
        <p:nvSpPr>
          <p:cNvPr id="13" name="Text 11"/>
          <p:cNvSpPr/>
          <p:nvPr/>
        </p:nvSpPr>
        <p:spPr>
          <a:xfrm>
            <a:off x="4626864" y="2011680"/>
            <a:ext cx="3337560" cy="1600200"/>
          </a:xfrm>
          <a:prstGeom prst="rect">
            <a:avLst/>
          </a:prstGeom>
          <a:noFill/>
          <a:ln/>
        </p:spPr>
        <p:txBody>
          <a:bodyPr wrap="square" lIns="381" tIns="381" rIns="381" bIns="381" rtlCol="0" anchor="t">
            <a:normAutofit/>
          </a:bodyPr>
          <a:lstStyle/>
          <a:p>
            <a:pPr marL="0" indent="0">
              <a:buNone/>
            </a:pPr>
            <a:r>
              <a:rPr lang="en-GB" sz="1150" dirty="0">
                <a:solidFill>
                  <a:srgbClr val="172044"/>
                </a:solidFill>
              </a:rPr>
              <a:t>Any catalogue that must be tied to the web: new product onboarding, retailer assortment checks, price and availability tracking, attribute enrichment. Other categories need new vocabularies and guidelines, not new code.</a:t>
            </a:r>
          </a:p>
        </p:txBody>
      </p:sp>
      <p:sp>
        <p:nvSpPr>
          <p:cNvPr id="14" name="Text 12"/>
          <p:cNvSpPr/>
          <p:nvPr/>
        </p:nvSpPr>
        <p:spPr>
          <a:xfrm>
            <a:off x="7671816" y="1700784"/>
            <a:ext cx="228600" cy="228600"/>
          </a:xfrm>
          <a:prstGeom prst="rect">
            <a:avLst/>
          </a:prstGeom>
          <a:noFill/>
          <a:ln/>
        </p:spPr>
        <p:txBody>
          <a:bodyPr wrap="square" lIns="0" tIns="0" rIns="0" bIns="0" rtlCol="0" anchor="ctr"/>
          <a:lstStyle/>
          <a:p>
            <a:pPr marL="0" indent="0" algn="ctr">
              <a:buNone/>
            </a:pPr>
            <a:r>
              <a:rPr lang="en-US" sz="1200" b="1" dirty="0">
                <a:solidFill>
                  <a:srgbClr val="2E6AF6"/>
                </a:solidFill>
              </a:rPr>
              <a:t>02</a:t>
            </a:r>
            <a:endParaRPr lang="en-US" sz="1200" dirty="0"/>
          </a:p>
        </p:txBody>
      </p:sp>
      <p:sp>
        <p:nvSpPr>
          <p:cNvPr id="15" name="Shape 13"/>
          <p:cNvSpPr/>
          <p:nvPr/>
        </p:nvSpPr>
        <p:spPr>
          <a:xfrm>
            <a:off x="8284464" y="1572768"/>
            <a:ext cx="3310128" cy="2121408"/>
          </a:xfrm>
          <a:prstGeom prst="roundRect">
            <a:avLst>
              <a:gd name="adj" fmla="val 4310"/>
            </a:avLst>
          </a:prstGeom>
          <a:solidFill>
            <a:srgbClr val="FFFFFF"/>
          </a:solidFill>
          <a:ln w="12700">
            <a:solidFill>
              <a:srgbClr val="DCE1EE"/>
            </a:solidFill>
            <a:prstDash val="solid"/>
          </a:ln>
          <a:effectLst>
            <a:outerShdw blurRad="25400" dist="12700" dir="2700000" algn="bl" rotWithShape="0">
              <a:srgbClr val="000000">
                <a:alpha val="10000"/>
              </a:srgbClr>
            </a:outerShdw>
          </a:effectLst>
        </p:spPr>
        <p:txBody>
          <a:bodyPr/>
          <a:lstStyle/>
          <a:p>
            <a:endParaRPr lang="en-US"/>
          </a:p>
        </p:txBody>
      </p:sp>
      <p:sp>
        <p:nvSpPr>
          <p:cNvPr id="16" name="Shape 14"/>
          <p:cNvSpPr/>
          <p:nvPr/>
        </p:nvSpPr>
        <p:spPr>
          <a:xfrm>
            <a:off x="8284464" y="1572768"/>
            <a:ext cx="73152" cy="2121408"/>
          </a:xfrm>
          <a:prstGeom prst="rect">
            <a:avLst/>
          </a:prstGeom>
          <a:solidFill>
            <a:srgbClr val="FFC83D"/>
          </a:solidFill>
          <a:ln w="12700">
            <a:solidFill>
              <a:srgbClr val="FFC83D"/>
            </a:solidFill>
            <a:prstDash val="solid"/>
          </a:ln>
        </p:spPr>
        <p:txBody>
          <a:bodyPr/>
          <a:lstStyle/>
          <a:p>
            <a:endParaRPr lang="en-US"/>
          </a:p>
        </p:txBody>
      </p:sp>
      <p:sp>
        <p:nvSpPr>
          <p:cNvPr id="17" name="Text 15"/>
          <p:cNvSpPr/>
          <p:nvPr/>
        </p:nvSpPr>
        <p:spPr>
          <a:xfrm>
            <a:off x="8485632" y="1728216"/>
            <a:ext cx="2944368" cy="201168"/>
          </a:xfrm>
          <a:prstGeom prst="rect">
            <a:avLst/>
          </a:prstGeom>
          <a:noFill/>
          <a:ln/>
        </p:spPr>
        <p:txBody>
          <a:bodyPr wrap="square" lIns="0" tIns="0" rIns="0" bIns="0" rtlCol="0" anchor="ctr">
            <a:normAutofit/>
          </a:bodyPr>
          <a:lstStyle/>
          <a:p>
            <a:pPr marL="0" indent="0">
              <a:buNone/>
            </a:pPr>
            <a:r>
              <a:rPr lang="en-US" sz="850" b="1" dirty="0">
                <a:solidFill>
                  <a:srgbClr val="5E6784"/>
                </a:solidFill>
              </a:rPr>
              <a:t>NEXT STEPS</a:t>
            </a:r>
            <a:endParaRPr lang="en-US" sz="850" dirty="0"/>
          </a:p>
        </p:txBody>
      </p:sp>
      <p:sp>
        <p:nvSpPr>
          <p:cNvPr id="18" name="Text 16"/>
          <p:cNvSpPr/>
          <p:nvPr/>
        </p:nvSpPr>
        <p:spPr>
          <a:xfrm>
            <a:off x="8485632" y="2011680"/>
            <a:ext cx="2944368" cy="1600200"/>
          </a:xfrm>
          <a:prstGeom prst="rect">
            <a:avLst/>
          </a:prstGeom>
          <a:noFill/>
          <a:ln/>
        </p:spPr>
        <p:txBody>
          <a:bodyPr wrap="square" lIns="381" tIns="381" rIns="381" bIns="381" rtlCol="0" anchor="t">
            <a:normAutofit/>
          </a:bodyPr>
          <a:lstStyle/>
          <a:p>
            <a:pPr marL="0" indent="0">
              <a:buNone/>
            </a:pPr>
            <a:r>
              <a:rPr lang="en-GB" sz="1150" dirty="0">
                <a:solidFill>
                  <a:srgbClr val="172044"/>
                </a:solidFill>
              </a:rPr>
              <a:t>Run search, pages and the model on one network. Learn the 32 modules missing from the labelled data from page evidence. Agree with NIQ how a blank URL scores against a wrong one, then switch on abstention, which is already built.</a:t>
            </a:r>
          </a:p>
        </p:txBody>
      </p:sp>
      <p:sp>
        <p:nvSpPr>
          <p:cNvPr id="19" name="Text 17"/>
          <p:cNvSpPr/>
          <p:nvPr/>
        </p:nvSpPr>
        <p:spPr>
          <a:xfrm>
            <a:off x="11137392" y="1700784"/>
            <a:ext cx="228600" cy="228600"/>
          </a:xfrm>
          <a:prstGeom prst="rect">
            <a:avLst/>
          </a:prstGeom>
          <a:noFill/>
          <a:ln/>
        </p:spPr>
        <p:txBody>
          <a:bodyPr wrap="square" lIns="0" tIns="0" rIns="0" bIns="0" rtlCol="0" anchor="ctr"/>
          <a:lstStyle/>
          <a:p>
            <a:pPr marL="0" indent="0" algn="ctr">
              <a:buNone/>
            </a:pPr>
            <a:r>
              <a:rPr lang="en-US" sz="1200" b="1" dirty="0">
                <a:solidFill>
                  <a:srgbClr val="FFC83D"/>
                </a:solidFill>
              </a:rPr>
              <a:t>03</a:t>
            </a:r>
            <a:endParaRPr lang="en-US" sz="1200" dirty="0"/>
          </a:p>
        </p:txBody>
      </p:sp>
      <p:sp>
        <p:nvSpPr>
          <p:cNvPr id="20" name="Shape 18"/>
          <p:cNvSpPr/>
          <p:nvPr/>
        </p:nvSpPr>
        <p:spPr>
          <a:xfrm>
            <a:off x="566928" y="3977640"/>
            <a:ext cx="11027664" cy="1225296"/>
          </a:xfrm>
          <a:prstGeom prst="roundRect">
            <a:avLst>
              <a:gd name="adj" fmla="val 5970"/>
            </a:avLst>
          </a:prstGeom>
          <a:solidFill>
            <a:srgbClr val="08124F"/>
          </a:solidFill>
          <a:ln w="12700">
            <a:solidFill>
              <a:srgbClr val="08124F"/>
            </a:solidFill>
            <a:prstDash val="solid"/>
          </a:ln>
        </p:spPr>
        <p:txBody>
          <a:bodyPr/>
          <a:lstStyle/>
          <a:p>
            <a:endParaRPr lang="en-US"/>
          </a:p>
        </p:txBody>
      </p:sp>
      <p:sp>
        <p:nvSpPr>
          <p:cNvPr id="21" name="Text 19"/>
          <p:cNvSpPr/>
          <p:nvPr/>
        </p:nvSpPr>
        <p:spPr>
          <a:xfrm>
            <a:off x="822960" y="4251960"/>
            <a:ext cx="1508760" cy="201168"/>
          </a:xfrm>
          <a:prstGeom prst="rect">
            <a:avLst/>
          </a:prstGeom>
          <a:noFill/>
          <a:ln/>
        </p:spPr>
        <p:txBody>
          <a:bodyPr wrap="square" lIns="0" tIns="0" rIns="0" bIns="0" rtlCol="0" anchor="ctr"/>
          <a:lstStyle/>
          <a:p>
            <a:pPr marL="0" indent="0">
              <a:buNone/>
            </a:pPr>
            <a:r>
              <a:rPr lang="en-US" sz="850" b="1" dirty="0">
                <a:solidFill>
                  <a:srgbClr val="A9BFFF"/>
                </a:solidFill>
              </a:rPr>
              <a:t>TEAM &amp; ROLES</a:t>
            </a:r>
            <a:endParaRPr lang="en-US" sz="850" dirty="0"/>
          </a:p>
        </p:txBody>
      </p:sp>
      <p:sp>
        <p:nvSpPr>
          <p:cNvPr id="22" name="Text 20"/>
          <p:cNvSpPr/>
          <p:nvPr/>
        </p:nvSpPr>
        <p:spPr>
          <a:xfrm>
            <a:off x="2240280" y="4197096"/>
            <a:ext cx="3886200" cy="310896"/>
          </a:xfrm>
          <a:prstGeom prst="rect">
            <a:avLst/>
          </a:prstGeom>
          <a:noFill/>
          <a:ln/>
        </p:spPr>
        <p:txBody>
          <a:bodyPr wrap="square" lIns="0" tIns="0" rIns="0" bIns="0" rtlCol="0" anchor="ctr"/>
          <a:lstStyle/>
          <a:p>
            <a:pPr marL="0" indent="0">
              <a:buNone/>
            </a:pPr>
            <a:r>
              <a:rPr lang="en-GB" sz="1500" b="1" dirty="0">
                <a:solidFill>
                  <a:srgbClr val="FFFFFF"/>
                </a:solidFill>
              </a:rPr>
              <a:t>Team Matrix Slayers</a:t>
            </a:r>
          </a:p>
        </p:txBody>
      </p:sp>
      <p:sp>
        <p:nvSpPr>
          <p:cNvPr id="23" name="Text 21"/>
          <p:cNvSpPr/>
          <p:nvPr/>
        </p:nvSpPr>
        <p:spPr>
          <a:xfrm>
            <a:off x="2240280" y="4572000"/>
            <a:ext cx="7818120" cy="347472"/>
          </a:xfrm>
          <a:prstGeom prst="rect">
            <a:avLst/>
          </a:prstGeom>
          <a:noFill/>
          <a:ln/>
        </p:spPr>
        <p:txBody>
          <a:bodyPr wrap="square" lIns="0" tIns="0" rIns="0" bIns="0" rtlCol="0" anchor="ctr">
            <a:normAutofit/>
          </a:bodyPr>
          <a:lstStyle/>
          <a:p>
            <a:pPr marL="0" indent="0">
              <a:buNone/>
            </a:pPr>
            <a:r>
              <a:rPr lang="en-GB" sz="1100" dirty="0">
                <a:solidFill>
                  <a:srgbClr val="E5E9F7"/>
                </a:solidFill>
              </a:rPr>
              <a:t>Aditya Samal  ·  Build lead  ·  Architecture, pipeline, evaluation and demo</a:t>
            </a:r>
          </a:p>
        </p:txBody>
      </p:sp>
      <p:sp>
        <p:nvSpPr>
          <p:cNvPr id="24" name="Shape 22"/>
          <p:cNvSpPr/>
          <p:nvPr/>
        </p:nvSpPr>
        <p:spPr>
          <a:xfrm>
            <a:off x="10012680" y="4251960"/>
            <a:ext cx="1271016" cy="310896"/>
          </a:xfrm>
          <a:prstGeom prst="roundRect">
            <a:avLst>
              <a:gd name="adj" fmla="val 23529"/>
            </a:avLst>
          </a:prstGeom>
          <a:solidFill>
            <a:srgbClr val="DCE8FF"/>
          </a:solidFill>
          <a:ln w="12700">
            <a:solidFill>
              <a:srgbClr val="DCE8FF"/>
            </a:solidFill>
            <a:prstDash val="solid"/>
          </a:ln>
        </p:spPr>
        <p:txBody>
          <a:bodyPr/>
          <a:lstStyle/>
          <a:p>
            <a:endParaRPr lang="en-US"/>
          </a:p>
        </p:txBody>
      </p:sp>
      <p:sp>
        <p:nvSpPr>
          <p:cNvPr id="25" name="Text 23"/>
          <p:cNvSpPr/>
          <p:nvPr/>
        </p:nvSpPr>
        <p:spPr>
          <a:xfrm>
            <a:off x="10012680" y="4315968"/>
            <a:ext cx="1271016" cy="146304"/>
          </a:xfrm>
          <a:prstGeom prst="rect">
            <a:avLst/>
          </a:prstGeom>
          <a:noFill/>
          <a:ln/>
        </p:spPr>
        <p:txBody>
          <a:bodyPr wrap="square" lIns="0" tIns="0" rIns="0" bIns="0" rtlCol="0" anchor="ctr"/>
          <a:lstStyle/>
          <a:p>
            <a:pPr marL="0" indent="0" algn="ctr">
              <a:buNone/>
            </a:pPr>
            <a:r>
              <a:rPr lang="en-GB" sz="850" b="1" dirty="0">
                <a:solidFill>
                  <a:srgbClr val="2E6AF6"/>
                </a:solidFill>
              </a:rPr>
              <a:t>412 / 412 ROWS</a:t>
            </a:r>
          </a:p>
        </p:txBody>
      </p:sp>
      <p:sp>
        <p:nvSpPr>
          <p:cNvPr id="26" name="Slide Number Placeholder 0"/>
          <p:cNvSpPr>
            <a:spLocks noGrp="1"/>
          </p:cNvSpPr>
          <p:nvPr>
            <p:ph type="sldNum" sz="quarter" idx="4294967295"/>
          </p:nvPr>
        </p:nvSpPr>
        <p:spPr>
          <a:xfrm>
            <a:off x="11841480" y="6446520"/>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9AA3BC"/>
                </a:solidFill>
                <a:latin typeface="Aptos"/>
                <a:ea typeface="Aptos"/>
                <a:cs typeface="Aptos"/>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025EFDF-9D9B-3D7D-C012-1B88B78D4107}"/>
              </a:ext>
            </a:extLst>
          </p:cNvPr>
          <p:cNvSpPr>
            <a:spLocks noGrp="1"/>
          </p:cNvSpPr>
          <p:nvPr>
            <p:ph type="ctrTitle"/>
          </p:nvPr>
        </p:nvSpPr>
        <p:spPr>
          <a:xfrm>
            <a:off x="3983539" y="1713337"/>
            <a:ext cx="8642082" cy="2387600"/>
          </a:xfrm>
        </p:spPr>
        <p:txBody>
          <a:bodyPr/>
          <a:lstStyle/>
          <a:p>
            <a:r>
              <a:rPr lang="en-US" b="1" dirty="0"/>
              <a:t>Thank You</a:t>
            </a:r>
            <a:endParaRPr lang="en-US" b="1" dirty="0">
              <a:cs typeface="Arial"/>
            </a:endParaRPr>
          </a:p>
        </p:txBody>
      </p:sp>
    </p:spTree>
    <p:extLst>
      <p:ext uri="{BB962C8B-B14F-4D97-AF65-F5344CB8AC3E}">
        <p14:creationId xmlns:p14="http://schemas.microsoft.com/office/powerpoint/2010/main" val="11338031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420624"/>
            <a:ext cx="2468880" cy="201168"/>
          </a:xfrm>
          <a:prstGeom prst="rect">
            <a:avLst/>
          </a:prstGeom>
          <a:noFill/>
          <a:ln/>
        </p:spPr>
        <p:txBody>
          <a:bodyPr wrap="square" lIns="0" tIns="0" rIns="0" bIns="0" rtlCol="0" anchor="ctr"/>
          <a:lstStyle/>
          <a:p>
            <a:pPr marL="0" indent="0">
              <a:buNone/>
            </a:pPr>
            <a:r>
              <a:rPr lang="en-US" sz="900" b="1" dirty="0">
                <a:solidFill>
                  <a:srgbClr val="2E6AF6"/>
                </a:solidFill>
              </a:rPr>
              <a:t>03 / DEMO</a:t>
            </a:r>
            <a:endParaRPr lang="en-US" sz="900" dirty="0"/>
          </a:p>
        </p:txBody>
      </p:sp>
      <p:sp>
        <p:nvSpPr>
          <p:cNvPr id="3" name="Text 1"/>
          <p:cNvSpPr/>
          <p:nvPr/>
        </p:nvSpPr>
        <p:spPr>
          <a:xfrm>
            <a:off x="566928" y="621792"/>
            <a:ext cx="9875520" cy="420624"/>
          </a:xfrm>
          <a:prstGeom prst="rect">
            <a:avLst/>
          </a:prstGeom>
          <a:noFill/>
          <a:ln/>
        </p:spPr>
        <p:txBody>
          <a:bodyPr wrap="square" lIns="0" tIns="0" rIns="0" bIns="0" rtlCol="0" anchor="ctr">
            <a:normAutofit/>
          </a:bodyPr>
          <a:lstStyle/>
          <a:p>
            <a:pPr marL="0" indent="0">
              <a:buNone/>
            </a:pPr>
            <a:r>
              <a:rPr lang="en-US" sz="2700" b="1" dirty="0">
                <a:solidFill>
                  <a:srgbClr val="08124F"/>
                </a:solidFill>
              </a:rPr>
              <a:t>What a Result Looks Like</a:t>
            </a:r>
            <a:endParaRPr lang="en-US" sz="2700" dirty="0"/>
          </a:p>
        </p:txBody>
      </p:sp>
      <p:sp>
        <p:nvSpPr>
          <p:cNvPr id="40" name="Slide Number Placeholder 0"/>
          <p:cNvSpPr>
            <a:spLocks noGrp="1"/>
          </p:cNvSpPr>
          <p:nvPr>
            <p:ph type="sldNum" sz="quarter" idx="4294967295"/>
          </p:nvPr>
        </p:nvSpPr>
        <p:spPr>
          <a:xfrm>
            <a:off x="11841480" y="6446520"/>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9AA3BC"/>
                </a:solidFill>
                <a:latin typeface="Aptos"/>
                <a:ea typeface="Aptos"/>
                <a:cs typeface="Aptos"/>
              </a:defRPr>
            </a:lvl1pPr>
          </a:lstStyle>
          <a:p>
            <a:pPr algn="l"/>
            <a:fld id="{F7021451-1387-4CA6-816F-3879F97B5CBC}" type="slidenum">
              <a:rPr lang="en-US" b="0"/>
              <a:t>4</a:t>
            </a:fld>
            <a:endParaRPr lang="en-US"/>
          </a:p>
        </p:txBody>
      </p:sp>
      <p:sp>
        <p:nvSpPr>
          <p:cNvPr id="4" name="Text 2"/>
          <p:cNvSpPr/>
          <p:nvPr/>
        </p:nvSpPr>
        <p:spPr>
          <a:xfrm>
            <a:off x="566928" y="1078992"/>
            <a:ext cx="10515600" cy="274320"/>
          </a:xfrm>
          <a:prstGeom prst="rect">
            <a:avLst/>
          </a:prstGeom>
          <a:noFill/>
          <a:ln/>
        </p:spPr>
        <p:txBody>
          <a:bodyPr wrap="square" lIns="0" tIns="0" rIns="0" bIns="0" rtlCol="0" anchor="ctr">
            <a:normAutofit/>
          </a:bodyPr>
          <a:lstStyle/>
          <a:p>
            <a:pPr marL="0" indent="0">
              <a:buNone/>
            </a:pPr>
            <a:r>
              <a:rPr lang="en-GB" sz="1050" dirty="0">
                <a:solidFill>
                  <a:srgbClr val="5E6784"/>
                </a:solidFill>
              </a:rPr>
              <a:t>Two real rows from NIMO's results page. Every line names the pipeline step that produced it.</a:t>
            </a:r>
          </a:p>
        </p:txBody>
      </p:sp>
      <p:sp>
        <p:nvSpPr>
          <p:cNvPr id="101" name="Frame 101"/>
          <p:cNvSpPr/>
          <p:nvPr/>
        </p:nvSpPr>
        <p:spPr>
          <a:xfrm>
            <a:off x="566928" y="1481328"/>
            <a:ext cx="5440680" cy="4663440"/>
          </a:xfrm>
          <a:prstGeom prst="roundRect">
            <a:avLst>
              <a:gd name="adj" fmla="val 4587"/>
            </a:avLst>
          </a:prstGeom>
          <a:solidFill>
            <a:srgbClr val="FFFFFF"/>
          </a:solidFill>
          <a:ln w="12700">
            <a:solidFill>
              <a:srgbClr val="DCE1EE"/>
            </a:solidFill>
            <a:prstDash val="solid"/>
          </a:ln>
          <a:effectLst>
            <a:outerShdw blurRad="25400" dist="12700" dir="2700000" algn="bl" rotWithShape="0">
              <a:srgbClr val="000000">
                <a:alpha val="10000"/>
              </a:srgbClr>
            </a:outerShdw>
          </a:effectLst>
        </p:spPr>
        <p:txBody>
          <a:bodyPr/>
          <a:lstStyle/>
          <a:p>
            <a:endParaRPr lang="en-US"/>
          </a:p>
        </p:txBody>
      </p:sp>
      <p:sp>
        <p:nvSpPr>
          <p:cNvPr id="102" name="Frame 102"/>
          <p:cNvSpPr/>
          <p:nvPr/>
        </p:nvSpPr>
        <p:spPr>
          <a:xfrm>
            <a:off x="6153912" y="1481328"/>
            <a:ext cx="5440680" cy="4663440"/>
          </a:xfrm>
          <a:prstGeom prst="roundRect">
            <a:avLst>
              <a:gd name="adj" fmla="val 4587"/>
            </a:avLst>
          </a:prstGeom>
          <a:solidFill>
            <a:srgbClr val="FFFFFF"/>
          </a:solidFill>
          <a:ln w="12700">
            <a:solidFill>
              <a:srgbClr val="DCE1EE"/>
            </a:solidFill>
            <a:prstDash val="solid"/>
          </a:ln>
          <a:effectLst>
            <a:outerShdw blurRad="25400" dist="12700" dir="2700000" algn="bl" rotWithShape="0">
              <a:srgbClr val="000000">
                <a:alpha val="10000"/>
              </a:srgbClr>
            </a:outerShdw>
          </a:effectLst>
        </p:spPr>
        <p:txBody>
          <a:bodyPr/>
          <a:lstStyle/>
          <a:p>
            <a:endParaRPr lang="en-US"/>
          </a:p>
        </p:txBody>
      </p:sp>
      <p:sp>
        <p:nvSpPr>
          <p:cNvPr id="103" name="Caption 103"/>
          <p:cNvSpPr txBox="1"/>
          <p:nvPr/>
        </p:nvSpPr>
        <p:spPr>
          <a:xfrm>
            <a:off x="768096" y="1627632"/>
            <a:ext cx="5029200" cy="201168"/>
          </a:xfrm>
          <a:prstGeom prst="rect">
            <a:avLst/>
          </a:prstGeom>
          <a:noFill/>
        </p:spPr>
        <p:txBody>
          <a:bodyPr wrap="square" lIns="0" tIns="0" rIns="0" bIns="0" anchor="t"/>
          <a:lstStyle/>
          <a:p>
            <a:pPr marL="0" indent="0">
              <a:buNone/>
            </a:pPr>
            <a:r>
              <a:rPr lang="en-GB" sz="850" b="1" dirty="0">
                <a:solidFill>
                  <a:srgbClr val="5E6784"/>
                </a:solidFill>
              </a:rPr>
              <a:t>QA:0  ·  THE RIGHT PAGE AMONG LOOK-ALIKES</a:t>
            </a:r>
          </a:p>
        </p:txBody>
      </p:sp>
      <p:sp>
        <p:nvSpPr>
          <p:cNvPr id="104" name="Caption 104"/>
          <p:cNvSpPr txBox="1"/>
          <p:nvPr/>
        </p:nvSpPr>
        <p:spPr>
          <a:xfrm>
            <a:off x="6355080" y="1627632"/>
            <a:ext cx="5029200" cy="201168"/>
          </a:xfrm>
          <a:prstGeom prst="rect">
            <a:avLst/>
          </a:prstGeom>
          <a:noFill/>
        </p:spPr>
        <p:txBody>
          <a:bodyPr wrap="square" lIns="0" tIns="0" rIns="0" bIns="0" anchor="t"/>
          <a:lstStyle/>
          <a:p>
            <a:pPr marL="0" indent="0">
              <a:buNone/>
            </a:pPr>
            <a:r>
              <a:rPr lang="en-GB" sz="850" b="1" dirty="0">
                <a:solidFill>
                  <a:srgbClr val="5E6784"/>
                </a:solidFill>
              </a:rPr>
              <a:t>QA:28  ·  CHARACTERISTICS CODED BY THE MODEL</a:t>
            </a:r>
          </a:p>
        </p:txBody>
      </p:sp>
      <p:pic>
        <p:nvPicPr>
          <p:cNvPr id="105" name="Screenshot 105" descr="NIMO results card for qa:0"/>
          <p:cNvPicPr>
            <a:picLocks noChangeAspect="1"/>
          </p:cNvPicPr>
          <p:nvPr/>
        </p:nvPicPr>
        <p:blipFill>
          <a:blip r:embed="rId3"/>
          <a:stretch>
            <a:fillRect/>
          </a:stretch>
        </p:blipFill>
        <p:spPr>
          <a:xfrm>
            <a:off x="681228" y="1901952"/>
            <a:ext cx="5212080" cy="3309671"/>
          </a:xfrm>
          <a:prstGeom prst="rect">
            <a:avLst/>
          </a:prstGeom>
          <a:ln w="9525">
            <a:solidFill>
              <a:srgbClr val="DCE1EE"/>
            </a:solidFill>
          </a:ln>
        </p:spPr>
      </p:pic>
      <p:pic>
        <p:nvPicPr>
          <p:cNvPr id="106" name="Screenshot 106" descr="NIMO results card for qa:28"/>
          <p:cNvPicPr>
            <a:picLocks noChangeAspect="1"/>
          </p:cNvPicPr>
          <p:nvPr/>
        </p:nvPicPr>
        <p:blipFill>
          <a:blip r:embed="rId4"/>
          <a:stretch>
            <a:fillRect/>
          </a:stretch>
        </p:blipFill>
        <p:spPr>
          <a:xfrm>
            <a:off x="6621940" y="1901952"/>
            <a:ext cx="4504623" cy="3566160"/>
          </a:xfrm>
          <a:prstGeom prst="rect">
            <a:avLst/>
          </a:prstGeom>
          <a:ln w="9525">
            <a:solidFill>
              <a:srgbClr val="DCE1EE"/>
            </a:solidFill>
          </a:ln>
        </p:spPr>
      </p:pic>
      <p:sp>
        <p:nvSpPr>
          <p:cNvPr id="107" name="Caption 107"/>
          <p:cNvSpPr txBox="1"/>
          <p:nvPr/>
        </p:nvSpPr>
        <p:spPr>
          <a:xfrm>
            <a:off x="768096" y="5559552"/>
            <a:ext cx="5029200" cy="502920"/>
          </a:xfrm>
          <a:prstGeom prst="rect">
            <a:avLst/>
          </a:prstGeom>
          <a:noFill/>
        </p:spPr>
        <p:txBody>
          <a:bodyPr wrap="square" lIns="0" tIns="0" rIns="0" bIns="0" anchor="t"/>
          <a:lstStyle/>
          <a:p>
            <a:pPr marL="0" indent="0">
              <a:buNone/>
            </a:pPr>
            <a:r>
              <a:rPr lang="en-GB" sz="1050" dirty="0">
                <a:solidFill>
                  <a:srgbClr val="172044"/>
                </a:solidFill>
              </a:rPr>
              <a:t>The brand word ‘Brilliant’ also brought back paint pages and a tutoring site. NIMO picked the Superdrug product page, at a calibrated 0.93, and says why.</a:t>
            </a:r>
          </a:p>
        </p:txBody>
      </p:sp>
      <p:sp>
        <p:nvSpPr>
          <p:cNvPr id="108" name="Caption 108"/>
          <p:cNvSpPr txBox="1"/>
          <p:nvPr/>
        </p:nvSpPr>
        <p:spPr>
          <a:xfrm>
            <a:off x="6355080" y="5559552"/>
            <a:ext cx="5029200" cy="502920"/>
          </a:xfrm>
          <a:prstGeom prst="rect">
            <a:avLst/>
          </a:prstGeom>
          <a:noFill/>
        </p:spPr>
        <p:txBody>
          <a:bodyPr wrap="square" lIns="0" tIns="0" rIns="0" bIns="0" anchor="t"/>
          <a:lstStyle/>
          <a:p>
            <a:pPr marL="0" indent="0">
              <a:buNone/>
            </a:pPr>
            <a:r>
              <a:rPr lang="en-GB" sz="1050" dirty="0">
                <a:solidFill>
                  <a:srgbClr val="172044"/>
                </a:solidFill>
              </a:rPr>
              <a:t>Green People kids’ toothpaste: 9 applicable characteristics coded, all within NIQ’s allowed values. The record says fluoride free; the output says WITHOUT FLUORIDE.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DAF75A61C83C045AA88B2D2874522F7" ma:contentTypeVersion="10" ma:contentTypeDescription="Create a new document." ma:contentTypeScope="" ma:versionID="b22284399995505777bc710ae8423fb1">
  <xsd:schema xmlns:xsd="http://www.w3.org/2001/XMLSchema" xmlns:xs="http://www.w3.org/2001/XMLSchema" xmlns:p="http://schemas.microsoft.com/office/2006/metadata/properties" xmlns:ns2="3b421b10-10f7-43ce-bf6f-d10723351253" xmlns:ns3="c57addc2-4fb9-4699-867c-e9e7159e7042" targetNamespace="http://schemas.microsoft.com/office/2006/metadata/properties" ma:root="true" ma:fieldsID="15a110b024301f28a6354f843caa990e" ns2:_="" ns3:_="">
    <xsd:import namespace="3b421b10-10f7-43ce-bf6f-d10723351253"/>
    <xsd:import namespace="c57addc2-4fb9-4699-867c-e9e7159e704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421b10-10f7-43ce-bf6f-d1072335125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518f4780-c71a-4417-85db-0344dc61001b"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c57addc2-4fb9-4699-867c-e9e7159e7042"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80e92783-4042-48ac-ac89-e4e8fce899a2}" ma:internalName="TaxCatchAll" ma:showField="CatchAllData" ma:web="c57addc2-4fb9-4699-867c-e9e7159e704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c57addc2-4fb9-4699-867c-e9e7159e7042" xsi:nil="true"/>
    <lcf76f155ced4ddcb4097134ff3c332f xmlns="3b421b10-10f7-43ce-bf6f-d10723351253">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0080EECB-255B-4D88-9F1C-ACBEBAE3FD04}"/>
</file>

<file path=customXml/itemProps2.xml><?xml version="1.0" encoding="utf-8"?>
<ds:datastoreItem xmlns:ds="http://schemas.openxmlformats.org/officeDocument/2006/customXml" ds:itemID="{552591A2-CBFF-4218-9C51-2B4FBF7F195A}"/>
</file>

<file path=customXml/itemProps3.xml><?xml version="1.0" encoding="utf-8"?>
<ds:datastoreItem xmlns:ds="http://schemas.openxmlformats.org/officeDocument/2006/customXml" ds:itemID="{7D33E1CF-5378-4C3D-B917-47CD67D882CD}"/>
</file>

<file path=docProps/app.xml><?xml version="1.0" encoding="utf-8"?>
<Properties xmlns="http://schemas.openxmlformats.org/officeDocument/2006/extended-properties" xmlns:vt="http://schemas.openxmlformats.org/officeDocument/2006/docPropsVTypes">
  <TotalTime>10</TotalTime>
  <Words>494</Words>
  <Application>Microsoft Office PowerPoint</Application>
  <PresentationFormat>Widescreen</PresentationFormat>
  <Paragraphs>90</Paragraphs>
  <Slides>7</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Aptos</vt:lpstr>
      <vt:lpstr>Arial</vt:lpstr>
      <vt:lpstr>Office Theme</vt:lpstr>
      <vt:lpstr>PowerPoint Presentation</vt:lpstr>
      <vt:lpstr>PowerPoint Presentation</vt:lpstr>
      <vt:lpstr>PowerPoint Presentation</vt:lpstr>
      <vt:lpstr>PowerPoint Presentation</vt:lpstr>
      <vt:lpstr>PowerPoint Presentation</vt:lpstr>
      <vt:lpstr>Thank You</vt:lpstr>
    </vt:vector>
  </TitlesOfParts>
  <Company>NIQ</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Hackfest 2026 Solution Presentation Template</dc:title>
  <dc:subject>Hackfest 2026 Solution Presentation Template</dc:subject>
  <dc:creator>Innovation Council</dc:creator>
  <cp:lastModifiedBy>Selvakumar Alagar</cp:lastModifiedBy>
  <cp:revision>3</cp:revision>
  <dcterms:created xsi:type="dcterms:W3CDTF">2026-09-10T08:15:12Z</dcterms:created>
  <dcterms:modified xsi:type="dcterms:W3CDTF">2026-09-10T08:27:01Z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0x0101002DAF75A61C83C045AA88B2D2874522F7</vt:lpwstr>
  </property>
</Properties>
</file>