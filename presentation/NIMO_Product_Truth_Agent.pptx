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D33"/>
                </a:solidFill>
                <a:latin typeface="Arial"/>
              </a:defRPr>
            </a:pPr>
            <a:r>
              <a:rPr sz="1400" b="0" i="0" u="none" strike="noStrike">
                <a:solidFill>
                  <a:srgbClr val="1F2D33"/>
                </a:solidFill>
                <a:latin typeface="Arial"/>
              </a:rPr>
              <a:t>What the 412 qa answers point at</a:t>
            </a:r>
          </a:p>
        </c:rich>
      </c:tx>
      <c:layout/>
      <c:overlay val="0"/>
    </c:title>
    <c:autoTitleDeleted val="0"/>
    <c:plotArea>
      <c:layout/>
      <c:barChart>
        <c:barDir val="col"/>
        <c:grouping val="clustered"/>
        <c:varyColors val="0"/>
        <c:ser>
          <c:idx val="0"/>
          <c:order val="0"/>
          <c:tx>
            <c:strRef>
              <c:f>Sheet1!$B$1</c:f>
              <c:strCache>
                <c:ptCount val="1"/>
                <c:pt idx="0">
                  <c:v>Before the fix</c:v>
                </c:pt>
              </c:strCache>
            </c:strRef>
          </c:tx>
          <c:spPr>
            <a:solidFill>
              <a:srgbClr val="B7C9CC"/>
            </a:solidFill>
            <a:effectLst/>
          </c:spPr>
          <c:invertIfNegative val="0"/>
          <c:dLbls>
            <c:numFmt formatCode="#,##0" sourceLinked="0"/>
            <c:txPr>
              <a:bodyPr/>
              <a:lstStyle/>
              <a:p>
                <a:pPr>
                  <a:defRPr b="0" i="0" strike="noStrike" sz="1100" u="none">
                    <a:solidFill>
                      <a:srgbClr val="1F2D33"/>
                    </a:solidFill>
                    <a:latin typeface="Arial"/>
                  </a:defRPr>
                </a:pPr>
              </a:p>
            </c:txPr>
            <c:showLegendKey val="0"/>
            <c:showVal val="1"/>
            <c:showCatName val="0"/>
            <c:showSerName val="0"/>
            <c:showPercent val="0"/>
            <c:showBubbleSize val="0"/>
            <c:showLeaderLines val="0"/>
          </c:dLbls>
          <c:cat>
            <c:multiLvlStrRef>
              <c:f>Sheet1!$A$2:$A$5</c:f>
              <c:multiLvlStrCache>
                <c:ptCount val="4"/>
                <c:lvl>
                  <c:pt idx="0">
                    <c:v>Product page</c:v>
                  </c:pt>
                  <c:pt idx="1">
                    <c:v>Brand homepage</c:v>
                  </c:pt>
                  <c:pt idx="2">
                    <c:v>Directory</c:v>
                  </c:pt>
                  <c:pt idx="3">
                    <c:v>Search listing</c:v>
                  </c:pt>
                </c:lvl>
              </c:multiLvlStrCache>
            </c:multiLvlStrRef>
          </c:cat>
          <c:val>
            <c:numRef>
              <c:f>Sheet1!$B$2:$B$5</c:f>
              <c:numCache>
                <c:formatCode>General</c:formatCode>
                <c:ptCount val="4"/>
                <c:pt idx="0">
                  <c:v>271</c:v>
                </c:pt>
                <c:pt idx="1">
                  <c:v>100</c:v>
                </c:pt>
                <c:pt idx="2">
                  <c:v>36</c:v>
                </c:pt>
                <c:pt idx="3">
                  <c:v>5</c:v>
                </c:pt>
              </c:numCache>
            </c:numRef>
          </c:val>
        </c:ser>
        <c:ser>
          <c:idx val="1"/>
          <c:order val="1"/>
          <c:tx>
            <c:strRef>
              <c:f>Sheet1!$C$1</c:f>
              <c:strCache>
                <c:ptCount val="1"/>
                <c:pt idx="0">
                  <c:v>After</c:v>
                </c:pt>
              </c:strCache>
            </c:strRef>
          </c:tx>
          <c:spPr>
            <a:solidFill>
              <a:srgbClr val="0E7C7B"/>
            </a:solidFill>
            <a:effectLst/>
          </c:spPr>
          <c:invertIfNegative val="0"/>
          <c:dLbls>
            <c:numFmt formatCode="#,##0" sourceLinked="0"/>
            <c:txPr>
              <a:bodyPr/>
              <a:lstStyle/>
              <a:p>
                <a:pPr>
                  <a:defRPr b="0" i="0" strike="noStrike" sz="1100" u="none">
                    <a:solidFill>
                      <a:srgbClr val="1F2D33"/>
                    </a:solidFill>
                    <a:latin typeface="Arial"/>
                  </a:defRPr>
                </a:pPr>
              </a:p>
            </c:txPr>
            <c:showLegendKey val="0"/>
            <c:showVal val="1"/>
            <c:showCatName val="0"/>
            <c:showSerName val="0"/>
            <c:showPercent val="0"/>
            <c:showBubbleSize val="0"/>
            <c:showLeaderLines val="0"/>
          </c:dLbls>
          <c:cat>
            <c:multiLvlStrRef>
              <c:f>Sheet1!$A$2:$A$5</c:f>
              <c:multiLvlStrCache>
                <c:ptCount val="4"/>
                <c:lvl>
                  <c:pt idx="0">
                    <c:v>Product page</c:v>
                  </c:pt>
                  <c:pt idx="1">
                    <c:v>Brand homepage</c:v>
                  </c:pt>
                  <c:pt idx="2">
                    <c:v>Directory</c:v>
                  </c:pt>
                  <c:pt idx="3">
                    <c:v>Search listing</c:v>
                  </c:pt>
                </c:lvl>
              </c:multiLvlStrCache>
            </c:multiLvlStrRef>
          </c:cat>
          <c:val>
            <c:numRef>
              <c:f>Sheet1!$C$2:$C$5</c:f>
              <c:numCache>
                <c:formatCode>General</c:formatCode>
                <c:ptCount val="4"/>
                <c:pt idx="0">
                  <c:v>377</c:v>
                </c:pt>
                <c:pt idx="1">
                  <c:v>0</c:v>
                </c:pt>
                <c:pt idx="2">
                  <c:v>35</c:v>
                </c:pt>
                <c:pt idx="3">
                  <c:v>0</c:v>
                </c:pt>
              </c:numCache>
            </c:numRef>
          </c:val>
        </c:ser>
        <c:dLbls>
          <c:numFmt formatCode="#,##0" sourceLinked="0"/>
          <c:txPr>
            <a:bodyPr/>
            <a:lstStyle/>
            <a:p>
              <a:pPr>
                <a:defRPr b="0" i="0" strike="noStrike" sz="1100" u="none">
                  <a:solidFill>
                    <a:srgbClr val="1F2D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D33"/>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D33"/>
                </a:solidFill>
                <a:latin typeface="Arial"/>
              </a:defRPr>
            </a:pPr>
            <a:r>
              <a:rPr sz="1400" b="0" i="0" u="none" strike="noStrike">
                <a:solidFill>
                  <a:srgbClr val="1F2D33"/>
                </a:solidFill>
                <a:latin typeface="Arial"/>
              </a:rPr>
              <a:t>Raw text score → probability the page is the product</a:t>
            </a:r>
          </a:p>
        </c:rich>
      </c:tx>
      <c:layout/>
      <c:overlay val="0"/>
    </c:title>
    <c:autoTitleDeleted val="0"/>
    <c:plotArea>
      <c:layout/>
      <c:barChart>
        <c:barDir val="col"/>
        <c:grouping val="clustered"/>
        <c:varyColors val="0"/>
        <c:ser>
          <c:idx val="0"/>
          <c:order val="0"/>
          <c:tx>
            <c:strRef>
              <c:f>Sheet1!$B$1</c:f>
              <c:strCache>
                <c:ptCount val="1"/>
                <c:pt idx="0">
                  <c:v>Observed correct</c:v>
                </c:pt>
              </c:strCache>
            </c:strRef>
          </c:tx>
          <c:spPr>
            <a:solidFill>
              <a:srgbClr val="0E7C7B"/>
            </a:solidFill>
            <a:effectLst/>
          </c:spPr>
          <c:invertIfNegative val="0"/>
          <c:dLbls>
            <c:numFmt formatCode="0&quot;%&quot;" sourceLinked="0"/>
            <c:txPr>
              <a:bodyPr/>
              <a:lstStyle/>
              <a:p>
                <a:pPr>
                  <a:defRPr b="0" i="0" strike="noStrike" sz="1100" u="none">
                    <a:solidFill>
                      <a:srgbClr val="1F2D33"/>
                    </a:solidFill>
                    <a:latin typeface="Arial"/>
                  </a:defRPr>
                </a:pPr>
              </a:p>
            </c:txPr>
            <c:showLegendKey val="0"/>
            <c:showVal val="1"/>
            <c:showCatName val="0"/>
            <c:showSerName val="0"/>
            <c:showPercent val="0"/>
            <c:showBubbleSize val="0"/>
            <c:showLeaderLines val="0"/>
          </c:dLbls>
          <c:cat>
            <c:multiLvlStrRef>
              <c:f>Sheet1!$A$2:$A$8</c:f>
              <c:multiLvlStrCache>
                <c:ptCount val="7"/>
                <c:lvl>
                  <c:pt idx="0">
                    <c:v>&lt; 0.13</c:v>
                  </c:pt>
                  <c:pt idx="1">
                    <c:v>0.13–0.45</c:v>
                  </c:pt>
                  <c:pt idx="2">
                    <c:v>0.45–0.55</c:v>
                  </c:pt>
                  <c:pt idx="3">
                    <c:v>0.55–0.60</c:v>
                  </c:pt>
                  <c:pt idx="4">
                    <c:v>0.60–0.63</c:v>
                  </c:pt>
                  <c:pt idx="5">
                    <c:v>0.63–0.90</c:v>
                  </c:pt>
                  <c:pt idx="6">
                    <c:v>≥ 0.90</c:v>
                  </c:pt>
                </c:lvl>
              </c:multiLvlStrCache>
            </c:multiLvlStrRef>
          </c:cat>
          <c:val>
            <c:numRef>
              <c:f>Sheet1!$B$2:$B$8</c:f>
              <c:numCache>
                <c:formatCode>General</c:formatCode>
                <c:ptCount val="7"/>
                <c:pt idx="0">
                  <c:v>0</c:v>
                </c:pt>
                <c:pt idx="1">
                  <c:v>35</c:v>
                </c:pt>
                <c:pt idx="2">
                  <c:v>68</c:v>
                </c:pt>
                <c:pt idx="3">
                  <c:v>72</c:v>
                </c:pt>
                <c:pt idx="4">
                  <c:v>81</c:v>
                </c:pt>
                <c:pt idx="5">
                  <c:v>93</c:v>
                </c:pt>
                <c:pt idx="6">
                  <c:v>100</c:v>
                </c:pt>
              </c:numCache>
            </c:numRef>
          </c:val>
        </c:ser>
        <c:dLbls>
          <c:numFmt formatCode="0&quot;%&quot;" sourceLinked="0"/>
          <c:txPr>
            <a:bodyPr/>
            <a:lstStyle/>
            <a:p>
              <a:pPr>
                <a:defRPr b="0" i="0" strike="noStrike" sz="1100" u="none">
                  <a:solidFill>
                    <a:srgbClr val="1F2D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5B6B70"/>
                    </a:solidFill>
                    <a:latin typeface="Arial"/>
                  </a:defRPr>
                </a:pPr>
                <a:r>
                  <a:rPr sz="1100" b="0" i="0" u="none" strike="noStrike">
                    <a:solidFill>
                      <a:srgbClr val="5B6B70"/>
                    </a:solidFill>
                    <a:latin typeface="Arial"/>
                  </a:rPr>
                  <a:t>raw match score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D33"/>
                </a:solidFill>
                <a:latin typeface="Arial"/>
              </a:defRPr>
            </a:pPr>
            <a:endParaRPr lang="en-US"/>
          </a:p>
        </c:txPr>
        <c:crossAx val="2094734552"/>
        <c:crosses val="autoZero"/>
        <c:auto val="1"/>
        <c:lblAlgn val="ctr"/>
        <c:noMultiLvlLbl val="1"/>
      </c:catAx>
      <c:valAx>
        <c:axId val="2094734552"/>
        <c:scaling>
          <c:orientation val="minMax"/>
          <c:max val="11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Overall accuracy</c:v>
                </c:pt>
              </c:strCache>
            </c:strRef>
          </c:tx>
          <c:spPr>
            <a:solidFill>
              <a:srgbClr val="0E7C7B"/>
            </a:solidFill>
            <a:effectLst/>
          </c:spPr>
          <c:invertIfNegative val="0"/>
          <c:dLbls>
            <c:numFmt formatCode="0.0&quot;%&quot;" sourceLinked="0"/>
            <c:txPr>
              <a:bodyPr/>
              <a:lstStyle/>
              <a:p>
                <a:pPr>
                  <a:defRPr b="0" i="0" strike="noStrike" sz="1100" u="none">
                    <a:solidFill>
                      <a:srgbClr val="1F2D33"/>
                    </a:solidFill>
                    <a:latin typeface="Arial"/>
                  </a:defRPr>
                </a:pPr>
              </a:p>
            </c:txPr>
            <c:showLegendKey val="0"/>
            <c:showVal val="1"/>
            <c:showCatName val="0"/>
            <c:showSerName val="0"/>
            <c:showPercent val="0"/>
            <c:showBubbleSize val="0"/>
            <c:showLeaderLines val="0"/>
          </c:dLbls>
          <c:cat>
            <c:multiLvlStrRef>
              <c:f>Sheet1!$A$2:$A$5</c:f>
              <c:multiLvlStrCache>
                <c:ptCount val="4"/>
                <c:lvl>
                  <c:pt idx="0">
                    <c:v>TF-IDF nearest centroid (shipped)</c:v>
                  </c:pt>
                  <c:pt idx="1">
                    <c:v>Complement NB</c:v>
                  </c:pt>
                  <c:pt idx="2">
                    <c:v>Multinomial NB</c:v>
                  </c:pt>
                  <c:pt idx="3">
                    <c:v>k-NN (k = 1)</c:v>
                  </c:pt>
                </c:lvl>
              </c:multiLvlStrCache>
            </c:multiLvlStrRef>
          </c:cat>
          <c:val>
            <c:numRef>
              <c:f>Sheet1!$B$2:$B$5</c:f>
              <c:numCache>
                <c:formatCode>General</c:formatCode>
                <c:ptCount val="4"/>
                <c:pt idx="0">
                  <c:v>80.3</c:v>
                </c:pt>
                <c:pt idx="1">
                  <c:v>78.4</c:v>
                </c:pt>
                <c:pt idx="2">
                  <c:v>73.1</c:v>
                </c:pt>
                <c:pt idx="3">
                  <c:v>66.3</c:v>
                </c:pt>
              </c:numCache>
            </c:numRef>
          </c:val>
        </c:ser>
        <c:ser>
          <c:idx val="1"/>
          <c:order val="1"/>
          <c:tx>
            <c:strRef>
              <c:f>Sheet1!$C$1</c:f>
              <c:strCache>
                <c:ptCount val="1"/>
                <c:pt idx="0">
                  <c:v>Macro (per-module) accuracy</c:v>
                </c:pt>
              </c:strCache>
            </c:strRef>
          </c:tx>
          <c:spPr>
            <a:solidFill>
              <a:srgbClr val="D9822B"/>
            </a:solidFill>
            <a:effectLst/>
          </c:spPr>
          <c:invertIfNegative val="0"/>
          <c:dLbls>
            <c:numFmt formatCode="0.0&quot;%&quot;" sourceLinked="0"/>
            <c:txPr>
              <a:bodyPr/>
              <a:lstStyle/>
              <a:p>
                <a:pPr>
                  <a:defRPr b="0" i="0" strike="noStrike" sz="1100" u="none">
                    <a:solidFill>
                      <a:srgbClr val="1F2D33"/>
                    </a:solidFill>
                    <a:latin typeface="Arial"/>
                  </a:defRPr>
                </a:pPr>
              </a:p>
            </c:txPr>
            <c:showLegendKey val="0"/>
            <c:showVal val="1"/>
            <c:showCatName val="0"/>
            <c:showSerName val="0"/>
            <c:showPercent val="0"/>
            <c:showBubbleSize val="0"/>
            <c:showLeaderLines val="0"/>
          </c:dLbls>
          <c:cat>
            <c:multiLvlStrRef>
              <c:f>Sheet1!$A$2:$A$5</c:f>
              <c:multiLvlStrCache>
                <c:ptCount val="4"/>
                <c:lvl>
                  <c:pt idx="0">
                    <c:v>TF-IDF nearest centroid (shipped)</c:v>
                  </c:pt>
                  <c:pt idx="1">
                    <c:v>Complement NB</c:v>
                  </c:pt>
                  <c:pt idx="2">
                    <c:v>Multinomial NB</c:v>
                  </c:pt>
                  <c:pt idx="3">
                    <c:v>k-NN (k = 1)</c:v>
                  </c:pt>
                </c:lvl>
              </c:multiLvlStrCache>
            </c:multiLvlStrRef>
          </c:cat>
          <c:val>
            <c:numRef>
              <c:f>Sheet1!$C$2:$C$5</c:f>
              <c:numCache>
                <c:formatCode>General</c:formatCode>
                <c:ptCount val="4"/>
                <c:pt idx="0">
                  <c:v>49.7</c:v>
                </c:pt>
                <c:pt idx="1">
                  <c:v>38.3</c:v>
                </c:pt>
                <c:pt idx="2">
                  <c:v>22.6</c:v>
                </c:pt>
                <c:pt idx="3">
                  <c:v>32.1</c:v>
                </c:pt>
              </c:numCache>
            </c:numRef>
          </c:val>
        </c:ser>
        <c:dLbls>
          <c:numFmt formatCode="0.0&quot;%&quot;" sourceLinked="0"/>
          <c:txPr>
            <a:bodyPr/>
            <a:lstStyle/>
            <a:p>
              <a:pPr>
                <a:defRPr b="0" i="0" strike="noStrike" sz="1100" u="none">
                  <a:solidFill>
                    <a:srgbClr val="1F2D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1F2D33"/>
                </a:solidFill>
                <a:latin typeface="Arial"/>
              </a:defRPr>
            </a:pPr>
            <a:endParaRPr lang="en-US"/>
          </a:p>
        </c:txPr>
        <c:crossAx val="2094734552"/>
        <c:crosses val="autoZero"/>
        <c:auto val="1"/>
        <c:lblAlgn val="ctr"/>
        <c:noMultiLvlLbl val="1"/>
      </c:catAx>
      <c:valAx>
        <c:axId val="2094734552"/>
        <c:scaling>
          <c:orientation val="minMax"/>
          <c:max val="9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NIMO resolves a retail product record to the one web page that is that product, identifies its module, codes the characteristics that apply, and explains every answer from recorded evidence. The column on the right is the pipeline you will see in the demo; stage 1, in amber, is the memory that lets repeat products skip the expensive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brief: the agent must choose the most likely product URL, distinguish it from similar or misleading matches, and explain itself. The dataset guide adds the second stage — module, applicable characteristics, values. A non-applicable characteristic must be left empty; a plausible guess there is scored as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these was found by measuring the real workbook, and each changed the design. The barcode rounding is the big one: 377 of 412 dev barcodes are holes, while qa's are clean — so dev cannot be used to tune anything barcode-based, and a rounded value used as a key would merge unrelated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boxes, stage 0 to 8. The model appears in exactly two places, both bounded: the Tier-3 tiebreak, whose answer is an index into candidates the deterministic layer already chose, and characteristic extraction, whose answer is validated against the organizers' vocabulary. A registry hit jumps from stage 1 straight to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rewards transparent reasoning and the evaluation is a 412-row batch, so reproducibility and per-stage traceability decide the architecture. The model is used where it adds judgement, and is fenced so it cannot introduce a URL or a value outside the allowed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catalogs repeat. Without memory every re-observation costs the full search and model bill. The registry turns a second sighting into a lookup. Tier 0 cannot fire inside a single pass of this dataset — no two qa rows share a barcode — so its value shows on the re-run, where it answered 111 rows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gave us no candidate pages, so retrieval is ours. Measured on our own output: 100 of 412 qa answers were brand homepages, because the barcode query returned the brand's homepage and those filled the fetch budget before the product-name query ran. Pages about the product no longer count toward the budget; homepages went from 100 to zero and product pages from 271 to 377.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barcode is the strongest identity signal, so it is a rule, not a weight. For pages without one, the weighted score is calibrated: we fitted it against 236 pages that publish a barcode, so 'confidence 0.93' means about 93 in 100 such picks are the product. The label comes from the identifier, not from the score, so the oracle cannot leak into what it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is the only fully labelled column, so this is where we could measure properly. We report macro accuracy first because overall accuracy would have picked a model that ignores the rare modules. Adding page titles as module evidence was also measured on the full dev harvest and lost accuracy, so the module comes from the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Characteristics are most of the scored surface. The applicability gate is deterministic, so the model can never fill a characteristic that does not exist for the module. Every value it proposes is checked against the organizers' vocabulary; what it said and was refused is recorded. The screenshot is a real row from our office run on the internal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scores transparent reasoning. A generated explanation can say something no evidence supports; a composed one cannot, because it can only render fields the pipeline recorded. The test suite checks that every number in the text is the string form of a field, and that a record with no fluoride evidence produces no fluoride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interface runs the same composed pipeline as the batch CLI — it adds nothing that could drift. In the demo: a dataset row, then the same row again to show the registry answering from memory, then a new product typed in and resolved live through the Brave Search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number is recorded in the decision log with how it was measured. The 68.6% characteristic figure is the honest first measurement: it came from a run on a network that blocked 94% of page fetches, so the model coded mostly from the record; the page cache and measured practice defaults were built for exactly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has two exposed surfaces — web text reaching the model, and URLs we did not choose — and each has a structural control rather than a prompt instruction. On the engineering side, the strongest single check is determinism: the same run on two machines produced a byte-identical submission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would rather state these than have them found. The biggest structural one is the unseen modules; the biggest environmental one is that the model and the open web live on different networks, which we bridged with carried caches rather than hid.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shown is in the repository, including the decision log that records every measurement and every rejected alternative.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33"/>
        </a:solidFill>
      </p:bgPr>
    </p:bg>
    <p:spTree>
      <p:nvGrpSpPr>
        <p:cNvPr id="1" name=""/>
        <p:cNvGrpSpPr/>
        <p:nvPr/>
      </p:nvGrpSpPr>
      <p:grpSpPr>
        <a:xfrm>
          <a:off x="0" y="0"/>
          <a:ext cx="0" cy="0"/>
          <a:chOff x="0" y="0"/>
          <a:chExt cx="0" cy="0"/>
        </a:xfrm>
      </p:grpSpPr>
      <p:sp>
        <p:nvSpPr>
          <p:cNvPr id="2" name="Text 0"/>
          <p:cNvSpPr txBox="1"/>
          <p:nvPr/>
        </p:nvSpPr>
        <p:spPr>
          <a:xfrm>
            <a:off x="731520" y="1234440"/>
            <a:ext cx="6400800" cy="1097280"/>
          </a:xfrm>
          <a:prstGeom prst="rect">
            <a:avLst/>
          </a:prstGeom>
          <a:noFill/>
          <a:ln/>
        </p:spPr>
        <p:txBody>
          <a:bodyPr wrap="square" lIns="0" tIns="0" rIns="0" bIns="0" rtlCol="0" anchor="ctr"/>
          <a:lstStyle/>
          <a:p>
            <a:pPr indent="0" marL="0">
              <a:buNone/>
            </a:pPr>
            <a:r>
              <a:rPr lang="en-US" sz="8000" b="1" dirty="0">
                <a:solidFill>
                  <a:srgbClr val="FFFFFF"/>
                </a:solidFill>
                <a:latin typeface="Cambria" pitchFamily="34" charset="0"/>
                <a:ea typeface="Cambria" pitchFamily="34" charset="-122"/>
                <a:cs typeface="Cambria" pitchFamily="34" charset="-120"/>
              </a:rPr>
              <a:t>NIMO</a:t>
            </a:r>
            <a:endParaRPr lang="en-US" sz="8000" dirty="0"/>
          </a:p>
        </p:txBody>
      </p:sp>
      <p:sp>
        <p:nvSpPr>
          <p:cNvPr id="3" name="Text 1"/>
          <p:cNvSpPr txBox="1"/>
          <p:nvPr/>
        </p:nvSpPr>
        <p:spPr>
          <a:xfrm>
            <a:off x="731520" y="2377440"/>
            <a:ext cx="7315200" cy="640080"/>
          </a:xfrm>
          <a:prstGeom prst="rect">
            <a:avLst/>
          </a:prstGeom>
          <a:noFill/>
          <a:ln/>
        </p:spPr>
        <p:txBody>
          <a:bodyPr wrap="square" lIns="0" tIns="0" rIns="0" bIns="0" rtlCol="0" anchor="ctr"/>
          <a:lstStyle/>
          <a:p>
            <a:pPr indent="0" marL="0">
              <a:buNone/>
            </a:pPr>
            <a:r>
              <a:rPr lang="en-US" sz="3200" dirty="0">
                <a:solidFill>
                  <a:srgbClr val="9FE3D6"/>
                </a:solidFill>
                <a:latin typeface="Cambria" pitchFamily="34" charset="0"/>
                <a:ea typeface="Cambria" pitchFamily="34" charset="-122"/>
                <a:cs typeface="Cambria" pitchFamily="34" charset="-120"/>
              </a:rPr>
              <a:t>The Product Truth Agent</a:t>
            </a:r>
            <a:endParaRPr lang="en-US" sz="3200" dirty="0"/>
          </a:p>
        </p:txBody>
      </p:sp>
      <p:sp>
        <p:nvSpPr>
          <p:cNvPr id="4" name="Text 2"/>
          <p:cNvSpPr txBox="1"/>
          <p:nvPr/>
        </p:nvSpPr>
        <p:spPr>
          <a:xfrm>
            <a:off x="731520" y="3246120"/>
            <a:ext cx="6766560" cy="914400"/>
          </a:xfrm>
          <a:prstGeom prst="rect">
            <a:avLst/>
          </a:prstGeom>
          <a:noFill/>
          <a:ln/>
        </p:spPr>
        <p:txBody>
          <a:bodyPr wrap="square" lIns="0" tIns="0" rIns="0" bIns="0" rtlCol="0" anchor="ctr"/>
          <a:lstStyle/>
          <a:p>
            <a:pPr indent="0" marL="0">
              <a:buNone/>
            </a:pPr>
            <a:r>
              <a:rPr lang="en-US" sz="1900" dirty="0">
                <a:solidFill>
                  <a:srgbClr val="DCE8EA"/>
                </a:solidFill>
                <a:latin typeface="Calibri" pitchFamily="34" charset="0"/>
                <a:ea typeface="Calibri" pitchFamily="34" charset="-122"/>
                <a:cs typeface="Calibri" pitchFamily="34" charset="-120"/>
              </a:rPr>
              <a:t>Finds the web page that is the product, codes its characteristics, and shows the evidence for every answer.</a:t>
            </a:r>
            <a:endParaRPr lang="en-US" sz="1900" dirty="0"/>
          </a:p>
        </p:txBody>
      </p:sp>
      <p:sp>
        <p:nvSpPr>
          <p:cNvPr id="5" name="Text 3"/>
          <p:cNvSpPr txBox="1"/>
          <p:nvPr/>
        </p:nvSpPr>
        <p:spPr>
          <a:xfrm>
            <a:off x="731520" y="5897880"/>
            <a:ext cx="8229600" cy="365760"/>
          </a:xfrm>
          <a:prstGeom prst="rect">
            <a:avLst/>
          </a:prstGeom>
          <a:noFill/>
          <a:ln/>
        </p:spPr>
        <p:txBody>
          <a:bodyPr wrap="square" lIns="0" tIns="0" rIns="0" bIns="0" rtlCol="0" anchor="ctr"/>
          <a:lstStyle/>
          <a:p>
            <a:pPr indent="0" marL="0">
              <a:buNone/>
            </a:pPr>
            <a:r>
              <a:rPr lang="en-US" sz="1400" dirty="0">
                <a:solidFill>
                  <a:srgbClr val="A9C2C6"/>
                </a:solidFill>
                <a:latin typeface="Calibri" pitchFamily="34" charset="0"/>
                <a:ea typeface="Calibri" pitchFamily="34" charset="-122"/>
                <a:cs typeface="Calibri" pitchFamily="34" charset="-120"/>
              </a:rPr>
              <a:t>Team Matrix Slayers  ·  NielsenIQ Innovation Portal hackathon  ·  September 2026</a:t>
            </a:r>
            <a:endParaRPr lang="en-US" sz="1400" dirty="0"/>
          </a:p>
        </p:txBody>
      </p:sp>
      <p:sp>
        <p:nvSpPr>
          <p:cNvPr id="6" name="Shape 4"/>
          <p:cNvSpPr/>
          <p:nvPr/>
        </p:nvSpPr>
        <p:spPr>
          <a:xfrm>
            <a:off x="8833104" y="1069848"/>
            <a:ext cx="0" cy="219456"/>
          </a:xfrm>
          <a:prstGeom prst="line">
            <a:avLst/>
          </a:prstGeom>
          <a:noFill/>
          <a:ln w="19050">
            <a:solidFill>
              <a:srgbClr val="3E6B73"/>
            </a:solidFill>
            <a:prstDash val="solid"/>
          </a:ln>
        </p:spPr>
      </p:sp>
      <p:sp>
        <p:nvSpPr>
          <p:cNvPr id="7" name="Shape 5"/>
          <p:cNvSpPr/>
          <p:nvPr/>
        </p:nvSpPr>
        <p:spPr>
          <a:xfrm>
            <a:off x="8641080" y="685800"/>
            <a:ext cx="384048" cy="384048"/>
          </a:xfrm>
          <a:prstGeom prst="ellipse">
            <a:avLst/>
          </a:prstGeom>
          <a:solidFill>
            <a:srgbClr val="0E7C7B"/>
          </a:solidFill>
          <a:ln w="12700">
            <a:solidFill>
              <a:srgbClr val="0E7C7B"/>
            </a:solidFill>
            <a:prstDash val="solid"/>
          </a:ln>
        </p:spPr>
      </p:sp>
      <p:sp>
        <p:nvSpPr>
          <p:cNvPr id="8" name="Text 6"/>
          <p:cNvSpPr txBox="1"/>
          <p:nvPr/>
        </p:nvSpPr>
        <p:spPr>
          <a:xfrm>
            <a:off x="8641080" y="685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a:t>
            </a:r>
            <a:endParaRPr lang="en-US" sz="1300" dirty="0"/>
          </a:p>
        </p:txBody>
      </p:sp>
      <p:sp>
        <p:nvSpPr>
          <p:cNvPr id="9" name="Text 7"/>
          <p:cNvSpPr txBox="1"/>
          <p:nvPr/>
        </p:nvSpPr>
        <p:spPr>
          <a:xfrm>
            <a:off x="9189720" y="685800"/>
            <a:ext cx="2651760" cy="384048"/>
          </a:xfrm>
          <a:prstGeom prst="rect">
            <a:avLst/>
          </a:prstGeom>
          <a:noFill/>
          <a:ln/>
        </p:spPr>
        <p:txBody>
          <a:bodyPr wrap="square" lIns="0" tIns="0" rIns="0" bIns="0" rtlCol="0" anchor="ctr"/>
          <a:lstStyle/>
          <a:p>
            <a:pPr indent="0" marL="0">
              <a:buNone/>
            </a:pPr>
            <a:r>
              <a:rPr lang="en-US" sz="1400" dirty="0">
                <a:solidFill>
                  <a:srgbClr val="DCE8EA"/>
                </a:solidFill>
                <a:latin typeface="Calibri" pitchFamily="34" charset="0"/>
                <a:ea typeface="Calibri" pitchFamily="34" charset="-122"/>
                <a:cs typeface="Calibri" pitchFamily="34" charset="-120"/>
              </a:rPr>
              <a:t>Normalize</a:t>
            </a:r>
            <a:endParaRPr lang="en-US" sz="1400" dirty="0"/>
          </a:p>
        </p:txBody>
      </p:sp>
      <p:sp>
        <p:nvSpPr>
          <p:cNvPr id="10" name="Shape 8"/>
          <p:cNvSpPr/>
          <p:nvPr/>
        </p:nvSpPr>
        <p:spPr>
          <a:xfrm>
            <a:off x="8833104" y="1673352"/>
            <a:ext cx="0" cy="219456"/>
          </a:xfrm>
          <a:prstGeom prst="line">
            <a:avLst/>
          </a:prstGeom>
          <a:noFill/>
          <a:ln w="19050">
            <a:solidFill>
              <a:srgbClr val="3E6B73"/>
            </a:solidFill>
            <a:prstDash val="solid"/>
          </a:ln>
        </p:spPr>
      </p:sp>
      <p:sp>
        <p:nvSpPr>
          <p:cNvPr id="11" name="Shape 9"/>
          <p:cNvSpPr/>
          <p:nvPr/>
        </p:nvSpPr>
        <p:spPr>
          <a:xfrm>
            <a:off x="8641080" y="1289304"/>
            <a:ext cx="384048" cy="384048"/>
          </a:xfrm>
          <a:prstGeom prst="ellipse">
            <a:avLst/>
          </a:prstGeom>
          <a:solidFill>
            <a:srgbClr val="D9822B"/>
          </a:solidFill>
          <a:ln w="12700">
            <a:solidFill>
              <a:srgbClr val="D9822B"/>
            </a:solidFill>
            <a:prstDash val="solid"/>
          </a:ln>
        </p:spPr>
      </p:sp>
      <p:sp>
        <p:nvSpPr>
          <p:cNvPr id="12" name="Text 10"/>
          <p:cNvSpPr txBox="1"/>
          <p:nvPr/>
        </p:nvSpPr>
        <p:spPr>
          <a:xfrm>
            <a:off x="8641080" y="12893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3" name="Text 11"/>
          <p:cNvSpPr txBox="1"/>
          <p:nvPr/>
        </p:nvSpPr>
        <p:spPr>
          <a:xfrm>
            <a:off x="9189720" y="1289304"/>
            <a:ext cx="2651760" cy="384048"/>
          </a:xfrm>
          <a:prstGeom prst="rect">
            <a:avLst/>
          </a:prstGeom>
          <a:noFill/>
          <a:ln/>
        </p:spPr>
        <p:txBody>
          <a:bodyPr wrap="square" lIns="0" tIns="0" rIns="0" bIns="0" rtlCol="0" anchor="ctr"/>
          <a:lstStyle/>
          <a:p>
            <a:pPr indent="0" marL="0">
              <a:buNone/>
            </a:pPr>
            <a:r>
              <a:rPr lang="en-US" sz="1400" dirty="0">
                <a:solidFill>
                  <a:srgbClr val="DCE8EA"/>
                </a:solidFill>
                <a:latin typeface="Calibri" pitchFamily="34" charset="0"/>
                <a:ea typeface="Calibri" pitchFamily="34" charset="-122"/>
                <a:cs typeface="Calibri" pitchFamily="34" charset="-120"/>
              </a:rPr>
              <a:t>Registry memory</a:t>
            </a:r>
            <a:endParaRPr lang="en-US" sz="1400" dirty="0"/>
          </a:p>
        </p:txBody>
      </p:sp>
      <p:sp>
        <p:nvSpPr>
          <p:cNvPr id="14" name="Shape 12"/>
          <p:cNvSpPr/>
          <p:nvPr/>
        </p:nvSpPr>
        <p:spPr>
          <a:xfrm>
            <a:off x="8833104" y="2276856"/>
            <a:ext cx="0" cy="219456"/>
          </a:xfrm>
          <a:prstGeom prst="line">
            <a:avLst/>
          </a:prstGeom>
          <a:noFill/>
          <a:ln w="19050">
            <a:solidFill>
              <a:srgbClr val="3E6B73"/>
            </a:solidFill>
            <a:prstDash val="solid"/>
          </a:ln>
        </p:spPr>
      </p:sp>
      <p:sp>
        <p:nvSpPr>
          <p:cNvPr id="15" name="Shape 13"/>
          <p:cNvSpPr/>
          <p:nvPr/>
        </p:nvSpPr>
        <p:spPr>
          <a:xfrm>
            <a:off x="8641080" y="1892808"/>
            <a:ext cx="384048" cy="384048"/>
          </a:xfrm>
          <a:prstGeom prst="ellipse">
            <a:avLst/>
          </a:prstGeom>
          <a:solidFill>
            <a:srgbClr val="0E7C7B"/>
          </a:solidFill>
          <a:ln w="12700">
            <a:solidFill>
              <a:srgbClr val="0E7C7B"/>
            </a:solidFill>
            <a:prstDash val="solid"/>
          </a:ln>
        </p:spPr>
      </p:sp>
      <p:sp>
        <p:nvSpPr>
          <p:cNvPr id="16" name="Text 14"/>
          <p:cNvSpPr txBox="1"/>
          <p:nvPr/>
        </p:nvSpPr>
        <p:spPr>
          <a:xfrm>
            <a:off x="8641080" y="18928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txBox="1"/>
          <p:nvPr/>
        </p:nvSpPr>
        <p:spPr>
          <a:xfrm>
            <a:off x="9189720" y="1892808"/>
            <a:ext cx="2651760" cy="384048"/>
          </a:xfrm>
          <a:prstGeom prst="rect">
            <a:avLst/>
          </a:prstGeom>
          <a:noFill/>
          <a:ln/>
        </p:spPr>
        <p:txBody>
          <a:bodyPr wrap="square" lIns="0" tIns="0" rIns="0" bIns="0" rtlCol="0" anchor="ctr"/>
          <a:lstStyle/>
          <a:p>
            <a:pPr indent="0" marL="0">
              <a:buNone/>
            </a:pPr>
            <a:r>
              <a:rPr lang="en-US" sz="1400" dirty="0">
                <a:solidFill>
                  <a:srgbClr val="DCE8EA"/>
                </a:solidFill>
                <a:latin typeface="Calibri" pitchFamily="34" charset="0"/>
                <a:ea typeface="Calibri" pitchFamily="34" charset="-122"/>
                <a:cs typeface="Calibri" pitchFamily="34" charset="-120"/>
              </a:rPr>
              <a:t>Retrieve</a:t>
            </a:r>
            <a:endParaRPr lang="en-US" sz="1400" dirty="0"/>
          </a:p>
        </p:txBody>
      </p:sp>
      <p:sp>
        <p:nvSpPr>
          <p:cNvPr id="18" name="Shape 16"/>
          <p:cNvSpPr/>
          <p:nvPr/>
        </p:nvSpPr>
        <p:spPr>
          <a:xfrm>
            <a:off x="8833104" y="2880360"/>
            <a:ext cx="0" cy="219456"/>
          </a:xfrm>
          <a:prstGeom prst="line">
            <a:avLst/>
          </a:prstGeom>
          <a:noFill/>
          <a:ln w="19050">
            <a:solidFill>
              <a:srgbClr val="3E6B73"/>
            </a:solidFill>
            <a:prstDash val="solid"/>
          </a:ln>
        </p:spPr>
      </p:sp>
      <p:sp>
        <p:nvSpPr>
          <p:cNvPr id="19" name="Shape 17"/>
          <p:cNvSpPr/>
          <p:nvPr/>
        </p:nvSpPr>
        <p:spPr>
          <a:xfrm>
            <a:off x="8641080" y="2496312"/>
            <a:ext cx="384048" cy="384048"/>
          </a:xfrm>
          <a:prstGeom prst="ellipse">
            <a:avLst/>
          </a:prstGeom>
          <a:solidFill>
            <a:srgbClr val="0E7C7B"/>
          </a:solidFill>
          <a:ln w="12700">
            <a:solidFill>
              <a:srgbClr val="0E7C7B"/>
            </a:solidFill>
            <a:prstDash val="solid"/>
          </a:ln>
        </p:spPr>
      </p:sp>
      <p:sp>
        <p:nvSpPr>
          <p:cNvPr id="20" name="Text 18"/>
          <p:cNvSpPr txBox="1"/>
          <p:nvPr/>
        </p:nvSpPr>
        <p:spPr>
          <a:xfrm>
            <a:off x="8641080" y="24963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9189720" y="2496312"/>
            <a:ext cx="2651760" cy="384048"/>
          </a:xfrm>
          <a:prstGeom prst="rect">
            <a:avLst/>
          </a:prstGeom>
          <a:noFill/>
          <a:ln/>
        </p:spPr>
        <p:txBody>
          <a:bodyPr wrap="square" lIns="0" tIns="0" rIns="0" bIns="0" rtlCol="0" anchor="ctr"/>
          <a:lstStyle/>
          <a:p>
            <a:pPr indent="0" marL="0">
              <a:buNone/>
            </a:pPr>
            <a:r>
              <a:rPr lang="en-US" sz="1400" dirty="0">
                <a:solidFill>
                  <a:srgbClr val="DCE8EA"/>
                </a:solidFill>
                <a:latin typeface="Calibri" pitchFamily="34" charset="0"/>
                <a:ea typeface="Calibri" pitchFamily="34" charset="-122"/>
                <a:cs typeface="Calibri" pitchFamily="34" charset="-120"/>
              </a:rPr>
              <a:t>Fetch &amp; extract</a:t>
            </a:r>
            <a:endParaRPr lang="en-US" sz="1400" dirty="0"/>
          </a:p>
        </p:txBody>
      </p:sp>
      <p:sp>
        <p:nvSpPr>
          <p:cNvPr id="22" name="Shape 20"/>
          <p:cNvSpPr/>
          <p:nvPr/>
        </p:nvSpPr>
        <p:spPr>
          <a:xfrm>
            <a:off x="8833104" y="3483864"/>
            <a:ext cx="0" cy="219456"/>
          </a:xfrm>
          <a:prstGeom prst="line">
            <a:avLst/>
          </a:prstGeom>
          <a:noFill/>
          <a:ln w="19050">
            <a:solidFill>
              <a:srgbClr val="3E6B73"/>
            </a:solidFill>
            <a:prstDash val="solid"/>
          </a:ln>
        </p:spPr>
      </p:sp>
      <p:sp>
        <p:nvSpPr>
          <p:cNvPr id="23" name="Shape 21"/>
          <p:cNvSpPr/>
          <p:nvPr/>
        </p:nvSpPr>
        <p:spPr>
          <a:xfrm>
            <a:off x="8641080" y="3099816"/>
            <a:ext cx="384048" cy="384048"/>
          </a:xfrm>
          <a:prstGeom prst="ellipse">
            <a:avLst/>
          </a:prstGeom>
          <a:solidFill>
            <a:srgbClr val="0E7C7B"/>
          </a:solidFill>
          <a:ln w="12700">
            <a:solidFill>
              <a:srgbClr val="0E7C7B"/>
            </a:solidFill>
            <a:prstDash val="solid"/>
          </a:ln>
        </p:spPr>
      </p:sp>
      <p:sp>
        <p:nvSpPr>
          <p:cNvPr id="24" name="Text 22"/>
          <p:cNvSpPr txBox="1"/>
          <p:nvPr/>
        </p:nvSpPr>
        <p:spPr>
          <a:xfrm>
            <a:off x="8641080" y="30998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txBox="1"/>
          <p:nvPr/>
        </p:nvSpPr>
        <p:spPr>
          <a:xfrm>
            <a:off x="9189720" y="3099816"/>
            <a:ext cx="2651760" cy="384048"/>
          </a:xfrm>
          <a:prstGeom prst="rect">
            <a:avLst/>
          </a:prstGeom>
          <a:noFill/>
          <a:ln/>
        </p:spPr>
        <p:txBody>
          <a:bodyPr wrap="square" lIns="0" tIns="0" rIns="0" bIns="0" rtlCol="0" anchor="ctr"/>
          <a:lstStyle/>
          <a:p>
            <a:pPr indent="0" marL="0">
              <a:buNone/>
            </a:pPr>
            <a:r>
              <a:rPr lang="en-US" sz="1400" dirty="0">
                <a:solidFill>
                  <a:srgbClr val="DCE8EA"/>
                </a:solidFill>
                <a:latin typeface="Calibri" pitchFamily="34" charset="0"/>
                <a:ea typeface="Calibri" pitchFamily="34" charset="-122"/>
                <a:cs typeface="Calibri" pitchFamily="34" charset="-120"/>
              </a:rPr>
              <a:t>Match</a:t>
            </a:r>
            <a:endParaRPr lang="en-US" sz="1400" dirty="0"/>
          </a:p>
        </p:txBody>
      </p:sp>
      <p:sp>
        <p:nvSpPr>
          <p:cNvPr id="26" name="Shape 24"/>
          <p:cNvSpPr/>
          <p:nvPr/>
        </p:nvSpPr>
        <p:spPr>
          <a:xfrm>
            <a:off x="8833104" y="4087368"/>
            <a:ext cx="0" cy="219456"/>
          </a:xfrm>
          <a:prstGeom prst="line">
            <a:avLst/>
          </a:prstGeom>
          <a:noFill/>
          <a:ln w="19050">
            <a:solidFill>
              <a:srgbClr val="3E6B73"/>
            </a:solidFill>
            <a:prstDash val="solid"/>
          </a:ln>
        </p:spPr>
      </p:sp>
      <p:sp>
        <p:nvSpPr>
          <p:cNvPr id="27" name="Shape 25"/>
          <p:cNvSpPr/>
          <p:nvPr/>
        </p:nvSpPr>
        <p:spPr>
          <a:xfrm>
            <a:off x="8641080" y="3703320"/>
            <a:ext cx="384048" cy="384048"/>
          </a:xfrm>
          <a:prstGeom prst="ellipse">
            <a:avLst/>
          </a:prstGeom>
          <a:solidFill>
            <a:srgbClr val="0E7C7B"/>
          </a:solidFill>
          <a:ln w="12700">
            <a:solidFill>
              <a:srgbClr val="0E7C7B"/>
            </a:solidFill>
            <a:prstDash val="solid"/>
          </a:ln>
        </p:spPr>
      </p:sp>
      <p:sp>
        <p:nvSpPr>
          <p:cNvPr id="28" name="Text 26"/>
          <p:cNvSpPr txBox="1"/>
          <p:nvPr/>
        </p:nvSpPr>
        <p:spPr>
          <a:xfrm>
            <a:off x="8641080" y="37033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txBox="1"/>
          <p:nvPr/>
        </p:nvSpPr>
        <p:spPr>
          <a:xfrm>
            <a:off x="9189720" y="3703320"/>
            <a:ext cx="2651760" cy="384048"/>
          </a:xfrm>
          <a:prstGeom prst="rect">
            <a:avLst/>
          </a:prstGeom>
          <a:noFill/>
          <a:ln/>
        </p:spPr>
        <p:txBody>
          <a:bodyPr wrap="square" lIns="0" tIns="0" rIns="0" bIns="0" rtlCol="0" anchor="ctr"/>
          <a:lstStyle/>
          <a:p>
            <a:pPr indent="0" marL="0">
              <a:buNone/>
            </a:pPr>
            <a:r>
              <a:rPr lang="en-US" sz="1400" dirty="0">
                <a:solidFill>
                  <a:srgbClr val="DCE8EA"/>
                </a:solidFill>
                <a:latin typeface="Calibri" pitchFamily="34" charset="0"/>
                <a:ea typeface="Calibri" pitchFamily="34" charset="-122"/>
                <a:cs typeface="Calibri" pitchFamily="34" charset="-120"/>
              </a:rPr>
              <a:t>Classify module</a:t>
            </a:r>
            <a:endParaRPr lang="en-US" sz="1400" dirty="0"/>
          </a:p>
        </p:txBody>
      </p:sp>
      <p:sp>
        <p:nvSpPr>
          <p:cNvPr id="30" name="Shape 28"/>
          <p:cNvSpPr/>
          <p:nvPr/>
        </p:nvSpPr>
        <p:spPr>
          <a:xfrm>
            <a:off x="8833104" y="4690872"/>
            <a:ext cx="0" cy="219456"/>
          </a:xfrm>
          <a:prstGeom prst="line">
            <a:avLst/>
          </a:prstGeom>
          <a:noFill/>
          <a:ln w="19050">
            <a:solidFill>
              <a:srgbClr val="3E6B73"/>
            </a:solidFill>
            <a:prstDash val="solid"/>
          </a:ln>
        </p:spPr>
      </p:sp>
      <p:sp>
        <p:nvSpPr>
          <p:cNvPr id="31" name="Shape 29"/>
          <p:cNvSpPr/>
          <p:nvPr/>
        </p:nvSpPr>
        <p:spPr>
          <a:xfrm>
            <a:off x="8641080" y="4306824"/>
            <a:ext cx="384048" cy="384048"/>
          </a:xfrm>
          <a:prstGeom prst="ellipse">
            <a:avLst/>
          </a:prstGeom>
          <a:solidFill>
            <a:srgbClr val="0E7C7B"/>
          </a:solidFill>
          <a:ln w="12700">
            <a:solidFill>
              <a:srgbClr val="0E7C7B"/>
            </a:solidFill>
            <a:prstDash val="solid"/>
          </a:ln>
        </p:spPr>
      </p:sp>
      <p:sp>
        <p:nvSpPr>
          <p:cNvPr id="32" name="Text 30"/>
          <p:cNvSpPr txBox="1"/>
          <p:nvPr/>
        </p:nvSpPr>
        <p:spPr>
          <a:xfrm>
            <a:off x="8641080" y="43068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1"/>
          <p:cNvSpPr txBox="1"/>
          <p:nvPr/>
        </p:nvSpPr>
        <p:spPr>
          <a:xfrm>
            <a:off x="9189720" y="4306824"/>
            <a:ext cx="2651760" cy="384048"/>
          </a:xfrm>
          <a:prstGeom prst="rect">
            <a:avLst/>
          </a:prstGeom>
          <a:noFill/>
          <a:ln/>
        </p:spPr>
        <p:txBody>
          <a:bodyPr wrap="square" lIns="0" tIns="0" rIns="0" bIns="0" rtlCol="0" anchor="ctr"/>
          <a:lstStyle/>
          <a:p>
            <a:pPr indent="0" marL="0">
              <a:buNone/>
            </a:pPr>
            <a:r>
              <a:rPr lang="en-US" sz="1400" dirty="0">
                <a:solidFill>
                  <a:srgbClr val="DCE8EA"/>
                </a:solidFill>
                <a:latin typeface="Calibri" pitchFamily="34" charset="0"/>
                <a:ea typeface="Calibri" pitchFamily="34" charset="-122"/>
                <a:cs typeface="Calibri" pitchFamily="34" charset="-120"/>
              </a:rPr>
              <a:t>Characteristics</a:t>
            </a:r>
            <a:endParaRPr lang="en-US" sz="1400" dirty="0"/>
          </a:p>
        </p:txBody>
      </p:sp>
      <p:sp>
        <p:nvSpPr>
          <p:cNvPr id="34" name="Shape 32"/>
          <p:cNvSpPr/>
          <p:nvPr/>
        </p:nvSpPr>
        <p:spPr>
          <a:xfrm>
            <a:off x="8833104" y="5294376"/>
            <a:ext cx="0" cy="219456"/>
          </a:xfrm>
          <a:prstGeom prst="line">
            <a:avLst/>
          </a:prstGeom>
          <a:noFill/>
          <a:ln w="19050">
            <a:solidFill>
              <a:srgbClr val="3E6B73"/>
            </a:solidFill>
            <a:prstDash val="solid"/>
          </a:ln>
        </p:spPr>
      </p:sp>
      <p:sp>
        <p:nvSpPr>
          <p:cNvPr id="35" name="Shape 33"/>
          <p:cNvSpPr/>
          <p:nvPr/>
        </p:nvSpPr>
        <p:spPr>
          <a:xfrm>
            <a:off x="8641080" y="4910328"/>
            <a:ext cx="384048" cy="384048"/>
          </a:xfrm>
          <a:prstGeom prst="ellipse">
            <a:avLst/>
          </a:prstGeom>
          <a:solidFill>
            <a:srgbClr val="0E7C7B"/>
          </a:solidFill>
          <a:ln w="12700">
            <a:solidFill>
              <a:srgbClr val="0E7C7B"/>
            </a:solidFill>
            <a:prstDash val="solid"/>
          </a:ln>
        </p:spPr>
      </p:sp>
      <p:sp>
        <p:nvSpPr>
          <p:cNvPr id="36" name="Text 34"/>
          <p:cNvSpPr txBox="1"/>
          <p:nvPr/>
        </p:nvSpPr>
        <p:spPr>
          <a:xfrm>
            <a:off x="8641080" y="4910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7" name="Text 35"/>
          <p:cNvSpPr txBox="1"/>
          <p:nvPr/>
        </p:nvSpPr>
        <p:spPr>
          <a:xfrm>
            <a:off x="9189720" y="4910328"/>
            <a:ext cx="2651760" cy="384048"/>
          </a:xfrm>
          <a:prstGeom prst="rect">
            <a:avLst/>
          </a:prstGeom>
          <a:noFill/>
          <a:ln/>
        </p:spPr>
        <p:txBody>
          <a:bodyPr wrap="square" lIns="0" tIns="0" rIns="0" bIns="0" rtlCol="0" anchor="ctr"/>
          <a:lstStyle/>
          <a:p>
            <a:pPr indent="0" marL="0">
              <a:buNone/>
            </a:pPr>
            <a:r>
              <a:rPr lang="en-US" sz="1400" dirty="0">
                <a:solidFill>
                  <a:srgbClr val="DCE8EA"/>
                </a:solidFill>
                <a:latin typeface="Calibri" pitchFamily="34" charset="0"/>
                <a:ea typeface="Calibri" pitchFamily="34" charset="-122"/>
                <a:cs typeface="Calibri" pitchFamily="34" charset="-120"/>
              </a:rPr>
              <a:t>Reason</a:t>
            </a:r>
            <a:endParaRPr lang="en-US" sz="1400" dirty="0"/>
          </a:p>
        </p:txBody>
      </p:sp>
      <p:sp>
        <p:nvSpPr>
          <p:cNvPr id="38" name="Shape 36"/>
          <p:cNvSpPr/>
          <p:nvPr/>
        </p:nvSpPr>
        <p:spPr>
          <a:xfrm>
            <a:off x="8641080" y="5513832"/>
            <a:ext cx="384048" cy="384048"/>
          </a:xfrm>
          <a:prstGeom prst="ellipse">
            <a:avLst/>
          </a:prstGeom>
          <a:solidFill>
            <a:srgbClr val="0E7C7B"/>
          </a:solidFill>
          <a:ln w="12700">
            <a:solidFill>
              <a:srgbClr val="0E7C7B"/>
            </a:solidFill>
            <a:prstDash val="solid"/>
          </a:ln>
        </p:spPr>
      </p:sp>
      <p:sp>
        <p:nvSpPr>
          <p:cNvPr id="39" name="Text 37"/>
          <p:cNvSpPr txBox="1"/>
          <p:nvPr/>
        </p:nvSpPr>
        <p:spPr>
          <a:xfrm>
            <a:off x="8641080" y="55138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0" name="Text 38"/>
          <p:cNvSpPr txBox="1"/>
          <p:nvPr/>
        </p:nvSpPr>
        <p:spPr>
          <a:xfrm>
            <a:off x="9189720" y="5513832"/>
            <a:ext cx="2651760" cy="384048"/>
          </a:xfrm>
          <a:prstGeom prst="rect">
            <a:avLst/>
          </a:prstGeom>
          <a:noFill/>
          <a:ln/>
        </p:spPr>
        <p:txBody>
          <a:bodyPr wrap="square" lIns="0" tIns="0" rIns="0" bIns="0" rtlCol="0" anchor="ctr"/>
          <a:lstStyle/>
          <a:p>
            <a:pPr indent="0" marL="0">
              <a:buNone/>
            </a:pPr>
            <a:r>
              <a:rPr lang="en-US" sz="1400" dirty="0">
                <a:solidFill>
                  <a:srgbClr val="DCE8EA"/>
                </a:solidFill>
                <a:latin typeface="Calibri" pitchFamily="34" charset="0"/>
                <a:ea typeface="Calibri" pitchFamily="34" charset="-122"/>
                <a:cs typeface="Calibri" pitchFamily="34" charset="-120"/>
              </a:rPr>
              <a:t>Assemble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300" kern="0" dirty="0">
                <a:solidFill>
                  <a:srgbClr val="0E7C7B"/>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F2D33"/>
                </a:solidFill>
                <a:latin typeface="Cambria" pitchFamily="34" charset="0"/>
                <a:ea typeface="Cambria" pitchFamily="34" charset="-122"/>
                <a:cs typeface="Cambria" pitchFamily="34" charset="-120"/>
              </a:rPr>
              <a:t>One product, many pages — which one is true?</a:t>
            </a:r>
            <a:endParaRPr lang="en-US" sz="3000" dirty="0"/>
          </a:p>
        </p:txBody>
      </p:sp>
      <p:sp>
        <p:nvSpPr>
          <p:cNvPr id="4" name="Text 2"/>
          <p:cNvSpPr txBox="1"/>
          <p:nvPr/>
        </p:nvSpPr>
        <p:spPr>
          <a:xfrm>
            <a:off x="548640" y="1508760"/>
            <a:ext cx="11064240" cy="731520"/>
          </a:xfrm>
          <a:prstGeom prst="rect">
            <a:avLst/>
          </a:prstGeom>
          <a:noFill/>
          <a:ln/>
        </p:spPr>
        <p:txBody>
          <a:bodyPr wrap="square" lIns="0" tIns="0" rIns="0" bIns="0" rtlCol="0" anchor="t"/>
          <a:lstStyle/>
          <a:p>
            <a:pPr indent="0" marL="0">
              <a:buNone/>
            </a:pPr>
            <a:r>
              <a:rPr lang="en-US" sz="1600" dirty="0">
                <a:solidFill>
                  <a:srgbClr val="5B6B70"/>
                </a:solidFill>
                <a:latin typeface="Calibri" pitchFamily="34" charset="0"/>
                <a:ea typeface="Calibri" pitchFamily="34" charset="-122"/>
                <a:cs typeface="Calibri" pitchFamily="34" charset="-120"/>
              </a:rPr>
              <a:t>The same toothpaste appears on retailers, marketplaces, brand sites and barcode directories under different names, sizes and promotions. The task has two stages, and the second is where most of the score lives.</a:t>
            </a:r>
            <a:endParaRPr lang="en-US" sz="1600" dirty="0"/>
          </a:p>
        </p:txBody>
      </p:sp>
      <p:sp>
        <p:nvSpPr>
          <p:cNvPr id="5" name="Shape 3"/>
          <p:cNvSpPr/>
          <p:nvPr/>
        </p:nvSpPr>
        <p:spPr>
          <a:xfrm>
            <a:off x="548640" y="2514600"/>
            <a:ext cx="2560320" cy="2148840"/>
          </a:xfrm>
          <a:prstGeom prst="roundRect">
            <a:avLst>
              <a:gd name="adj" fmla="val 3404"/>
            </a:avLst>
          </a:prstGeom>
          <a:solidFill>
            <a:srgbClr val="E6F4F1"/>
          </a:solidFill>
          <a:ln w="12700">
            <a:solidFill>
              <a:srgbClr val="E6F4F1"/>
            </a:solidFill>
            <a:prstDash val="solid"/>
          </a:ln>
        </p:spPr>
      </p:sp>
      <p:sp>
        <p:nvSpPr>
          <p:cNvPr id="6" name="Shape 4"/>
          <p:cNvSpPr/>
          <p:nvPr/>
        </p:nvSpPr>
        <p:spPr>
          <a:xfrm>
            <a:off x="777240" y="2715768"/>
            <a:ext cx="384048" cy="384048"/>
          </a:xfrm>
          <a:prstGeom prst="ellipse">
            <a:avLst/>
          </a:prstGeom>
          <a:solidFill>
            <a:srgbClr val="0E7C7B"/>
          </a:solidFill>
          <a:ln w="12700">
            <a:solidFill>
              <a:srgbClr val="0E7C7B"/>
            </a:solidFill>
            <a:prstDash val="solid"/>
          </a:ln>
        </p:spPr>
      </p:sp>
      <p:sp>
        <p:nvSpPr>
          <p:cNvPr id="7" name="Text 5"/>
          <p:cNvSpPr txBox="1"/>
          <p:nvPr/>
        </p:nvSpPr>
        <p:spPr>
          <a:xfrm>
            <a:off x="777240" y="2715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777240" y="3246120"/>
            <a:ext cx="2148840" cy="365760"/>
          </a:xfrm>
          <a:prstGeom prst="rect">
            <a:avLst/>
          </a:prstGeom>
          <a:noFill/>
          <a:ln/>
        </p:spPr>
        <p:txBody>
          <a:bodyPr wrap="square" lIns="0" tIns="0" rIns="0" bIns="0" rtlCol="0" anchor="t"/>
          <a:lstStyle/>
          <a:p>
            <a:pPr indent="0" marL="0">
              <a:buNone/>
            </a:pPr>
            <a:r>
              <a:rPr lang="en-US" sz="1700" b="1" dirty="0">
                <a:solidFill>
                  <a:srgbClr val="0A5C5B"/>
                </a:solidFill>
                <a:latin typeface="Calibri" pitchFamily="34" charset="0"/>
                <a:ea typeface="Calibri" pitchFamily="34" charset="-122"/>
                <a:cs typeface="Calibri" pitchFamily="34" charset="-120"/>
              </a:rPr>
              <a:t>Find the page</a:t>
            </a:r>
            <a:endParaRPr lang="en-US" sz="1700" dirty="0"/>
          </a:p>
        </p:txBody>
      </p:sp>
      <p:sp>
        <p:nvSpPr>
          <p:cNvPr id="9" name="Text 7"/>
          <p:cNvSpPr txBox="1"/>
          <p:nvPr/>
        </p:nvSpPr>
        <p:spPr>
          <a:xfrm>
            <a:off x="777240" y="3639312"/>
            <a:ext cx="2148840" cy="960120"/>
          </a:xfrm>
          <a:prstGeom prst="rect">
            <a:avLst/>
          </a:prstGeom>
          <a:noFill/>
          <a:ln/>
        </p:spPr>
        <p:txBody>
          <a:bodyPr wrap="square" lIns="0" tIns="0" rIns="0" bIns="0" rtlCol="0" anchor="t"/>
          <a:lstStyle/>
          <a:p>
            <a:pPr indent="0" marL="0">
              <a:buNone/>
            </a:pPr>
            <a:r>
              <a:rPr lang="en-US" sz="1350" dirty="0">
                <a:solidFill>
                  <a:srgbClr val="1F2D33"/>
                </a:solidFill>
                <a:latin typeface="Calibri" pitchFamily="34" charset="0"/>
                <a:ea typeface="Calibri" pitchFamily="34" charset="-122"/>
                <a:cs typeface="Calibri" pitchFamily="34" charset="-120"/>
              </a:rPr>
              <a:t>the single URL that is this product — not a look-alike, a listing or a homepage</a:t>
            </a:r>
            <a:endParaRPr lang="en-US" sz="1350" dirty="0"/>
          </a:p>
        </p:txBody>
      </p:sp>
      <p:sp>
        <p:nvSpPr>
          <p:cNvPr id="10" name="Shape 8"/>
          <p:cNvSpPr/>
          <p:nvPr/>
        </p:nvSpPr>
        <p:spPr>
          <a:xfrm>
            <a:off x="3127248" y="3584448"/>
            <a:ext cx="237744" cy="0"/>
          </a:xfrm>
          <a:prstGeom prst="line">
            <a:avLst/>
          </a:prstGeom>
          <a:noFill/>
          <a:ln w="28575">
            <a:solidFill>
              <a:srgbClr val="0E7C7B"/>
            </a:solidFill>
            <a:prstDash val="solid"/>
            <a:tailEnd type="triangle"/>
          </a:ln>
        </p:spPr>
      </p:sp>
      <p:sp>
        <p:nvSpPr>
          <p:cNvPr id="11" name="Shape 9"/>
          <p:cNvSpPr/>
          <p:nvPr/>
        </p:nvSpPr>
        <p:spPr>
          <a:xfrm>
            <a:off x="3383280" y="2514600"/>
            <a:ext cx="2560320" cy="2148840"/>
          </a:xfrm>
          <a:prstGeom prst="roundRect">
            <a:avLst>
              <a:gd name="adj" fmla="val 3404"/>
            </a:avLst>
          </a:prstGeom>
          <a:solidFill>
            <a:srgbClr val="E6F4F1"/>
          </a:solidFill>
          <a:ln w="12700">
            <a:solidFill>
              <a:srgbClr val="E6F4F1"/>
            </a:solidFill>
            <a:prstDash val="solid"/>
          </a:ln>
        </p:spPr>
      </p:sp>
      <p:sp>
        <p:nvSpPr>
          <p:cNvPr id="12" name="Shape 10"/>
          <p:cNvSpPr/>
          <p:nvPr/>
        </p:nvSpPr>
        <p:spPr>
          <a:xfrm>
            <a:off x="3611880" y="2715768"/>
            <a:ext cx="384048" cy="384048"/>
          </a:xfrm>
          <a:prstGeom prst="ellipse">
            <a:avLst/>
          </a:prstGeom>
          <a:solidFill>
            <a:srgbClr val="0E7C7B"/>
          </a:solidFill>
          <a:ln w="12700">
            <a:solidFill>
              <a:srgbClr val="0E7C7B"/>
            </a:solidFill>
            <a:prstDash val="solid"/>
          </a:ln>
        </p:spPr>
      </p:sp>
      <p:sp>
        <p:nvSpPr>
          <p:cNvPr id="13" name="Text 11"/>
          <p:cNvSpPr txBox="1"/>
          <p:nvPr/>
        </p:nvSpPr>
        <p:spPr>
          <a:xfrm>
            <a:off x="3611880" y="2715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3611880" y="3246120"/>
            <a:ext cx="2148840" cy="365760"/>
          </a:xfrm>
          <a:prstGeom prst="rect">
            <a:avLst/>
          </a:prstGeom>
          <a:noFill/>
          <a:ln/>
        </p:spPr>
        <p:txBody>
          <a:bodyPr wrap="square" lIns="0" tIns="0" rIns="0" bIns="0" rtlCol="0" anchor="t"/>
          <a:lstStyle/>
          <a:p>
            <a:pPr indent="0" marL="0">
              <a:buNone/>
            </a:pPr>
            <a:r>
              <a:rPr lang="en-US" sz="1700" b="1" dirty="0">
                <a:solidFill>
                  <a:srgbClr val="0A5C5B"/>
                </a:solidFill>
                <a:latin typeface="Calibri" pitchFamily="34" charset="0"/>
                <a:ea typeface="Calibri" pitchFamily="34" charset="-122"/>
                <a:cs typeface="Calibri" pitchFamily="34" charset="-120"/>
              </a:rPr>
              <a:t>Identify the module</a:t>
            </a:r>
            <a:endParaRPr lang="en-US" sz="1700" dirty="0"/>
          </a:p>
        </p:txBody>
      </p:sp>
      <p:sp>
        <p:nvSpPr>
          <p:cNvPr id="15" name="Text 13"/>
          <p:cNvSpPr txBox="1"/>
          <p:nvPr/>
        </p:nvSpPr>
        <p:spPr>
          <a:xfrm>
            <a:off x="3611880" y="3639312"/>
            <a:ext cx="2148840" cy="960120"/>
          </a:xfrm>
          <a:prstGeom prst="rect">
            <a:avLst/>
          </a:prstGeom>
          <a:noFill/>
          <a:ln/>
        </p:spPr>
        <p:txBody>
          <a:bodyPr wrap="square" lIns="0" tIns="0" rIns="0" bIns="0" rtlCol="0" anchor="t"/>
          <a:lstStyle/>
          <a:p>
            <a:pPr indent="0" marL="0">
              <a:buNone/>
            </a:pPr>
            <a:r>
              <a:rPr lang="en-US" sz="1350" dirty="0">
                <a:solidFill>
                  <a:srgbClr val="1F2D33"/>
                </a:solidFill>
                <a:latin typeface="Calibri" pitchFamily="34" charset="0"/>
                <a:ea typeface="Calibri" pitchFamily="34" charset="-122"/>
                <a:cs typeface="Calibri" pitchFamily="34" charset="-120"/>
              </a:rPr>
              <a:t>one of 59 oral-care modules, e.g. TOOTH CLEANING - PASTE</a:t>
            </a:r>
            <a:endParaRPr lang="en-US" sz="1350" dirty="0"/>
          </a:p>
        </p:txBody>
      </p:sp>
      <p:sp>
        <p:nvSpPr>
          <p:cNvPr id="16" name="Shape 14"/>
          <p:cNvSpPr/>
          <p:nvPr/>
        </p:nvSpPr>
        <p:spPr>
          <a:xfrm>
            <a:off x="5961888" y="3584448"/>
            <a:ext cx="237744" cy="0"/>
          </a:xfrm>
          <a:prstGeom prst="line">
            <a:avLst/>
          </a:prstGeom>
          <a:noFill/>
          <a:ln w="28575">
            <a:solidFill>
              <a:srgbClr val="0E7C7B"/>
            </a:solidFill>
            <a:prstDash val="solid"/>
            <a:tailEnd type="triangle"/>
          </a:ln>
        </p:spPr>
      </p:sp>
      <p:sp>
        <p:nvSpPr>
          <p:cNvPr id="17" name="Shape 15"/>
          <p:cNvSpPr/>
          <p:nvPr/>
        </p:nvSpPr>
        <p:spPr>
          <a:xfrm>
            <a:off x="6217920" y="2514600"/>
            <a:ext cx="2560320" cy="2148840"/>
          </a:xfrm>
          <a:prstGeom prst="roundRect">
            <a:avLst>
              <a:gd name="adj" fmla="val 3404"/>
            </a:avLst>
          </a:prstGeom>
          <a:solidFill>
            <a:srgbClr val="E6F4F1"/>
          </a:solidFill>
          <a:ln w="12700">
            <a:solidFill>
              <a:srgbClr val="E6F4F1"/>
            </a:solidFill>
            <a:prstDash val="solid"/>
          </a:ln>
        </p:spPr>
      </p:sp>
      <p:sp>
        <p:nvSpPr>
          <p:cNvPr id="18" name="Shape 16"/>
          <p:cNvSpPr/>
          <p:nvPr/>
        </p:nvSpPr>
        <p:spPr>
          <a:xfrm>
            <a:off x="6446520" y="2715768"/>
            <a:ext cx="384048" cy="384048"/>
          </a:xfrm>
          <a:prstGeom prst="ellipse">
            <a:avLst/>
          </a:prstGeom>
          <a:solidFill>
            <a:srgbClr val="0E7C7B"/>
          </a:solidFill>
          <a:ln w="12700">
            <a:solidFill>
              <a:srgbClr val="0E7C7B"/>
            </a:solidFill>
            <a:prstDash val="solid"/>
          </a:ln>
        </p:spPr>
      </p:sp>
      <p:sp>
        <p:nvSpPr>
          <p:cNvPr id="19" name="Text 17"/>
          <p:cNvSpPr txBox="1"/>
          <p:nvPr/>
        </p:nvSpPr>
        <p:spPr>
          <a:xfrm>
            <a:off x="6446520" y="2715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6446520" y="3246120"/>
            <a:ext cx="2148840" cy="365760"/>
          </a:xfrm>
          <a:prstGeom prst="rect">
            <a:avLst/>
          </a:prstGeom>
          <a:noFill/>
          <a:ln/>
        </p:spPr>
        <p:txBody>
          <a:bodyPr wrap="square" lIns="0" tIns="0" rIns="0" bIns="0" rtlCol="0" anchor="t"/>
          <a:lstStyle/>
          <a:p>
            <a:pPr indent="0" marL="0">
              <a:buNone/>
            </a:pPr>
            <a:r>
              <a:rPr lang="en-US" sz="1700" b="1" dirty="0">
                <a:solidFill>
                  <a:srgbClr val="0A5C5B"/>
                </a:solidFill>
                <a:latin typeface="Calibri" pitchFamily="34" charset="0"/>
                <a:ea typeface="Calibri" pitchFamily="34" charset="-122"/>
                <a:cs typeface="Calibri" pitchFamily="34" charset="-120"/>
              </a:rPr>
              <a:t>Decide what applies</a:t>
            </a:r>
            <a:endParaRPr lang="en-US" sz="1700" dirty="0"/>
          </a:p>
        </p:txBody>
      </p:sp>
      <p:sp>
        <p:nvSpPr>
          <p:cNvPr id="21" name="Text 19"/>
          <p:cNvSpPr txBox="1"/>
          <p:nvPr/>
        </p:nvSpPr>
        <p:spPr>
          <a:xfrm>
            <a:off x="6446520" y="3639312"/>
            <a:ext cx="2148840" cy="960120"/>
          </a:xfrm>
          <a:prstGeom prst="rect">
            <a:avLst/>
          </a:prstGeom>
          <a:noFill/>
          <a:ln/>
        </p:spPr>
        <p:txBody>
          <a:bodyPr wrap="square" lIns="0" tIns="0" rIns="0" bIns="0" rtlCol="0" anchor="t"/>
          <a:lstStyle/>
          <a:p>
            <a:pPr indent="0" marL="0">
              <a:buNone/>
            </a:pPr>
            <a:r>
              <a:rPr lang="en-US" sz="1350" dirty="0">
                <a:solidFill>
                  <a:srgbClr val="1F2D33"/>
                </a:solidFill>
                <a:latin typeface="Calibri" pitchFamily="34" charset="0"/>
                <a:ea typeface="Calibri" pitchFamily="34" charset="-122"/>
                <a:cs typeface="Calibri" pitchFamily="34" charset="-120"/>
              </a:rPr>
              <a:t>which of the 13 characteristics exist for that module — the rest must stay empty</a:t>
            </a:r>
            <a:endParaRPr lang="en-US" sz="1350" dirty="0"/>
          </a:p>
        </p:txBody>
      </p:sp>
      <p:sp>
        <p:nvSpPr>
          <p:cNvPr id="22" name="Shape 20"/>
          <p:cNvSpPr/>
          <p:nvPr/>
        </p:nvSpPr>
        <p:spPr>
          <a:xfrm>
            <a:off x="8796528" y="3584448"/>
            <a:ext cx="237744" cy="0"/>
          </a:xfrm>
          <a:prstGeom prst="line">
            <a:avLst/>
          </a:prstGeom>
          <a:noFill/>
          <a:ln w="28575">
            <a:solidFill>
              <a:srgbClr val="0E7C7B"/>
            </a:solidFill>
            <a:prstDash val="solid"/>
            <a:tailEnd type="triangle"/>
          </a:ln>
        </p:spPr>
      </p:sp>
      <p:sp>
        <p:nvSpPr>
          <p:cNvPr id="23" name="Shape 21"/>
          <p:cNvSpPr/>
          <p:nvPr/>
        </p:nvSpPr>
        <p:spPr>
          <a:xfrm>
            <a:off x="9052560" y="2514600"/>
            <a:ext cx="2560320" cy="2148840"/>
          </a:xfrm>
          <a:prstGeom prst="roundRect">
            <a:avLst>
              <a:gd name="adj" fmla="val 3404"/>
            </a:avLst>
          </a:prstGeom>
          <a:solidFill>
            <a:srgbClr val="E6F4F1"/>
          </a:solidFill>
          <a:ln w="12700">
            <a:solidFill>
              <a:srgbClr val="E6F4F1"/>
            </a:solidFill>
            <a:prstDash val="solid"/>
          </a:ln>
        </p:spPr>
      </p:sp>
      <p:sp>
        <p:nvSpPr>
          <p:cNvPr id="24" name="Shape 22"/>
          <p:cNvSpPr/>
          <p:nvPr/>
        </p:nvSpPr>
        <p:spPr>
          <a:xfrm>
            <a:off x="9281160" y="2715768"/>
            <a:ext cx="384048" cy="384048"/>
          </a:xfrm>
          <a:prstGeom prst="ellipse">
            <a:avLst/>
          </a:prstGeom>
          <a:solidFill>
            <a:srgbClr val="0E7C7B"/>
          </a:solidFill>
          <a:ln w="12700">
            <a:solidFill>
              <a:srgbClr val="0E7C7B"/>
            </a:solidFill>
            <a:prstDash val="solid"/>
          </a:ln>
        </p:spPr>
      </p:sp>
      <p:sp>
        <p:nvSpPr>
          <p:cNvPr id="25" name="Text 23"/>
          <p:cNvSpPr txBox="1"/>
          <p:nvPr/>
        </p:nvSpPr>
        <p:spPr>
          <a:xfrm>
            <a:off x="9281160" y="2715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txBox="1"/>
          <p:nvPr/>
        </p:nvSpPr>
        <p:spPr>
          <a:xfrm>
            <a:off x="9281160" y="3246120"/>
            <a:ext cx="2148840" cy="365760"/>
          </a:xfrm>
          <a:prstGeom prst="rect">
            <a:avLst/>
          </a:prstGeom>
          <a:noFill/>
          <a:ln/>
        </p:spPr>
        <p:txBody>
          <a:bodyPr wrap="square" lIns="0" tIns="0" rIns="0" bIns="0" rtlCol="0" anchor="t"/>
          <a:lstStyle/>
          <a:p>
            <a:pPr indent="0" marL="0">
              <a:buNone/>
            </a:pPr>
            <a:r>
              <a:rPr lang="en-US" sz="1700" b="1" dirty="0">
                <a:solidFill>
                  <a:srgbClr val="0A5C5B"/>
                </a:solidFill>
                <a:latin typeface="Calibri" pitchFamily="34" charset="0"/>
                <a:ea typeface="Calibri" pitchFamily="34" charset="-122"/>
                <a:cs typeface="Calibri" pitchFamily="34" charset="-120"/>
              </a:rPr>
              <a:t>Code the values</a:t>
            </a:r>
            <a:endParaRPr lang="en-US" sz="1700" dirty="0"/>
          </a:p>
        </p:txBody>
      </p:sp>
      <p:sp>
        <p:nvSpPr>
          <p:cNvPr id="27" name="Text 25"/>
          <p:cNvSpPr txBox="1"/>
          <p:nvPr/>
        </p:nvSpPr>
        <p:spPr>
          <a:xfrm>
            <a:off x="9281160" y="3639312"/>
            <a:ext cx="2148840" cy="960120"/>
          </a:xfrm>
          <a:prstGeom prst="rect">
            <a:avLst/>
          </a:prstGeom>
          <a:noFill/>
          <a:ln/>
        </p:spPr>
        <p:txBody>
          <a:bodyPr wrap="square" lIns="0" tIns="0" rIns="0" bIns="0" rtlCol="0" anchor="t"/>
          <a:lstStyle/>
          <a:p>
            <a:pPr indent="0" marL="0">
              <a:buNone/>
            </a:pPr>
            <a:r>
              <a:rPr lang="en-US" sz="1350" dirty="0">
                <a:solidFill>
                  <a:srgbClr val="1F2D33"/>
                </a:solidFill>
                <a:latin typeface="Calibri" pitchFamily="34" charset="0"/>
                <a:ea typeface="Calibri" pitchFamily="34" charset="-122"/>
                <a:cs typeface="Calibri" pitchFamily="34" charset="-120"/>
              </a:rPr>
              <a:t>from page, image and guideline evidence, inside the organizers' vocabulary</a:t>
            </a:r>
            <a:endParaRPr lang="en-US" sz="1350" dirty="0"/>
          </a:p>
        </p:txBody>
      </p:sp>
      <p:sp>
        <p:nvSpPr>
          <p:cNvPr id="28" name="Text 26"/>
          <p:cNvSpPr txBox="1"/>
          <p:nvPr/>
        </p:nvSpPr>
        <p:spPr>
          <a:xfrm>
            <a:off x="548640" y="5029200"/>
            <a:ext cx="1828800" cy="320040"/>
          </a:xfrm>
          <a:prstGeom prst="rect">
            <a:avLst/>
          </a:prstGeom>
          <a:noFill/>
          <a:ln/>
        </p:spPr>
        <p:txBody>
          <a:bodyPr wrap="square" lIns="0" tIns="0" rIns="0" bIns="0" rtlCol="0" anchor="t"/>
          <a:lstStyle/>
          <a:p>
            <a:pPr indent="0" marL="0">
              <a:buNone/>
            </a:pPr>
            <a:r>
              <a:rPr lang="en-US" sz="1400" b="1" dirty="0">
                <a:solidFill>
                  <a:srgbClr val="5B6B70"/>
                </a:solidFill>
                <a:latin typeface="Calibri" pitchFamily="34" charset="0"/>
                <a:ea typeface="Calibri" pitchFamily="34" charset="-122"/>
                <a:cs typeface="Calibri" pitchFamily="34" charset="-120"/>
              </a:rPr>
              <a:t>Judged on</a:t>
            </a:r>
            <a:endParaRPr lang="en-US" sz="1400" dirty="0"/>
          </a:p>
        </p:txBody>
      </p:sp>
      <p:sp>
        <p:nvSpPr>
          <p:cNvPr id="29" name="Shape 27"/>
          <p:cNvSpPr/>
          <p:nvPr/>
        </p:nvSpPr>
        <p:spPr>
          <a:xfrm>
            <a:off x="548640" y="5394960"/>
            <a:ext cx="1554480" cy="457200"/>
          </a:xfrm>
          <a:prstGeom prst="roundRect">
            <a:avLst>
              <a:gd name="adj" fmla="val 50000"/>
            </a:avLst>
          </a:prstGeom>
          <a:solidFill>
            <a:srgbClr val="FFFFFF"/>
          </a:solidFill>
          <a:ln w="15875">
            <a:solidFill>
              <a:srgbClr val="0E7C7B"/>
            </a:solidFill>
            <a:prstDash val="solid"/>
          </a:ln>
        </p:spPr>
      </p:sp>
      <p:sp>
        <p:nvSpPr>
          <p:cNvPr id="30" name="Text 28"/>
          <p:cNvSpPr txBox="1"/>
          <p:nvPr/>
        </p:nvSpPr>
        <p:spPr>
          <a:xfrm>
            <a:off x="548640" y="5394960"/>
            <a:ext cx="1554480" cy="457200"/>
          </a:xfrm>
          <a:prstGeom prst="rect">
            <a:avLst/>
          </a:prstGeom>
          <a:noFill/>
          <a:ln/>
        </p:spPr>
        <p:txBody>
          <a:bodyPr wrap="square" lIns="0" tIns="0" rIns="0" bIns="0" rtlCol="0" anchor="ctr"/>
          <a:lstStyle/>
          <a:p>
            <a:pPr algn="ctr" indent="0" marL="0">
              <a:buNone/>
            </a:pPr>
            <a:r>
              <a:rPr lang="en-US" sz="1350" dirty="0">
                <a:solidFill>
                  <a:srgbClr val="0A5C5B"/>
                </a:solidFill>
                <a:latin typeface="Calibri" pitchFamily="34" charset="0"/>
                <a:ea typeface="Calibri" pitchFamily="34" charset="-122"/>
                <a:cs typeface="Calibri" pitchFamily="34" charset="-120"/>
              </a:rPr>
              <a:t>the right URL</a:t>
            </a:r>
            <a:endParaRPr lang="en-US" sz="1350" dirty="0"/>
          </a:p>
        </p:txBody>
      </p:sp>
      <p:sp>
        <p:nvSpPr>
          <p:cNvPr id="31" name="Shape 29"/>
          <p:cNvSpPr/>
          <p:nvPr/>
        </p:nvSpPr>
        <p:spPr>
          <a:xfrm>
            <a:off x="2240280" y="5394960"/>
            <a:ext cx="3566160" cy="457200"/>
          </a:xfrm>
          <a:prstGeom prst="roundRect">
            <a:avLst>
              <a:gd name="adj" fmla="val 50000"/>
            </a:avLst>
          </a:prstGeom>
          <a:solidFill>
            <a:srgbClr val="FFFFFF"/>
          </a:solidFill>
          <a:ln w="15875">
            <a:solidFill>
              <a:srgbClr val="0E7C7B"/>
            </a:solidFill>
            <a:prstDash val="solid"/>
          </a:ln>
        </p:spPr>
      </p:sp>
      <p:sp>
        <p:nvSpPr>
          <p:cNvPr id="32" name="Text 30"/>
          <p:cNvSpPr txBox="1"/>
          <p:nvPr/>
        </p:nvSpPr>
        <p:spPr>
          <a:xfrm>
            <a:off x="2240280" y="5394960"/>
            <a:ext cx="3566160" cy="457200"/>
          </a:xfrm>
          <a:prstGeom prst="rect">
            <a:avLst/>
          </a:prstGeom>
          <a:noFill/>
          <a:ln/>
        </p:spPr>
        <p:txBody>
          <a:bodyPr wrap="square" lIns="0" tIns="0" rIns="0" bIns="0" rtlCol="0" anchor="ctr"/>
          <a:lstStyle/>
          <a:p>
            <a:pPr algn="ctr" indent="0" marL="0">
              <a:buNone/>
            </a:pPr>
            <a:r>
              <a:rPr lang="en-US" sz="1350" dirty="0">
                <a:solidFill>
                  <a:srgbClr val="0A5C5B"/>
                </a:solidFill>
                <a:latin typeface="Calibri" pitchFamily="34" charset="0"/>
                <a:ea typeface="Calibri" pitchFamily="34" charset="-122"/>
                <a:cs typeface="Calibri" pitchFamily="34" charset="-120"/>
              </a:rPr>
              <a:t>not fooled by similar or misleading matches</a:t>
            </a:r>
            <a:endParaRPr lang="en-US" sz="1350" dirty="0"/>
          </a:p>
        </p:txBody>
      </p:sp>
      <p:sp>
        <p:nvSpPr>
          <p:cNvPr id="33" name="Shape 31"/>
          <p:cNvSpPr/>
          <p:nvPr/>
        </p:nvSpPr>
        <p:spPr>
          <a:xfrm>
            <a:off x="5943600" y="5394960"/>
            <a:ext cx="2651760" cy="457200"/>
          </a:xfrm>
          <a:prstGeom prst="roundRect">
            <a:avLst>
              <a:gd name="adj" fmla="val 50000"/>
            </a:avLst>
          </a:prstGeom>
          <a:solidFill>
            <a:srgbClr val="FFFFFF"/>
          </a:solidFill>
          <a:ln w="15875">
            <a:solidFill>
              <a:srgbClr val="0E7C7B"/>
            </a:solidFill>
            <a:prstDash val="solid"/>
          </a:ln>
        </p:spPr>
      </p:sp>
      <p:sp>
        <p:nvSpPr>
          <p:cNvPr id="34" name="Text 32"/>
          <p:cNvSpPr txBox="1"/>
          <p:nvPr/>
        </p:nvSpPr>
        <p:spPr>
          <a:xfrm>
            <a:off x="5943600" y="5394960"/>
            <a:ext cx="2651760" cy="457200"/>
          </a:xfrm>
          <a:prstGeom prst="rect">
            <a:avLst/>
          </a:prstGeom>
          <a:noFill/>
          <a:ln/>
        </p:spPr>
        <p:txBody>
          <a:bodyPr wrap="square" lIns="0" tIns="0" rIns="0" bIns="0" rtlCol="0" anchor="ctr"/>
          <a:lstStyle/>
          <a:p>
            <a:pPr algn="ctr" indent="0" marL="0">
              <a:buNone/>
            </a:pPr>
            <a:r>
              <a:rPr lang="en-US" sz="1350" dirty="0">
                <a:solidFill>
                  <a:srgbClr val="0A5C5B"/>
                </a:solidFill>
                <a:latin typeface="Calibri" pitchFamily="34" charset="0"/>
                <a:ea typeface="Calibri" pitchFamily="34" charset="-122"/>
                <a:cs typeface="Calibri" pitchFamily="34" charset="-120"/>
              </a:rPr>
              <a:t>clear, transparent reasoning</a:t>
            </a:r>
            <a:endParaRPr lang="en-US" sz="1350" dirty="0"/>
          </a:p>
        </p:txBody>
      </p:sp>
      <p:sp>
        <p:nvSpPr>
          <p:cNvPr id="35" name="Shape 33"/>
          <p:cNvSpPr/>
          <p:nvPr/>
        </p:nvSpPr>
        <p:spPr>
          <a:xfrm>
            <a:off x="8732520" y="5394960"/>
            <a:ext cx="2377440" cy="457200"/>
          </a:xfrm>
          <a:prstGeom prst="roundRect">
            <a:avLst>
              <a:gd name="adj" fmla="val 50000"/>
            </a:avLst>
          </a:prstGeom>
          <a:solidFill>
            <a:srgbClr val="FFFFFF"/>
          </a:solidFill>
          <a:ln w="15875">
            <a:solidFill>
              <a:srgbClr val="0E7C7B"/>
            </a:solidFill>
            <a:prstDash val="solid"/>
          </a:ln>
        </p:spPr>
      </p:sp>
      <p:sp>
        <p:nvSpPr>
          <p:cNvPr id="36" name="Text 34"/>
          <p:cNvSpPr txBox="1"/>
          <p:nvPr/>
        </p:nvSpPr>
        <p:spPr>
          <a:xfrm>
            <a:off x="8732520" y="5394960"/>
            <a:ext cx="2377440" cy="457200"/>
          </a:xfrm>
          <a:prstGeom prst="rect">
            <a:avLst/>
          </a:prstGeom>
          <a:noFill/>
          <a:ln/>
        </p:spPr>
        <p:txBody>
          <a:bodyPr wrap="square" lIns="0" tIns="0" rIns="0" bIns="0" rtlCol="0" anchor="ctr"/>
          <a:lstStyle/>
          <a:p>
            <a:pPr algn="ctr" indent="0" marL="0">
              <a:buNone/>
            </a:pPr>
            <a:r>
              <a:rPr lang="en-US" sz="1350" dirty="0">
                <a:solidFill>
                  <a:srgbClr val="0A5C5B"/>
                </a:solidFill>
                <a:latin typeface="Calibri" pitchFamily="34" charset="0"/>
                <a:ea typeface="Calibri" pitchFamily="34" charset="-122"/>
                <a:cs typeface="Calibri" pitchFamily="34" charset="-120"/>
              </a:rPr>
              <a:t>beyond keyword matching</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300" kern="0" dirty="0">
                <a:solidFill>
                  <a:srgbClr val="0E7C7B"/>
                </a:solidFill>
                <a:latin typeface="Calibri" pitchFamily="34" charset="0"/>
                <a:ea typeface="Calibri" pitchFamily="34" charset="-122"/>
                <a:cs typeface="Calibri" pitchFamily="34" charset="-120"/>
              </a:rPr>
              <a:t>WHAT THE DATA ACTUALLY GAVE US</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F2D33"/>
                </a:solidFill>
                <a:latin typeface="Cambria" pitchFamily="34" charset="0"/>
                <a:ea typeface="Cambria" pitchFamily="34" charset="-122"/>
                <a:cs typeface="Cambria" pitchFamily="34" charset="-120"/>
              </a:rPr>
              <a:t>We measured the dataset before designing anything</a:t>
            </a:r>
            <a:endParaRPr lang="en-US" sz="3000" dirty="0"/>
          </a:p>
        </p:txBody>
      </p:sp>
      <p:sp>
        <p:nvSpPr>
          <p:cNvPr id="4" name="Shape 2"/>
          <p:cNvSpPr/>
          <p:nvPr/>
        </p:nvSpPr>
        <p:spPr>
          <a:xfrm>
            <a:off x="548640" y="1554480"/>
            <a:ext cx="3520440" cy="2212848"/>
          </a:xfrm>
          <a:prstGeom prst="roundRect">
            <a:avLst>
              <a:gd name="adj" fmla="val 3306"/>
            </a:avLst>
          </a:prstGeom>
          <a:solidFill>
            <a:srgbClr val="E6F4F1"/>
          </a:solidFill>
          <a:ln w="12700">
            <a:solidFill>
              <a:srgbClr val="E6F4F1"/>
            </a:solidFill>
            <a:prstDash val="solid"/>
          </a:ln>
        </p:spPr>
      </p:sp>
      <p:sp>
        <p:nvSpPr>
          <p:cNvPr id="5" name="Text 3"/>
          <p:cNvSpPr txBox="1"/>
          <p:nvPr/>
        </p:nvSpPr>
        <p:spPr>
          <a:xfrm>
            <a:off x="777240" y="1719072"/>
            <a:ext cx="3108960" cy="566928"/>
          </a:xfrm>
          <a:prstGeom prst="rect">
            <a:avLst/>
          </a:prstGeom>
          <a:noFill/>
          <a:ln/>
        </p:spPr>
        <p:txBody>
          <a:bodyPr wrap="square" lIns="0" tIns="0" rIns="0" bIns="0" rtlCol="0" anchor="t"/>
          <a:lstStyle/>
          <a:p>
            <a:pPr indent="0" marL="0">
              <a:buNone/>
            </a:pPr>
            <a:r>
              <a:rPr lang="en-US" sz="3000" b="1" dirty="0">
                <a:solidFill>
                  <a:srgbClr val="C0492F"/>
                </a:solidFill>
                <a:latin typeface="Cambria" pitchFamily="34" charset="0"/>
                <a:ea typeface="Cambria" pitchFamily="34" charset="-122"/>
                <a:cs typeface="Cambria" pitchFamily="34" charset="-120"/>
              </a:rPr>
              <a:t>0</a:t>
            </a:r>
            <a:endParaRPr lang="en-US" sz="3000" dirty="0"/>
          </a:p>
        </p:txBody>
      </p:sp>
      <p:sp>
        <p:nvSpPr>
          <p:cNvPr id="6" name="Text 4"/>
          <p:cNvSpPr txBox="1"/>
          <p:nvPr/>
        </p:nvSpPr>
        <p:spPr>
          <a:xfrm>
            <a:off x="777240" y="2322576"/>
            <a:ext cx="3108960" cy="749808"/>
          </a:xfrm>
          <a:prstGeom prst="rect">
            <a:avLst/>
          </a:prstGeom>
          <a:noFill/>
          <a:ln/>
        </p:spPr>
        <p:txBody>
          <a:bodyPr wrap="square" lIns="0" tIns="0" rIns="0" bIns="0" rtlCol="0" anchor="t"/>
          <a:lstStyle/>
          <a:p>
            <a:pPr indent="0" marL="0">
              <a:buNone/>
            </a:pPr>
            <a:r>
              <a:rPr lang="en-US" sz="1300" dirty="0">
                <a:solidFill>
                  <a:srgbClr val="1F2D33"/>
                </a:solidFill>
                <a:latin typeface="Calibri" pitchFamily="34" charset="0"/>
                <a:ea typeface="Calibri" pitchFamily="34" charset="-122"/>
                <a:cs typeface="Calibri" pitchFamily="34" charset="-120"/>
              </a:rPr>
              <a:t>candidate web pages supplied — PRODUCT_URL is empty in every row</a:t>
            </a:r>
            <a:endParaRPr lang="en-US" sz="1300" dirty="0"/>
          </a:p>
        </p:txBody>
      </p:sp>
      <p:sp>
        <p:nvSpPr>
          <p:cNvPr id="7" name="Text 5"/>
          <p:cNvSpPr txBox="1"/>
          <p:nvPr/>
        </p:nvSpPr>
        <p:spPr>
          <a:xfrm>
            <a:off x="777240" y="3090672"/>
            <a:ext cx="3108960" cy="566928"/>
          </a:xfrm>
          <a:prstGeom prst="rect">
            <a:avLst/>
          </a:prstGeom>
          <a:noFill/>
          <a:ln/>
        </p:spPr>
        <p:txBody>
          <a:bodyPr wrap="square" lIns="0" tIns="0" rIns="0" bIns="0" rtlCol="0" anchor="t"/>
          <a:lstStyle/>
          <a:p>
            <a:pPr indent="0" marL="0">
              <a:buNone/>
            </a:pPr>
            <a:r>
              <a:rPr lang="en-US" sz="1250" b="1" dirty="0">
                <a:solidFill>
                  <a:srgbClr val="0A5C5B"/>
                </a:solidFill>
                <a:latin typeface="Calibri" pitchFamily="34" charset="0"/>
                <a:ea typeface="Calibri" pitchFamily="34" charset="-122"/>
                <a:cs typeface="Calibri" pitchFamily="34" charset="-120"/>
              </a:rPr>
              <a:t>→ Built our own retrieval: 5 query strategies, fetch, extract</a:t>
            </a:r>
            <a:endParaRPr lang="en-US" sz="1250" dirty="0"/>
          </a:p>
        </p:txBody>
      </p:sp>
      <p:sp>
        <p:nvSpPr>
          <p:cNvPr id="8" name="Shape 6"/>
          <p:cNvSpPr/>
          <p:nvPr/>
        </p:nvSpPr>
        <p:spPr>
          <a:xfrm>
            <a:off x="4297680" y="1554480"/>
            <a:ext cx="3520440" cy="2212848"/>
          </a:xfrm>
          <a:prstGeom prst="roundRect">
            <a:avLst>
              <a:gd name="adj" fmla="val 3306"/>
            </a:avLst>
          </a:prstGeom>
          <a:solidFill>
            <a:srgbClr val="E6F4F1"/>
          </a:solidFill>
          <a:ln w="12700">
            <a:solidFill>
              <a:srgbClr val="E6F4F1"/>
            </a:solidFill>
            <a:prstDash val="solid"/>
          </a:ln>
        </p:spPr>
      </p:sp>
      <p:sp>
        <p:nvSpPr>
          <p:cNvPr id="9" name="Text 7"/>
          <p:cNvSpPr txBox="1"/>
          <p:nvPr/>
        </p:nvSpPr>
        <p:spPr>
          <a:xfrm>
            <a:off x="4526280" y="1719072"/>
            <a:ext cx="3108960" cy="566928"/>
          </a:xfrm>
          <a:prstGeom prst="rect">
            <a:avLst/>
          </a:prstGeom>
          <a:noFill/>
          <a:ln/>
        </p:spPr>
        <p:txBody>
          <a:bodyPr wrap="square" lIns="0" tIns="0" rIns="0" bIns="0" rtlCol="0" anchor="t"/>
          <a:lstStyle/>
          <a:p>
            <a:pPr indent="0" marL="0">
              <a:buNone/>
            </a:pPr>
            <a:r>
              <a:rPr lang="en-US" sz="3000" b="1" dirty="0">
                <a:solidFill>
                  <a:srgbClr val="C0492F"/>
                </a:solidFill>
                <a:latin typeface="Cambria" pitchFamily="34" charset="0"/>
                <a:ea typeface="Cambria" pitchFamily="34" charset="-122"/>
                <a:cs typeface="Cambria" pitchFamily="34" charset="-120"/>
              </a:rPr>
              <a:t>377 / 412</a:t>
            </a:r>
            <a:endParaRPr lang="en-US" sz="3000" dirty="0"/>
          </a:p>
        </p:txBody>
      </p:sp>
      <p:sp>
        <p:nvSpPr>
          <p:cNvPr id="10" name="Text 8"/>
          <p:cNvSpPr txBox="1"/>
          <p:nvPr/>
        </p:nvSpPr>
        <p:spPr>
          <a:xfrm>
            <a:off x="4526280" y="2322576"/>
            <a:ext cx="3108960" cy="749808"/>
          </a:xfrm>
          <a:prstGeom prst="rect">
            <a:avLst/>
          </a:prstGeom>
          <a:noFill/>
          <a:ln/>
        </p:spPr>
        <p:txBody>
          <a:bodyPr wrap="square" lIns="0" tIns="0" rIns="0" bIns="0" rtlCol="0" anchor="t"/>
          <a:lstStyle/>
          <a:p>
            <a:pPr indent="0" marL="0">
              <a:buNone/>
            </a:pPr>
            <a:r>
              <a:rPr lang="en-US" sz="1300" dirty="0">
                <a:solidFill>
                  <a:srgbClr val="1F2D33"/>
                </a:solidFill>
                <a:latin typeface="Calibri" pitchFamily="34" charset="0"/>
                <a:ea typeface="Calibri" pitchFamily="34" charset="-122"/>
                <a:cs typeface="Calibri" pitchFamily="34" charset="-120"/>
              </a:rPr>
              <a:t>dev barcodes destroyed by an Excel number format (rounded to 3 digits)</a:t>
            </a:r>
            <a:endParaRPr lang="en-US" sz="1300" dirty="0"/>
          </a:p>
        </p:txBody>
      </p:sp>
      <p:sp>
        <p:nvSpPr>
          <p:cNvPr id="11" name="Text 9"/>
          <p:cNvSpPr txBox="1"/>
          <p:nvPr/>
        </p:nvSpPr>
        <p:spPr>
          <a:xfrm>
            <a:off x="4526280" y="3090672"/>
            <a:ext cx="3108960" cy="566928"/>
          </a:xfrm>
          <a:prstGeom prst="rect">
            <a:avLst/>
          </a:prstGeom>
          <a:noFill/>
          <a:ln/>
        </p:spPr>
        <p:txBody>
          <a:bodyPr wrap="square" lIns="0" tIns="0" rIns="0" bIns="0" rtlCol="0" anchor="t"/>
          <a:lstStyle/>
          <a:p>
            <a:pPr indent="0" marL="0">
              <a:buNone/>
            </a:pPr>
            <a:r>
              <a:rPr lang="en-US" sz="1250" b="1" dirty="0">
                <a:solidFill>
                  <a:srgbClr val="0A5C5B"/>
                </a:solidFill>
                <a:latin typeface="Calibri" pitchFamily="34" charset="0"/>
                <a:ea typeface="Calibri" pitchFamily="34" charset="-122"/>
                <a:cs typeface="Calibri" pitchFamily="34" charset="-120"/>
              </a:rPr>
              <a:t>→ A rounded barcode is never used as an identifier</a:t>
            </a:r>
            <a:endParaRPr lang="en-US" sz="1250" dirty="0"/>
          </a:p>
        </p:txBody>
      </p:sp>
      <p:sp>
        <p:nvSpPr>
          <p:cNvPr id="12" name="Shape 10"/>
          <p:cNvSpPr/>
          <p:nvPr/>
        </p:nvSpPr>
        <p:spPr>
          <a:xfrm>
            <a:off x="8046720" y="1554480"/>
            <a:ext cx="3520440" cy="2212848"/>
          </a:xfrm>
          <a:prstGeom prst="roundRect">
            <a:avLst>
              <a:gd name="adj" fmla="val 3306"/>
            </a:avLst>
          </a:prstGeom>
          <a:solidFill>
            <a:srgbClr val="E6F4F1"/>
          </a:solidFill>
          <a:ln w="12700">
            <a:solidFill>
              <a:srgbClr val="E6F4F1"/>
            </a:solidFill>
            <a:prstDash val="solid"/>
          </a:ln>
        </p:spPr>
      </p:sp>
      <p:sp>
        <p:nvSpPr>
          <p:cNvPr id="13" name="Text 11"/>
          <p:cNvSpPr txBox="1"/>
          <p:nvPr/>
        </p:nvSpPr>
        <p:spPr>
          <a:xfrm>
            <a:off x="8275320" y="1719072"/>
            <a:ext cx="3108960" cy="566928"/>
          </a:xfrm>
          <a:prstGeom prst="rect">
            <a:avLst/>
          </a:prstGeom>
          <a:noFill/>
          <a:ln/>
        </p:spPr>
        <p:txBody>
          <a:bodyPr wrap="square" lIns="0" tIns="0" rIns="0" bIns="0" rtlCol="0" anchor="t"/>
          <a:lstStyle/>
          <a:p>
            <a:pPr indent="0" marL="0">
              <a:buNone/>
            </a:pPr>
            <a:r>
              <a:rPr lang="en-US" sz="3000" b="1" dirty="0">
                <a:solidFill>
                  <a:srgbClr val="C0492F"/>
                </a:solidFill>
                <a:latin typeface="Cambria" pitchFamily="34" charset="0"/>
                <a:ea typeface="Cambria" pitchFamily="34" charset="-122"/>
                <a:cs typeface="Cambria" pitchFamily="34" charset="-120"/>
              </a:rPr>
              <a:t>3 columns</a:t>
            </a:r>
            <a:endParaRPr lang="en-US" sz="3000" dirty="0"/>
          </a:p>
        </p:txBody>
      </p:sp>
      <p:sp>
        <p:nvSpPr>
          <p:cNvPr id="14" name="Text 12"/>
          <p:cNvSpPr txBox="1"/>
          <p:nvPr/>
        </p:nvSpPr>
        <p:spPr>
          <a:xfrm>
            <a:off x="8275320" y="2322576"/>
            <a:ext cx="3108960" cy="749808"/>
          </a:xfrm>
          <a:prstGeom prst="rect">
            <a:avLst/>
          </a:prstGeom>
          <a:noFill/>
          <a:ln/>
        </p:spPr>
        <p:txBody>
          <a:bodyPr wrap="square" lIns="0" tIns="0" rIns="0" bIns="0" rtlCol="0" anchor="t"/>
          <a:lstStyle/>
          <a:p>
            <a:pPr indent="0" marL="0">
              <a:buNone/>
            </a:pPr>
            <a:r>
              <a:rPr lang="en-US" sz="1300" dirty="0">
                <a:solidFill>
                  <a:srgbClr val="1F2D33"/>
                </a:solidFill>
                <a:latin typeface="Calibri" pitchFamily="34" charset="0"/>
                <a:ea typeface="Calibri" pitchFamily="34" charset="-122"/>
                <a:cs typeface="Calibri" pitchFamily="34" charset="-120"/>
              </a:rPr>
              <a:t>EXTERNAL_CODE, NAN_KEY and ITEM_CODE all carry the rounding — NAN_KEY collides across products</a:t>
            </a:r>
            <a:endParaRPr lang="en-US" sz="1300" dirty="0"/>
          </a:p>
        </p:txBody>
      </p:sp>
      <p:sp>
        <p:nvSpPr>
          <p:cNvPr id="15" name="Text 13"/>
          <p:cNvSpPr txBox="1"/>
          <p:nvPr/>
        </p:nvSpPr>
        <p:spPr>
          <a:xfrm>
            <a:off x="8275320" y="3090672"/>
            <a:ext cx="3108960" cy="566928"/>
          </a:xfrm>
          <a:prstGeom prst="rect">
            <a:avLst/>
          </a:prstGeom>
          <a:noFill/>
          <a:ln/>
        </p:spPr>
        <p:txBody>
          <a:bodyPr wrap="square" lIns="0" tIns="0" rIns="0" bIns="0" rtlCol="0" anchor="t"/>
          <a:lstStyle/>
          <a:p>
            <a:pPr indent="0" marL="0">
              <a:buNone/>
            </a:pPr>
            <a:r>
              <a:rPr lang="en-US" sz="1250" b="1" dirty="0">
                <a:solidFill>
                  <a:srgbClr val="0A5C5B"/>
                </a:solidFill>
                <a:latin typeface="Calibri" pitchFamily="34" charset="0"/>
                <a:ea typeface="Calibri" pitchFamily="34" charset="-122"/>
                <a:cs typeface="Calibri" pitchFamily="34" charset="-120"/>
              </a:rPr>
              <a:t>→ Row identity is our own row_uid, never NAN_KEY</a:t>
            </a:r>
            <a:endParaRPr lang="en-US" sz="1250" dirty="0"/>
          </a:p>
        </p:txBody>
      </p:sp>
      <p:sp>
        <p:nvSpPr>
          <p:cNvPr id="16" name="Shape 14"/>
          <p:cNvSpPr/>
          <p:nvPr/>
        </p:nvSpPr>
        <p:spPr>
          <a:xfrm>
            <a:off x="548640" y="3950208"/>
            <a:ext cx="3520440" cy="2212848"/>
          </a:xfrm>
          <a:prstGeom prst="roundRect">
            <a:avLst>
              <a:gd name="adj" fmla="val 3306"/>
            </a:avLst>
          </a:prstGeom>
          <a:solidFill>
            <a:srgbClr val="E6F4F1"/>
          </a:solidFill>
          <a:ln w="12700">
            <a:solidFill>
              <a:srgbClr val="E6F4F1"/>
            </a:solidFill>
            <a:prstDash val="solid"/>
          </a:ln>
        </p:spPr>
      </p:sp>
      <p:sp>
        <p:nvSpPr>
          <p:cNvPr id="17" name="Text 15"/>
          <p:cNvSpPr txBox="1"/>
          <p:nvPr/>
        </p:nvSpPr>
        <p:spPr>
          <a:xfrm>
            <a:off x="777240" y="4114800"/>
            <a:ext cx="3108960" cy="566928"/>
          </a:xfrm>
          <a:prstGeom prst="rect">
            <a:avLst/>
          </a:prstGeom>
          <a:noFill/>
          <a:ln/>
        </p:spPr>
        <p:txBody>
          <a:bodyPr wrap="square" lIns="0" tIns="0" rIns="0" bIns="0" rtlCol="0" anchor="t"/>
          <a:lstStyle/>
          <a:p>
            <a:pPr indent="0" marL="0">
              <a:buNone/>
            </a:pPr>
            <a:r>
              <a:rPr lang="en-US" sz="3000" b="1" dirty="0">
                <a:solidFill>
                  <a:srgbClr val="C0492F"/>
                </a:solidFill>
                <a:latin typeface="Cambria" pitchFamily="34" charset="0"/>
                <a:ea typeface="Cambria" pitchFamily="34" charset="-122"/>
                <a:cs typeface="Cambria" pitchFamily="34" charset="-120"/>
              </a:rPr>
              <a:t>187</a:t>
            </a:r>
            <a:endParaRPr lang="en-US" sz="3000" dirty="0"/>
          </a:p>
        </p:txBody>
      </p:sp>
      <p:sp>
        <p:nvSpPr>
          <p:cNvPr id="18" name="Text 16"/>
          <p:cNvSpPr txBox="1"/>
          <p:nvPr/>
        </p:nvSpPr>
        <p:spPr>
          <a:xfrm>
            <a:off x="777240" y="4718304"/>
            <a:ext cx="3108960" cy="749808"/>
          </a:xfrm>
          <a:prstGeom prst="rect">
            <a:avLst/>
          </a:prstGeom>
          <a:noFill/>
          <a:ln/>
        </p:spPr>
        <p:txBody>
          <a:bodyPr wrap="square" lIns="0" tIns="0" rIns="0" bIns="0" rtlCol="0" anchor="t"/>
          <a:lstStyle/>
          <a:p>
            <a:pPr indent="0" marL="0">
              <a:buNone/>
            </a:pPr>
            <a:r>
              <a:rPr lang="en-US" sz="1300" dirty="0">
                <a:solidFill>
                  <a:srgbClr val="1F2D33"/>
                </a:solidFill>
                <a:latin typeface="Calibri" pitchFamily="34" charset="0"/>
                <a:ea typeface="Calibri" pitchFamily="34" charset="-122"/>
                <a:cs typeface="Calibri" pitchFamily="34" charset="-120"/>
              </a:rPr>
              <a:t>ground-truth values are '&amp;'-joined (e.g. ANTI BACTERIAL &amp; WHITENING)</a:t>
            </a:r>
            <a:endParaRPr lang="en-US" sz="1300" dirty="0"/>
          </a:p>
        </p:txBody>
      </p:sp>
      <p:sp>
        <p:nvSpPr>
          <p:cNvPr id="19" name="Text 17"/>
          <p:cNvSpPr txBox="1"/>
          <p:nvPr/>
        </p:nvSpPr>
        <p:spPr>
          <a:xfrm>
            <a:off x="777240" y="5486400"/>
            <a:ext cx="3108960" cy="566928"/>
          </a:xfrm>
          <a:prstGeom prst="rect">
            <a:avLst/>
          </a:prstGeom>
          <a:noFill/>
          <a:ln/>
        </p:spPr>
        <p:txBody>
          <a:bodyPr wrap="square" lIns="0" tIns="0" rIns="0" bIns="0" rtlCol="0" anchor="t"/>
          <a:lstStyle/>
          <a:p>
            <a:pPr indent="0" marL="0">
              <a:buNone/>
            </a:pPr>
            <a:r>
              <a:rPr lang="en-US" sz="1250" b="1" dirty="0">
                <a:solidFill>
                  <a:srgbClr val="0A5C5B"/>
                </a:solidFill>
                <a:latin typeface="Calibri" pitchFamily="34" charset="0"/>
                <a:ea typeface="Calibri" pitchFamily="34" charset="-122"/>
                <a:cs typeface="Calibri" pitchFamily="34" charset="-120"/>
              </a:rPr>
              <a:t>→ Validation per component — the organizers' own answers pass</a:t>
            </a:r>
            <a:endParaRPr lang="en-US" sz="1250" dirty="0"/>
          </a:p>
        </p:txBody>
      </p:sp>
      <p:sp>
        <p:nvSpPr>
          <p:cNvPr id="20" name="Shape 18"/>
          <p:cNvSpPr/>
          <p:nvPr/>
        </p:nvSpPr>
        <p:spPr>
          <a:xfrm>
            <a:off x="4297680" y="3950208"/>
            <a:ext cx="3520440" cy="2212848"/>
          </a:xfrm>
          <a:prstGeom prst="roundRect">
            <a:avLst>
              <a:gd name="adj" fmla="val 3306"/>
            </a:avLst>
          </a:prstGeom>
          <a:solidFill>
            <a:srgbClr val="E6F4F1"/>
          </a:solidFill>
          <a:ln w="12700">
            <a:solidFill>
              <a:srgbClr val="E6F4F1"/>
            </a:solidFill>
            <a:prstDash val="solid"/>
          </a:ln>
        </p:spPr>
      </p:sp>
      <p:sp>
        <p:nvSpPr>
          <p:cNvPr id="21" name="Text 19"/>
          <p:cNvSpPr txBox="1"/>
          <p:nvPr/>
        </p:nvSpPr>
        <p:spPr>
          <a:xfrm>
            <a:off x="4526280" y="4114800"/>
            <a:ext cx="3108960" cy="566928"/>
          </a:xfrm>
          <a:prstGeom prst="rect">
            <a:avLst/>
          </a:prstGeom>
          <a:noFill/>
          <a:ln/>
        </p:spPr>
        <p:txBody>
          <a:bodyPr wrap="square" lIns="0" tIns="0" rIns="0" bIns="0" rtlCol="0" anchor="t"/>
          <a:lstStyle/>
          <a:p>
            <a:pPr indent="0" marL="0">
              <a:buNone/>
            </a:pPr>
            <a:r>
              <a:rPr lang="en-US" sz="3000" b="1" dirty="0">
                <a:solidFill>
                  <a:srgbClr val="C0492F"/>
                </a:solidFill>
                <a:latin typeface="Cambria" pitchFamily="34" charset="0"/>
                <a:ea typeface="Cambria" pitchFamily="34" charset="-122"/>
                <a:cs typeface="Cambria" pitchFamily="34" charset="-120"/>
              </a:rPr>
              <a:t>21 / 50</a:t>
            </a:r>
            <a:endParaRPr lang="en-US" sz="3000" dirty="0"/>
          </a:p>
        </p:txBody>
      </p:sp>
      <p:sp>
        <p:nvSpPr>
          <p:cNvPr id="22" name="Text 20"/>
          <p:cNvSpPr txBox="1"/>
          <p:nvPr/>
        </p:nvSpPr>
        <p:spPr>
          <a:xfrm>
            <a:off x="4526280" y="4718304"/>
            <a:ext cx="3108960" cy="749808"/>
          </a:xfrm>
          <a:prstGeom prst="rect">
            <a:avLst/>
          </a:prstGeom>
          <a:noFill/>
          <a:ln/>
        </p:spPr>
        <p:txBody>
          <a:bodyPr wrap="square" lIns="0" tIns="0" rIns="0" bIns="0" rtlCol="0" anchor="t"/>
          <a:lstStyle/>
          <a:p>
            <a:pPr indent="0" marL="0">
              <a:buNone/>
            </a:pPr>
            <a:r>
              <a:rPr lang="en-US" sz="1300" dirty="0">
                <a:solidFill>
                  <a:srgbClr val="1F2D33"/>
                </a:solidFill>
                <a:latin typeface="Calibri" pitchFamily="34" charset="0"/>
                <a:ea typeface="Calibri" pitchFamily="34" charset="-122"/>
                <a:cs typeface="Calibri" pitchFamily="34" charset="-120"/>
              </a:rPr>
              <a:t>retailer strings a regex mis-parses — one silently: 'BOOTS (GB) (HOMESCAN)' → '(HOMESCAN)'</a:t>
            </a:r>
            <a:endParaRPr lang="en-US" sz="1300" dirty="0"/>
          </a:p>
        </p:txBody>
      </p:sp>
      <p:sp>
        <p:nvSpPr>
          <p:cNvPr id="23" name="Text 21"/>
          <p:cNvSpPr txBox="1"/>
          <p:nvPr/>
        </p:nvSpPr>
        <p:spPr>
          <a:xfrm>
            <a:off x="4526280" y="5486400"/>
            <a:ext cx="3108960" cy="566928"/>
          </a:xfrm>
          <a:prstGeom prst="rect">
            <a:avLst/>
          </a:prstGeom>
          <a:noFill/>
          <a:ln/>
        </p:spPr>
        <p:txBody>
          <a:bodyPr wrap="square" lIns="0" tIns="0" rIns="0" bIns="0" rtlCol="0" anchor="t"/>
          <a:lstStyle/>
          <a:p>
            <a:pPr indent="0" marL="0">
              <a:buNone/>
            </a:pPr>
            <a:r>
              <a:rPr lang="en-US" sz="1250" b="1" dirty="0">
                <a:solidFill>
                  <a:srgbClr val="0A5C5B"/>
                </a:solidFill>
                <a:latin typeface="Calibri" pitchFamily="34" charset="0"/>
                <a:ea typeface="Calibri" pitchFamily="34" charset="-122"/>
                <a:cs typeface="Calibri" pitchFamily="34" charset="-120"/>
              </a:rPr>
              <a:t>→ A hand-reviewed 50-entry table instead of a pattern</a:t>
            </a:r>
            <a:endParaRPr lang="en-US" sz="1250" dirty="0"/>
          </a:p>
        </p:txBody>
      </p:sp>
      <p:sp>
        <p:nvSpPr>
          <p:cNvPr id="24" name="Shape 22"/>
          <p:cNvSpPr/>
          <p:nvPr/>
        </p:nvSpPr>
        <p:spPr>
          <a:xfrm>
            <a:off x="8046720" y="3950208"/>
            <a:ext cx="3520440" cy="2212848"/>
          </a:xfrm>
          <a:prstGeom prst="roundRect">
            <a:avLst>
              <a:gd name="adj" fmla="val 3306"/>
            </a:avLst>
          </a:prstGeom>
          <a:solidFill>
            <a:srgbClr val="E6F4F1"/>
          </a:solidFill>
          <a:ln w="12700">
            <a:solidFill>
              <a:srgbClr val="E6F4F1"/>
            </a:solidFill>
            <a:prstDash val="solid"/>
          </a:ln>
        </p:spPr>
      </p:sp>
      <p:sp>
        <p:nvSpPr>
          <p:cNvPr id="25" name="Text 23"/>
          <p:cNvSpPr txBox="1"/>
          <p:nvPr/>
        </p:nvSpPr>
        <p:spPr>
          <a:xfrm>
            <a:off x="8275320" y="4114800"/>
            <a:ext cx="3108960" cy="566928"/>
          </a:xfrm>
          <a:prstGeom prst="rect">
            <a:avLst/>
          </a:prstGeom>
          <a:noFill/>
          <a:ln/>
        </p:spPr>
        <p:txBody>
          <a:bodyPr wrap="square" lIns="0" tIns="0" rIns="0" bIns="0" rtlCol="0" anchor="t"/>
          <a:lstStyle/>
          <a:p>
            <a:pPr indent="0" marL="0">
              <a:buNone/>
            </a:pPr>
            <a:r>
              <a:rPr lang="en-US" sz="3000" b="1" dirty="0">
                <a:solidFill>
                  <a:srgbClr val="C0492F"/>
                </a:solidFill>
                <a:latin typeface="Cambria" pitchFamily="34" charset="0"/>
                <a:ea typeface="Cambria" pitchFamily="34" charset="-122"/>
                <a:cs typeface="Cambria" pitchFamily="34" charset="-120"/>
              </a:rPr>
              <a:t>0</a:t>
            </a:r>
            <a:endParaRPr lang="en-US" sz="3000" dirty="0"/>
          </a:p>
        </p:txBody>
      </p:sp>
      <p:sp>
        <p:nvSpPr>
          <p:cNvPr id="26" name="Text 24"/>
          <p:cNvSpPr txBox="1"/>
          <p:nvPr/>
        </p:nvSpPr>
        <p:spPr>
          <a:xfrm>
            <a:off x="8275320" y="4718304"/>
            <a:ext cx="3108960" cy="749808"/>
          </a:xfrm>
          <a:prstGeom prst="rect">
            <a:avLst/>
          </a:prstGeom>
          <a:noFill/>
          <a:ln/>
        </p:spPr>
        <p:txBody>
          <a:bodyPr wrap="square" lIns="0" tIns="0" rIns="0" bIns="0" rtlCol="0" anchor="t"/>
          <a:lstStyle/>
          <a:p>
            <a:pPr indent="0" marL="0">
              <a:buNone/>
            </a:pPr>
            <a:r>
              <a:rPr lang="en-US" sz="1300" dirty="0">
                <a:solidFill>
                  <a:srgbClr val="1F2D33"/>
                </a:solidFill>
                <a:latin typeface="Calibri" pitchFamily="34" charset="0"/>
                <a:ea typeface="Calibri" pitchFamily="34" charset="-122"/>
                <a:cs typeface="Calibri" pitchFamily="34" charset="-120"/>
              </a:rPr>
              <a:t>rows with URL ground truth</a:t>
            </a:r>
            <a:endParaRPr lang="en-US" sz="1300" dirty="0"/>
          </a:p>
        </p:txBody>
      </p:sp>
      <p:sp>
        <p:nvSpPr>
          <p:cNvPr id="27" name="Text 25"/>
          <p:cNvSpPr txBox="1"/>
          <p:nvPr/>
        </p:nvSpPr>
        <p:spPr>
          <a:xfrm>
            <a:off x="8275320" y="5486400"/>
            <a:ext cx="3108960" cy="566928"/>
          </a:xfrm>
          <a:prstGeom prst="rect">
            <a:avLst/>
          </a:prstGeom>
          <a:noFill/>
          <a:ln/>
        </p:spPr>
        <p:txBody>
          <a:bodyPr wrap="square" lIns="0" tIns="0" rIns="0" bIns="0" rtlCol="0" anchor="t"/>
          <a:lstStyle/>
          <a:p>
            <a:pPr indent="0" marL="0">
              <a:buNone/>
            </a:pPr>
            <a:r>
              <a:rPr lang="en-US" sz="1250" b="1" dirty="0">
                <a:solidFill>
                  <a:srgbClr val="0A5C5B"/>
                </a:solidFill>
                <a:latin typeface="Calibri" pitchFamily="34" charset="0"/>
                <a:ea typeface="Calibri" pitchFamily="34" charset="-122"/>
                <a:cs typeface="Calibri" pitchFamily="34" charset="-120"/>
              </a:rPr>
              <a:t>→ Evaluation from the barcode itself: a page's GTIN confirms or refutes it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300" kern="0" dirty="0">
                <a:solidFill>
                  <a:srgbClr val="0E7C7B"/>
                </a:solidFill>
                <a:latin typeface="Calibri" pitchFamily="34" charset="0"/>
                <a:ea typeface="Calibri" pitchFamily="34" charset="-122"/>
                <a:cs typeface="Calibri" pitchFamily="34" charset="-120"/>
              </a:rPr>
              <a:t>ARCHITECTURE</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F2D33"/>
                </a:solidFill>
                <a:latin typeface="Cambria" pitchFamily="34" charset="0"/>
                <a:ea typeface="Cambria" pitchFamily="34" charset="-122"/>
                <a:cs typeface="Cambria" pitchFamily="34" charset="-120"/>
              </a:rPr>
              <a:t>Eight deterministic stages; the model is a bounded part</a:t>
            </a:r>
            <a:endParaRPr lang="en-US" sz="3000" dirty="0"/>
          </a:p>
        </p:txBody>
      </p:sp>
      <p:sp>
        <p:nvSpPr>
          <p:cNvPr id="4" name="Shape 2"/>
          <p:cNvSpPr/>
          <p:nvPr/>
        </p:nvSpPr>
        <p:spPr>
          <a:xfrm>
            <a:off x="548640" y="1691640"/>
            <a:ext cx="2103120" cy="1783080"/>
          </a:xfrm>
          <a:prstGeom prst="roundRect">
            <a:avLst>
              <a:gd name="adj" fmla="val 4103"/>
            </a:avLst>
          </a:prstGeom>
          <a:solidFill>
            <a:srgbClr val="E6F4F1"/>
          </a:solidFill>
          <a:ln w="12700">
            <a:solidFill>
              <a:srgbClr val="E6F4F1"/>
            </a:solidFill>
            <a:prstDash val="solid"/>
          </a:ln>
        </p:spPr>
      </p:sp>
      <p:sp>
        <p:nvSpPr>
          <p:cNvPr id="5" name="Shape 3"/>
          <p:cNvSpPr/>
          <p:nvPr/>
        </p:nvSpPr>
        <p:spPr>
          <a:xfrm>
            <a:off x="713232" y="1856232"/>
            <a:ext cx="365760" cy="365760"/>
          </a:xfrm>
          <a:prstGeom prst="ellipse">
            <a:avLst/>
          </a:prstGeom>
          <a:solidFill>
            <a:srgbClr val="0E7C7B"/>
          </a:solidFill>
          <a:ln w="12700">
            <a:solidFill>
              <a:srgbClr val="0E7C7B"/>
            </a:solidFill>
            <a:prstDash val="solid"/>
          </a:ln>
        </p:spPr>
      </p:sp>
      <p:sp>
        <p:nvSpPr>
          <p:cNvPr id="6" name="Text 4"/>
          <p:cNvSpPr txBox="1"/>
          <p:nvPr/>
        </p:nvSpPr>
        <p:spPr>
          <a:xfrm>
            <a:off x="713232" y="18562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a:t>
            </a:r>
            <a:endParaRPr lang="en-US" sz="1300" dirty="0"/>
          </a:p>
        </p:txBody>
      </p:sp>
      <p:sp>
        <p:nvSpPr>
          <p:cNvPr id="7" name="Text 5"/>
          <p:cNvSpPr txBox="1"/>
          <p:nvPr/>
        </p:nvSpPr>
        <p:spPr>
          <a:xfrm>
            <a:off x="1170432" y="1874520"/>
            <a:ext cx="1417320" cy="365760"/>
          </a:xfrm>
          <a:prstGeom prst="rect">
            <a:avLst/>
          </a:prstGeom>
          <a:noFill/>
          <a:ln/>
        </p:spPr>
        <p:txBody>
          <a:bodyPr wrap="square" lIns="0" tIns="0" rIns="0" bIns="0" rtlCol="0" anchor="ctr"/>
          <a:lstStyle/>
          <a:p>
            <a:pPr indent="0" marL="0">
              <a:buNone/>
            </a:pPr>
            <a:r>
              <a:rPr lang="en-US" sz="1450" b="1" dirty="0">
                <a:solidFill>
                  <a:srgbClr val="1F2D33"/>
                </a:solidFill>
                <a:latin typeface="Calibri" pitchFamily="34" charset="0"/>
                <a:ea typeface="Calibri" pitchFamily="34" charset="-122"/>
                <a:cs typeface="Calibri" pitchFamily="34" charset="-120"/>
              </a:rPr>
              <a:t>Normalize</a:t>
            </a:r>
            <a:endParaRPr lang="en-US" sz="1450" dirty="0"/>
          </a:p>
        </p:txBody>
      </p:sp>
      <p:sp>
        <p:nvSpPr>
          <p:cNvPr id="8" name="Text 6"/>
          <p:cNvSpPr txBox="1"/>
          <p:nvPr/>
        </p:nvSpPr>
        <p:spPr>
          <a:xfrm>
            <a:off x="713232" y="2350008"/>
            <a:ext cx="1810512" cy="1051560"/>
          </a:xfrm>
          <a:prstGeom prst="rect">
            <a:avLst/>
          </a:prstGeom>
          <a:noFill/>
          <a:ln/>
        </p:spPr>
        <p:txBody>
          <a:bodyPr wrap="square" lIns="0" tIns="0" rIns="0" bIns="0" rtlCol="0" anchor="t"/>
          <a:lstStyle/>
          <a:p>
            <a:pPr indent="0" marL="0">
              <a:buNone/>
            </a:pPr>
            <a:r>
              <a:rPr lang="en-US" sz="1150" dirty="0">
                <a:solidFill>
                  <a:srgbClr val="1F2D33"/>
                </a:solidFill>
                <a:latin typeface="Calibri" pitchFamily="34" charset="0"/>
                <a:ea typeface="Calibri" pitchFamily="34" charset="-122"/>
                <a:cs typeface="Calibri" pitchFamily="34" charset="-120"/>
              </a:rPr>
              <a:t>brand, size, pack count, variant words; every stripped token recorded</a:t>
            </a:r>
            <a:endParaRPr lang="en-US" sz="1150" dirty="0"/>
          </a:p>
        </p:txBody>
      </p:sp>
      <p:sp>
        <p:nvSpPr>
          <p:cNvPr id="9" name="Shape 7"/>
          <p:cNvSpPr/>
          <p:nvPr/>
        </p:nvSpPr>
        <p:spPr>
          <a:xfrm>
            <a:off x="2651760" y="2578608"/>
            <a:ext cx="182880" cy="0"/>
          </a:xfrm>
          <a:prstGeom prst="line">
            <a:avLst/>
          </a:prstGeom>
          <a:noFill/>
          <a:ln w="25400">
            <a:solidFill>
              <a:srgbClr val="0E7C7B"/>
            </a:solidFill>
            <a:prstDash val="solid"/>
            <a:tailEnd type="triangle"/>
          </a:ln>
        </p:spPr>
      </p:sp>
      <p:sp>
        <p:nvSpPr>
          <p:cNvPr id="10" name="Shape 8"/>
          <p:cNvSpPr/>
          <p:nvPr/>
        </p:nvSpPr>
        <p:spPr>
          <a:xfrm>
            <a:off x="2834640" y="1691640"/>
            <a:ext cx="2103120" cy="1783080"/>
          </a:xfrm>
          <a:prstGeom prst="roundRect">
            <a:avLst>
              <a:gd name="adj" fmla="val 4103"/>
            </a:avLst>
          </a:prstGeom>
          <a:solidFill>
            <a:srgbClr val="FCEFE1"/>
          </a:solidFill>
          <a:ln w="12700">
            <a:solidFill>
              <a:srgbClr val="FCEFE1"/>
            </a:solidFill>
            <a:prstDash val="solid"/>
          </a:ln>
        </p:spPr>
      </p:sp>
      <p:sp>
        <p:nvSpPr>
          <p:cNvPr id="11" name="Shape 9"/>
          <p:cNvSpPr/>
          <p:nvPr/>
        </p:nvSpPr>
        <p:spPr>
          <a:xfrm>
            <a:off x="2999232" y="1856232"/>
            <a:ext cx="365760" cy="365760"/>
          </a:xfrm>
          <a:prstGeom prst="ellipse">
            <a:avLst/>
          </a:prstGeom>
          <a:solidFill>
            <a:srgbClr val="D9822B"/>
          </a:solidFill>
          <a:ln w="12700">
            <a:solidFill>
              <a:srgbClr val="D9822B"/>
            </a:solidFill>
            <a:prstDash val="solid"/>
          </a:ln>
        </p:spPr>
      </p:sp>
      <p:sp>
        <p:nvSpPr>
          <p:cNvPr id="12" name="Text 10"/>
          <p:cNvSpPr txBox="1"/>
          <p:nvPr/>
        </p:nvSpPr>
        <p:spPr>
          <a:xfrm>
            <a:off x="2999232" y="18562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3" name="Text 11"/>
          <p:cNvSpPr txBox="1"/>
          <p:nvPr/>
        </p:nvSpPr>
        <p:spPr>
          <a:xfrm>
            <a:off x="3456432" y="1874520"/>
            <a:ext cx="1417320" cy="365760"/>
          </a:xfrm>
          <a:prstGeom prst="rect">
            <a:avLst/>
          </a:prstGeom>
          <a:noFill/>
          <a:ln/>
        </p:spPr>
        <p:txBody>
          <a:bodyPr wrap="square" lIns="0" tIns="0" rIns="0" bIns="0" rtlCol="0" anchor="ctr"/>
          <a:lstStyle/>
          <a:p>
            <a:pPr indent="0" marL="0">
              <a:buNone/>
            </a:pPr>
            <a:r>
              <a:rPr lang="en-US" sz="1450" b="1" dirty="0">
                <a:solidFill>
                  <a:srgbClr val="1F2D33"/>
                </a:solidFill>
                <a:latin typeface="Calibri" pitchFamily="34" charset="0"/>
                <a:ea typeface="Calibri" pitchFamily="34" charset="-122"/>
                <a:cs typeface="Calibri" pitchFamily="34" charset="-120"/>
              </a:rPr>
              <a:t>Registry memory</a:t>
            </a:r>
            <a:endParaRPr lang="en-US" sz="1450" dirty="0"/>
          </a:p>
        </p:txBody>
      </p:sp>
      <p:sp>
        <p:nvSpPr>
          <p:cNvPr id="14" name="Text 12"/>
          <p:cNvSpPr txBox="1"/>
          <p:nvPr/>
        </p:nvSpPr>
        <p:spPr>
          <a:xfrm>
            <a:off x="2999232" y="2350008"/>
            <a:ext cx="1810512" cy="1051560"/>
          </a:xfrm>
          <a:prstGeom prst="rect">
            <a:avLst/>
          </a:prstGeom>
          <a:noFill/>
          <a:ln/>
        </p:spPr>
        <p:txBody>
          <a:bodyPr wrap="square" lIns="0" tIns="0" rIns="0" bIns="0" rtlCol="0" anchor="t"/>
          <a:lstStyle/>
          <a:p>
            <a:pPr indent="0" marL="0">
              <a:buNone/>
            </a:pPr>
            <a:r>
              <a:rPr lang="en-US" sz="1150" dirty="0">
                <a:solidFill>
                  <a:srgbClr val="1F2D33"/>
                </a:solidFill>
                <a:latin typeface="Calibri" pitchFamily="34" charset="0"/>
                <a:ea typeface="Calibri" pitchFamily="34" charset="-122"/>
                <a:cs typeface="Calibri" pitchFamily="34" charset="-120"/>
              </a:rPr>
              <a:t>Tier 0 by barcode, Tier 1 by identity within a block; a hit skips search</a:t>
            </a:r>
            <a:endParaRPr lang="en-US" sz="1150" dirty="0"/>
          </a:p>
        </p:txBody>
      </p:sp>
      <p:sp>
        <p:nvSpPr>
          <p:cNvPr id="15" name="Shape 13"/>
          <p:cNvSpPr/>
          <p:nvPr/>
        </p:nvSpPr>
        <p:spPr>
          <a:xfrm>
            <a:off x="4937760" y="2578608"/>
            <a:ext cx="182880" cy="0"/>
          </a:xfrm>
          <a:prstGeom prst="line">
            <a:avLst/>
          </a:prstGeom>
          <a:noFill/>
          <a:ln w="25400">
            <a:solidFill>
              <a:srgbClr val="0E7C7B"/>
            </a:solidFill>
            <a:prstDash val="solid"/>
            <a:tailEnd type="triangle"/>
          </a:ln>
        </p:spPr>
      </p:sp>
      <p:sp>
        <p:nvSpPr>
          <p:cNvPr id="16" name="Shape 14"/>
          <p:cNvSpPr/>
          <p:nvPr/>
        </p:nvSpPr>
        <p:spPr>
          <a:xfrm>
            <a:off x="5120640" y="1691640"/>
            <a:ext cx="2103120" cy="1783080"/>
          </a:xfrm>
          <a:prstGeom prst="roundRect">
            <a:avLst>
              <a:gd name="adj" fmla="val 4103"/>
            </a:avLst>
          </a:prstGeom>
          <a:solidFill>
            <a:srgbClr val="E6F4F1"/>
          </a:solidFill>
          <a:ln w="12700">
            <a:solidFill>
              <a:srgbClr val="E6F4F1"/>
            </a:solidFill>
            <a:prstDash val="solid"/>
          </a:ln>
        </p:spPr>
      </p:sp>
      <p:sp>
        <p:nvSpPr>
          <p:cNvPr id="17" name="Shape 15"/>
          <p:cNvSpPr/>
          <p:nvPr/>
        </p:nvSpPr>
        <p:spPr>
          <a:xfrm>
            <a:off x="5285232" y="1856232"/>
            <a:ext cx="365760" cy="365760"/>
          </a:xfrm>
          <a:prstGeom prst="ellipse">
            <a:avLst/>
          </a:prstGeom>
          <a:solidFill>
            <a:srgbClr val="0E7C7B"/>
          </a:solidFill>
          <a:ln w="12700">
            <a:solidFill>
              <a:srgbClr val="0E7C7B"/>
            </a:solidFill>
            <a:prstDash val="solid"/>
          </a:ln>
        </p:spPr>
      </p:sp>
      <p:sp>
        <p:nvSpPr>
          <p:cNvPr id="18" name="Text 16"/>
          <p:cNvSpPr txBox="1"/>
          <p:nvPr/>
        </p:nvSpPr>
        <p:spPr>
          <a:xfrm>
            <a:off x="5285232" y="18562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Text 17"/>
          <p:cNvSpPr txBox="1"/>
          <p:nvPr/>
        </p:nvSpPr>
        <p:spPr>
          <a:xfrm>
            <a:off x="5742432" y="1874520"/>
            <a:ext cx="1417320" cy="365760"/>
          </a:xfrm>
          <a:prstGeom prst="rect">
            <a:avLst/>
          </a:prstGeom>
          <a:noFill/>
          <a:ln/>
        </p:spPr>
        <p:txBody>
          <a:bodyPr wrap="square" lIns="0" tIns="0" rIns="0" bIns="0" rtlCol="0" anchor="ctr"/>
          <a:lstStyle/>
          <a:p>
            <a:pPr indent="0" marL="0">
              <a:buNone/>
            </a:pPr>
            <a:r>
              <a:rPr lang="en-US" sz="1450" b="1" dirty="0">
                <a:solidFill>
                  <a:srgbClr val="1F2D33"/>
                </a:solidFill>
                <a:latin typeface="Calibri" pitchFamily="34" charset="0"/>
                <a:ea typeface="Calibri" pitchFamily="34" charset="-122"/>
                <a:cs typeface="Calibri" pitchFamily="34" charset="-120"/>
              </a:rPr>
              <a:t>Retrieve</a:t>
            </a:r>
            <a:endParaRPr lang="en-US" sz="1450" dirty="0"/>
          </a:p>
        </p:txBody>
      </p:sp>
      <p:sp>
        <p:nvSpPr>
          <p:cNvPr id="20" name="Text 18"/>
          <p:cNvSpPr txBox="1"/>
          <p:nvPr/>
        </p:nvSpPr>
        <p:spPr>
          <a:xfrm>
            <a:off x="5285232" y="2350008"/>
            <a:ext cx="1810512" cy="1051560"/>
          </a:xfrm>
          <a:prstGeom prst="rect">
            <a:avLst/>
          </a:prstGeom>
          <a:noFill/>
          <a:ln/>
        </p:spPr>
        <p:txBody>
          <a:bodyPr wrap="square" lIns="0" tIns="0" rIns="0" bIns="0" rtlCol="0" anchor="t"/>
          <a:lstStyle/>
          <a:p>
            <a:pPr indent="0" marL="0">
              <a:buNone/>
            </a:pPr>
            <a:r>
              <a:rPr lang="en-US" sz="1150" dirty="0">
                <a:solidFill>
                  <a:srgbClr val="1F2D33"/>
                </a:solidFill>
                <a:latin typeface="Calibri" pitchFamily="34" charset="0"/>
                <a:ea typeface="Calibri" pitchFamily="34" charset="-122"/>
                <a:cs typeface="Calibri" pitchFamily="34" charset="-120"/>
              </a:rPr>
              <a:t>5 strategies via Brave Search API or self-hosted SearxNG, cache-first</a:t>
            </a:r>
            <a:endParaRPr lang="en-US" sz="1150" dirty="0"/>
          </a:p>
        </p:txBody>
      </p:sp>
      <p:sp>
        <p:nvSpPr>
          <p:cNvPr id="21" name="Shape 19"/>
          <p:cNvSpPr/>
          <p:nvPr/>
        </p:nvSpPr>
        <p:spPr>
          <a:xfrm>
            <a:off x="7223760" y="2578608"/>
            <a:ext cx="182880" cy="0"/>
          </a:xfrm>
          <a:prstGeom prst="line">
            <a:avLst/>
          </a:prstGeom>
          <a:noFill/>
          <a:ln w="25400">
            <a:solidFill>
              <a:srgbClr val="0E7C7B"/>
            </a:solidFill>
            <a:prstDash val="solid"/>
            <a:tailEnd type="triangle"/>
          </a:ln>
        </p:spPr>
      </p:sp>
      <p:sp>
        <p:nvSpPr>
          <p:cNvPr id="22" name="Shape 20"/>
          <p:cNvSpPr/>
          <p:nvPr/>
        </p:nvSpPr>
        <p:spPr>
          <a:xfrm>
            <a:off x="7406640" y="1691640"/>
            <a:ext cx="2103120" cy="1783080"/>
          </a:xfrm>
          <a:prstGeom prst="roundRect">
            <a:avLst>
              <a:gd name="adj" fmla="val 4103"/>
            </a:avLst>
          </a:prstGeom>
          <a:solidFill>
            <a:srgbClr val="E6F4F1"/>
          </a:solidFill>
          <a:ln w="12700">
            <a:solidFill>
              <a:srgbClr val="E6F4F1"/>
            </a:solidFill>
            <a:prstDash val="solid"/>
          </a:ln>
        </p:spPr>
      </p:sp>
      <p:sp>
        <p:nvSpPr>
          <p:cNvPr id="23" name="Shape 21"/>
          <p:cNvSpPr/>
          <p:nvPr/>
        </p:nvSpPr>
        <p:spPr>
          <a:xfrm>
            <a:off x="7571232" y="1856232"/>
            <a:ext cx="365760" cy="365760"/>
          </a:xfrm>
          <a:prstGeom prst="ellipse">
            <a:avLst/>
          </a:prstGeom>
          <a:solidFill>
            <a:srgbClr val="0E7C7B"/>
          </a:solidFill>
          <a:ln w="12700">
            <a:solidFill>
              <a:srgbClr val="0E7C7B"/>
            </a:solidFill>
            <a:prstDash val="solid"/>
          </a:ln>
        </p:spPr>
      </p:sp>
      <p:sp>
        <p:nvSpPr>
          <p:cNvPr id="24" name="Text 22"/>
          <p:cNvSpPr txBox="1"/>
          <p:nvPr/>
        </p:nvSpPr>
        <p:spPr>
          <a:xfrm>
            <a:off x="7571232" y="18562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p:cNvSpPr txBox="1"/>
          <p:nvPr/>
        </p:nvSpPr>
        <p:spPr>
          <a:xfrm>
            <a:off x="8028432" y="1874520"/>
            <a:ext cx="1417320" cy="365760"/>
          </a:xfrm>
          <a:prstGeom prst="rect">
            <a:avLst/>
          </a:prstGeom>
          <a:noFill/>
          <a:ln/>
        </p:spPr>
        <p:txBody>
          <a:bodyPr wrap="square" lIns="0" tIns="0" rIns="0" bIns="0" rtlCol="0" anchor="ctr"/>
          <a:lstStyle/>
          <a:p>
            <a:pPr indent="0" marL="0">
              <a:buNone/>
            </a:pPr>
            <a:r>
              <a:rPr lang="en-US" sz="1450" b="1" dirty="0">
                <a:solidFill>
                  <a:srgbClr val="1F2D33"/>
                </a:solidFill>
                <a:latin typeface="Calibri" pitchFamily="34" charset="0"/>
                <a:ea typeface="Calibri" pitchFamily="34" charset="-122"/>
                <a:cs typeface="Calibri" pitchFamily="34" charset="-120"/>
              </a:rPr>
              <a:t>Fetch &amp; extract</a:t>
            </a:r>
            <a:endParaRPr lang="en-US" sz="1450" dirty="0"/>
          </a:p>
        </p:txBody>
      </p:sp>
      <p:sp>
        <p:nvSpPr>
          <p:cNvPr id="26" name="Text 24"/>
          <p:cNvSpPr txBox="1"/>
          <p:nvPr/>
        </p:nvSpPr>
        <p:spPr>
          <a:xfrm>
            <a:off x="7571232" y="2350008"/>
            <a:ext cx="1810512" cy="1051560"/>
          </a:xfrm>
          <a:prstGeom prst="rect">
            <a:avLst/>
          </a:prstGeom>
          <a:noFill/>
          <a:ln/>
        </p:spPr>
        <p:txBody>
          <a:bodyPr wrap="square" lIns="0" tIns="0" rIns="0" bIns="0" rtlCol="0" anchor="t"/>
          <a:lstStyle/>
          <a:p>
            <a:pPr indent="0" marL="0">
              <a:buNone/>
            </a:pPr>
            <a:r>
              <a:rPr lang="en-US" sz="1150" dirty="0">
                <a:solidFill>
                  <a:srgbClr val="1F2D33"/>
                </a:solidFill>
                <a:latin typeface="Calibri" pitchFamily="34" charset="0"/>
                <a:ea typeface="Calibri" pitchFamily="34" charset="-122"/>
                <a:cs typeface="Calibri" pitchFamily="34" charset="-120"/>
              </a:rPr>
              <a:t>robots, pacing, SSRF check per redirect; JSON-LD first</a:t>
            </a:r>
            <a:endParaRPr lang="en-US" sz="1150" dirty="0"/>
          </a:p>
        </p:txBody>
      </p:sp>
      <p:sp>
        <p:nvSpPr>
          <p:cNvPr id="27" name="Shape 25"/>
          <p:cNvSpPr/>
          <p:nvPr/>
        </p:nvSpPr>
        <p:spPr>
          <a:xfrm>
            <a:off x="9509760" y="2578608"/>
            <a:ext cx="182880" cy="0"/>
          </a:xfrm>
          <a:prstGeom prst="line">
            <a:avLst/>
          </a:prstGeom>
          <a:noFill/>
          <a:ln w="25400">
            <a:solidFill>
              <a:srgbClr val="0E7C7B"/>
            </a:solidFill>
            <a:prstDash val="solid"/>
            <a:tailEnd type="triangle"/>
          </a:ln>
        </p:spPr>
      </p:sp>
      <p:sp>
        <p:nvSpPr>
          <p:cNvPr id="28" name="Shape 26"/>
          <p:cNvSpPr/>
          <p:nvPr/>
        </p:nvSpPr>
        <p:spPr>
          <a:xfrm>
            <a:off x="9692640" y="1691640"/>
            <a:ext cx="2103120" cy="1783080"/>
          </a:xfrm>
          <a:prstGeom prst="roundRect">
            <a:avLst>
              <a:gd name="adj" fmla="val 4103"/>
            </a:avLst>
          </a:prstGeom>
          <a:solidFill>
            <a:srgbClr val="E6F4F1"/>
          </a:solidFill>
          <a:ln w="12700">
            <a:solidFill>
              <a:srgbClr val="E6F4F1"/>
            </a:solidFill>
            <a:prstDash val="solid"/>
          </a:ln>
        </p:spPr>
      </p:sp>
      <p:sp>
        <p:nvSpPr>
          <p:cNvPr id="29" name="Shape 27"/>
          <p:cNvSpPr/>
          <p:nvPr/>
        </p:nvSpPr>
        <p:spPr>
          <a:xfrm>
            <a:off x="9857232" y="1856232"/>
            <a:ext cx="365760" cy="365760"/>
          </a:xfrm>
          <a:prstGeom prst="ellipse">
            <a:avLst/>
          </a:prstGeom>
          <a:solidFill>
            <a:srgbClr val="0E7C7B"/>
          </a:solidFill>
          <a:ln w="12700">
            <a:solidFill>
              <a:srgbClr val="0E7C7B"/>
            </a:solidFill>
            <a:prstDash val="solid"/>
          </a:ln>
        </p:spPr>
      </p:sp>
      <p:sp>
        <p:nvSpPr>
          <p:cNvPr id="30" name="Text 28"/>
          <p:cNvSpPr txBox="1"/>
          <p:nvPr/>
        </p:nvSpPr>
        <p:spPr>
          <a:xfrm>
            <a:off x="9857232" y="18562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1" name="Text 29"/>
          <p:cNvSpPr txBox="1"/>
          <p:nvPr/>
        </p:nvSpPr>
        <p:spPr>
          <a:xfrm>
            <a:off x="10314432" y="1874520"/>
            <a:ext cx="1417320" cy="365760"/>
          </a:xfrm>
          <a:prstGeom prst="rect">
            <a:avLst/>
          </a:prstGeom>
          <a:noFill/>
          <a:ln/>
        </p:spPr>
        <p:txBody>
          <a:bodyPr wrap="square" lIns="0" tIns="0" rIns="0" bIns="0" rtlCol="0" anchor="ctr"/>
          <a:lstStyle/>
          <a:p>
            <a:pPr indent="0" marL="0">
              <a:buNone/>
            </a:pPr>
            <a:r>
              <a:rPr lang="en-US" sz="1450" b="1" dirty="0">
                <a:solidFill>
                  <a:srgbClr val="1F2D33"/>
                </a:solidFill>
                <a:latin typeface="Calibri" pitchFamily="34" charset="0"/>
                <a:ea typeface="Calibri" pitchFamily="34" charset="-122"/>
                <a:cs typeface="Calibri" pitchFamily="34" charset="-120"/>
              </a:rPr>
              <a:t>Match</a:t>
            </a:r>
            <a:endParaRPr lang="en-US" sz="1450" dirty="0"/>
          </a:p>
        </p:txBody>
      </p:sp>
      <p:sp>
        <p:nvSpPr>
          <p:cNvPr id="32" name="Text 30"/>
          <p:cNvSpPr txBox="1"/>
          <p:nvPr/>
        </p:nvSpPr>
        <p:spPr>
          <a:xfrm>
            <a:off x="9857232" y="2350008"/>
            <a:ext cx="1810512" cy="1051560"/>
          </a:xfrm>
          <a:prstGeom prst="rect">
            <a:avLst/>
          </a:prstGeom>
          <a:noFill/>
          <a:ln/>
        </p:spPr>
        <p:txBody>
          <a:bodyPr wrap="square" lIns="0" tIns="0" rIns="0" bIns="0" rtlCol="0" anchor="t"/>
          <a:lstStyle/>
          <a:p>
            <a:pPr indent="0" marL="0">
              <a:buNone/>
            </a:pPr>
            <a:r>
              <a:rPr lang="en-US" sz="1150" dirty="0">
                <a:solidFill>
                  <a:srgbClr val="1F2D33"/>
                </a:solidFill>
                <a:latin typeface="Calibri" pitchFamily="34" charset="0"/>
                <a:ea typeface="Calibri" pitchFamily="34" charset="-122"/>
                <a:cs typeface="Calibri" pitchFamily="34" charset="-120"/>
              </a:rPr>
              <a:t>hard rules, calibrated score; Tier 3 model tiebreak picks an index</a:t>
            </a:r>
            <a:endParaRPr lang="en-US" sz="1150" dirty="0"/>
          </a:p>
        </p:txBody>
      </p:sp>
      <p:sp>
        <p:nvSpPr>
          <p:cNvPr id="33" name="Shape 31"/>
          <p:cNvSpPr/>
          <p:nvPr/>
        </p:nvSpPr>
        <p:spPr>
          <a:xfrm>
            <a:off x="11173968" y="1545336"/>
            <a:ext cx="566928" cy="274320"/>
          </a:xfrm>
          <a:prstGeom prst="roundRect">
            <a:avLst>
              <a:gd name="adj" fmla="val 50000"/>
            </a:avLst>
          </a:prstGeom>
          <a:solidFill>
            <a:srgbClr val="D9822B"/>
          </a:solidFill>
          <a:ln w="12700">
            <a:solidFill>
              <a:srgbClr val="D9822B"/>
            </a:solidFill>
            <a:prstDash val="solid"/>
          </a:ln>
        </p:spPr>
      </p:sp>
      <p:sp>
        <p:nvSpPr>
          <p:cNvPr id="34" name="Text 32"/>
          <p:cNvSpPr txBox="1"/>
          <p:nvPr/>
        </p:nvSpPr>
        <p:spPr>
          <a:xfrm>
            <a:off x="11173968" y="154533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LLM</a:t>
            </a:r>
            <a:endParaRPr lang="en-US" sz="1050" dirty="0"/>
          </a:p>
        </p:txBody>
      </p:sp>
      <p:sp>
        <p:nvSpPr>
          <p:cNvPr id="35" name="Shape 33"/>
          <p:cNvSpPr/>
          <p:nvPr/>
        </p:nvSpPr>
        <p:spPr>
          <a:xfrm>
            <a:off x="1691640" y="4160520"/>
            <a:ext cx="2103120" cy="1783080"/>
          </a:xfrm>
          <a:prstGeom prst="roundRect">
            <a:avLst>
              <a:gd name="adj" fmla="val 4103"/>
            </a:avLst>
          </a:prstGeom>
          <a:solidFill>
            <a:srgbClr val="E6F4F1"/>
          </a:solidFill>
          <a:ln w="12700">
            <a:solidFill>
              <a:srgbClr val="E6F4F1"/>
            </a:solidFill>
            <a:prstDash val="solid"/>
          </a:ln>
        </p:spPr>
      </p:sp>
      <p:sp>
        <p:nvSpPr>
          <p:cNvPr id="36" name="Shape 34"/>
          <p:cNvSpPr/>
          <p:nvPr/>
        </p:nvSpPr>
        <p:spPr>
          <a:xfrm>
            <a:off x="1856232" y="4325112"/>
            <a:ext cx="365760" cy="365760"/>
          </a:xfrm>
          <a:prstGeom prst="ellipse">
            <a:avLst/>
          </a:prstGeom>
          <a:solidFill>
            <a:srgbClr val="0E7C7B"/>
          </a:solidFill>
          <a:ln w="12700">
            <a:solidFill>
              <a:srgbClr val="0E7C7B"/>
            </a:solidFill>
            <a:prstDash val="solid"/>
          </a:ln>
        </p:spPr>
      </p:sp>
      <p:sp>
        <p:nvSpPr>
          <p:cNvPr id="37" name="Text 35"/>
          <p:cNvSpPr txBox="1"/>
          <p:nvPr/>
        </p:nvSpPr>
        <p:spPr>
          <a:xfrm>
            <a:off x="1856232" y="43251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8" name="Text 36"/>
          <p:cNvSpPr txBox="1"/>
          <p:nvPr/>
        </p:nvSpPr>
        <p:spPr>
          <a:xfrm>
            <a:off x="2313432" y="4343400"/>
            <a:ext cx="1417320" cy="365760"/>
          </a:xfrm>
          <a:prstGeom prst="rect">
            <a:avLst/>
          </a:prstGeom>
          <a:noFill/>
          <a:ln/>
        </p:spPr>
        <p:txBody>
          <a:bodyPr wrap="square" lIns="0" tIns="0" rIns="0" bIns="0" rtlCol="0" anchor="ctr"/>
          <a:lstStyle/>
          <a:p>
            <a:pPr indent="0" marL="0">
              <a:buNone/>
            </a:pPr>
            <a:r>
              <a:rPr lang="en-US" sz="1450" b="1" dirty="0">
                <a:solidFill>
                  <a:srgbClr val="1F2D33"/>
                </a:solidFill>
                <a:latin typeface="Calibri" pitchFamily="34" charset="0"/>
                <a:ea typeface="Calibri" pitchFamily="34" charset="-122"/>
                <a:cs typeface="Calibri" pitchFamily="34" charset="-120"/>
              </a:rPr>
              <a:t>Classify module</a:t>
            </a:r>
            <a:endParaRPr lang="en-US" sz="1450" dirty="0"/>
          </a:p>
        </p:txBody>
      </p:sp>
      <p:sp>
        <p:nvSpPr>
          <p:cNvPr id="39" name="Text 37"/>
          <p:cNvSpPr txBox="1"/>
          <p:nvPr/>
        </p:nvSpPr>
        <p:spPr>
          <a:xfrm>
            <a:off x="1856232" y="4818888"/>
            <a:ext cx="1810512" cy="1051560"/>
          </a:xfrm>
          <a:prstGeom prst="rect">
            <a:avLst/>
          </a:prstGeom>
          <a:noFill/>
          <a:ln/>
        </p:spPr>
        <p:txBody>
          <a:bodyPr wrap="square" lIns="0" tIns="0" rIns="0" bIns="0" rtlCol="0" anchor="t"/>
          <a:lstStyle/>
          <a:p>
            <a:pPr indent="0" marL="0">
              <a:buNone/>
            </a:pPr>
            <a:r>
              <a:rPr lang="en-US" sz="1150" dirty="0">
                <a:solidFill>
                  <a:srgbClr val="1F2D33"/>
                </a:solidFill>
                <a:latin typeface="Calibri" pitchFamily="34" charset="0"/>
                <a:ea typeface="Calibri" pitchFamily="34" charset="-122"/>
                <a:cs typeface="Calibri" pitchFamily="34" charset="-120"/>
              </a:rPr>
              <a:t>char-4-gram nearest centroid; cites its nearest labelled row</a:t>
            </a:r>
            <a:endParaRPr lang="en-US" sz="1150" dirty="0"/>
          </a:p>
        </p:txBody>
      </p:sp>
      <p:sp>
        <p:nvSpPr>
          <p:cNvPr id="40" name="Shape 38"/>
          <p:cNvSpPr/>
          <p:nvPr/>
        </p:nvSpPr>
        <p:spPr>
          <a:xfrm>
            <a:off x="3794760" y="5047488"/>
            <a:ext cx="182880" cy="0"/>
          </a:xfrm>
          <a:prstGeom prst="line">
            <a:avLst/>
          </a:prstGeom>
          <a:noFill/>
          <a:ln w="25400">
            <a:solidFill>
              <a:srgbClr val="0E7C7B"/>
            </a:solidFill>
            <a:prstDash val="solid"/>
            <a:tailEnd type="triangle"/>
          </a:ln>
        </p:spPr>
      </p:sp>
      <p:sp>
        <p:nvSpPr>
          <p:cNvPr id="41" name="Shape 39"/>
          <p:cNvSpPr/>
          <p:nvPr/>
        </p:nvSpPr>
        <p:spPr>
          <a:xfrm>
            <a:off x="3977640" y="4160520"/>
            <a:ext cx="2103120" cy="1783080"/>
          </a:xfrm>
          <a:prstGeom prst="roundRect">
            <a:avLst>
              <a:gd name="adj" fmla="val 4103"/>
            </a:avLst>
          </a:prstGeom>
          <a:solidFill>
            <a:srgbClr val="E6F4F1"/>
          </a:solidFill>
          <a:ln w="12700">
            <a:solidFill>
              <a:srgbClr val="E6F4F1"/>
            </a:solidFill>
            <a:prstDash val="solid"/>
          </a:ln>
        </p:spPr>
      </p:sp>
      <p:sp>
        <p:nvSpPr>
          <p:cNvPr id="42" name="Shape 40"/>
          <p:cNvSpPr/>
          <p:nvPr/>
        </p:nvSpPr>
        <p:spPr>
          <a:xfrm>
            <a:off x="4142232" y="4325112"/>
            <a:ext cx="365760" cy="365760"/>
          </a:xfrm>
          <a:prstGeom prst="ellipse">
            <a:avLst/>
          </a:prstGeom>
          <a:solidFill>
            <a:srgbClr val="0E7C7B"/>
          </a:solidFill>
          <a:ln w="12700">
            <a:solidFill>
              <a:srgbClr val="0E7C7B"/>
            </a:solidFill>
            <a:prstDash val="solid"/>
          </a:ln>
        </p:spPr>
      </p:sp>
      <p:sp>
        <p:nvSpPr>
          <p:cNvPr id="43" name="Text 41"/>
          <p:cNvSpPr txBox="1"/>
          <p:nvPr/>
        </p:nvSpPr>
        <p:spPr>
          <a:xfrm>
            <a:off x="4142232" y="43251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4" name="Text 42"/>
          <p:cNvSpPr txBox="1"/>
          <p:nvPr/>
        </p:nvSpPr>
        <p:spPr>
          <a:xfrm>
            <a:off x="4599432" y="4343400"/>
            <a:ext cx="1417320" cy="365760"/>
          </a:xfrm>
          <a:prstGeom prst="rect">
            <a:avLst/>
          </a:prstGeom>
          <a:noFill/>
          <a:ln/>
        </p:spPr>
        <p:txBody>
          <a:bodyPr wrap="square" lIns="0" tIns="0" rIns="0" bIns="0" rtlCol="0" anchor="ctr"/>
          <a:lstStyle/>
          <a:p>
            <a:pPr indent="0" marL="0">
              <a:buNone/>
            </a:pPr>
            <a:r>
              <a:rPr lang="en-US" sz="1450" b="1" dirty="0">
                <a:solidFill>
                  <a:srgbClr val="1F2D33"/>
                </a:solidFill>
                <a:latin typeface="Calibri" pitchFamily="34" charset="0"/>
                <a:ea typeface="Calibri" pitchFamily="34" charset="-122"/>
                <a:cs typeface="Calibri" pitchFamily="34" charset="-120"/>
              </a:rPr>
              <a:t>Characteristics</a:t>
            </a:r>
            <a:endParaRPr lang="en-US" sz="1450" dirty="0"/>
          </a:p>
        </p:txBody>
      </p:sp>
      <p:sp>
        <p:nvSpPr>
          <p:cNvPr id="45" name="Text 43"/>
          <p:cNvSpPr txBox="1"/>
          <p:nvPr/>
        </p:nvSpPr>
        <p:spPr>
          <a:xfrm>
            <a:off x="4142232" y="4818888"/>
            <a:ext cx="1810512" cy="1051560"/>
          </a:xfrm>
          <a:prstGeom prst="rect">
            <a:avLst/>
          </a:prstGeom>
          <a:noFill/>
          <a:ln/>
        </p:spPr>
        <p:txBody>
          <a:bodyPr wrap="square" lIns="0" tIns="0" rIns="0" bIns="0" rtlCol="0" anchor="t"/>
          <a:lstStyle/>
          <a:p>
            <a:pPr indent="0" marL="0">
              <a:buNone/>
            </a:pPr>
            <a:r>
              <a:rPr lang="en-US" sz="1150" dirty="0">
                <a:solidFill>
                  <a:srgbClr val="1F2D33"/>
                </a:solidFill>
                <a:latin typeface="Calibri" pitchFamily="34" charset="0"/>
                <a:ea typeface="Calibri" pitchFamily="34" charset="-122"/>
                <a:cs typeface="Calibri" pitchFamily="34" charset="-120"/>
              </a:rPr>
              <a:t>applicability gate, one model call with the pack shot, validator</a:t>
            </a:r>
            <a:endParaRPr lang="en-US" sz="1150" dirty="0"/>
          </a:p>
        </p:txBody>
      </p:sp>
      <p:sp>
        <p:nvSpPr>
          <p:cNvPr id="46" name="Shape 44"/>
          <p:cNvSpPr/>
          <p:nvPr/>
        </p:nvSpPr>
        <p:spPr>
          <a:xfrm>
            <a:off x="5458968" y="4014216"/>
            <a:ext cx="566928" cy="274320"/>
          </a:xfrm>
          <a:prstGeom prst="roundRect">
            <a:avLst>
              <a:gd name="adj" fmla="val 50000"/>
            </a:avLst>
          </a:prstGeom>
          <a:solidFill>
            <a:srgbClr val="D9822B"/>
          </a:solidFill>
          <a:ln w="12700">
            <a:solidFill>
              <a:srgbClr val="D9822B"/>
            </a:solidFill>
            <a:prstDash val="solid"/>
          </a:ln>
        </p:spPr>
      </p:sp>
      <p:sp>
        <p:nvSpPr>
          <p:cNvPr id="47" name="Text 45"/>
          <p:cNvSpPr txBox="1"/>
          <p:nvPr/>
        </p:nvSpPr>
        <p:spPr>
          <a:xfrm>
            <a:off x="5458968" y="401421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LLM</a:t>
            </a:r>
            <a:endParaRPr lang="en-US" sz="1050" dirty="0"/>
          </a:p>
        </p:txBody>
      </p:sp>
      <p:sp>
        <p:nvSpPr>
          <p:cNvPr id="48" name="Shape 46"/>
          <p:cNvSpPr/>
          <p:nvPr/>
        </p:nvSpPr>
        <p:spPr>
          <a:xfrm>
            <a:off x="6080760" y="5047488"/>
            <a:ext cx="182880" cy="0"/>
          </a:xfrm>
          <a:prstGeom prst="line">
            <a:avLst/>
          </a:prstGeom>
          <a:noFill/>
          <a:ln w="25400">
            <a:solidFill>
              <a:srgbClr val="0E7C7B"/>
            </a:solidFill>
            <a:prstDash val="solid"/>
            <a:tailEnd type="triangle"/>
          </a:ln>
        </p:spPr>
      </p:sp>
      <p:sp>
        <p:nvSpPr>
          <p:cNvPr id="49" name="Shape 47"/>
          <p:cNvSpPr/>
          <p:nvPr/>
        </p:nvSpPr>
        <p:spPr>
          <a:xfrm>
            <a:off x="6263640" y="4160520"/>
            <a:ext cx="2103120" cy="1783080"/>
          </a:xfrm>
          <a:prstGeom prst="roundRect">
            <a:avLst>
              <a:gd name="adj" fmla="val 4103"/>
            </a:avLst>
          </a:prstGeom>
          <a:solidFill>
            <a:srgbClr val="E6F4F1"/>
          </a:solidFill>
          <a:ln w="12700">
            <a:solidFill>
              <a:srgbClr val="E6F4F1"/>
            </a:solidFill>
            <a:prstDash val="solid"/>
          </a:ln>
        </p:spPr>
      </p:sp>
      <p:sp>
        <p:nvSpPr>
          <p:cNvPr id="50" name="Shape 48"/>
          <p:cNvSpPr/>
          <p:nvPr/>
        </p:nvSpPr>
        <p:spPr>
          <a:xfrm>
            <a:off x="6428232" y="4325112"/>
            <a:ext cx="365760" cy="365760"/>
          </a:xfrm>
          <a:prstGeom prst="ellipse">
            <a:avLst/>
          </a:prstGeom>
          <a:solidFill>
            <a:srgbClr val="0E7C7B"/>
          </a:solidFill>
          <a:ln w="12700">
            <a:solidFill>
              <a:srgbClr val="0E7C7B"/>
            </a:solidFill>
            <a:prstDash val="solid"/>
          </a:ln>
        </p:spPr>
      </p:sp>
      <p:sp>
        <p:nvSpPr>
          <p:cNvPr id="51" name="Text 49"/>
          <p:cNvSpPr txBox="1"/>
          <p:nvPr/>
        </p:nvSpPr>
        <p:spPr>
          <a:xfrm>
            <a:off x="6428232" y="43251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52" name="Text 50"/>
          <p:cNvSpPr txBox="1"/>
          <p:nvPr/>
        </p:nvSpPr>
        <p:spPr>
          <a:xfrm>
            <a:off x="6885432" y="4343400"/>
            <a:ext cx="1417320" cy="365760"/>
          </a:xfrm>
          <a:prstGeom prst="rect">
            <a:avLst/>
          </a:prstGeom>
          <a:noFill/>
          <a:ln/>
        </p:spPr>
        <p:txBody>
          <a:bodyPr wrap="square" lIns="0" tIns="0" rIns="0" bIns="0" rtlCol="0" anchor="ctr"/>
          <a:lstStyle/>
          <a:p>
            <a:pPr indent="0" marL="0">
              <a:buNone/>
            </a:pPr>
            <a:r>
              <a:rPr lang="en-US" sz="1450" b="1" dirty="0">
                <a:solidFill>
                  <a:srgbClr val="1F2D33"/>
                </a:solidFill>
                <a:latin typeface="Calibri" pitchFamily="34" charset="0"/>
                <a:ea typeface="Calibri" pitchFamily="34" charset="-122"/>
                <a:cs typeface="Calibri" pitchFamily="34" charset="-120"/>
              </a:rPr>
              <a:t>Reason</a:t>
            </a:r>
            <a:endParaRPr lang="en-US" sz="1450" dirty="0"/>
          </a:p>
        </p:txBody>
      </p:sp>
      <p:sp>
        <p:nvSpPr>
          <p:cNvPr id="53" name="Text 51"/>
          <p:cNvSpPr txBox="1"/>
          <p:nvPr/>
        </p:nvSpPr>
        <p:spPr>
          <a:xfrm>
            <a:off x="6428232" y="4818888"/>
            <a:ext cx="1810512" cy="1051560"/>
          </a:xfrm>
          <a:prstGeom prst="rect">
            <a:avLst/>
          </a:prstGeom>
          <a:noFill/>
          <a:ln/>
        </p:spPr>
        <p:txBody>
          <a:bodyPr wrap="square" lIns="0" tIns="0" rIns="0" bIns="0" rtlCol="0" anchor="t"/>
          <a:lstStyle/>
          <a:p>
            <a:pPr indent="0" marL="0">
              <a:buNone/>
            </a:pPr>
            <a:r>
              <a:rPr lang="en-US" sz="1150" dirty="0">
                <a:solidFill>
                  <a:srgbClr val="1F2D33"/>
                </a:solidFill>
                <a:latin typeface="Calibri" pitchFamily="34" charset="0"/>
                <a:ea typeface="Calibri" pitchFamily="34" charset="-122"/>
                <a:cs typeface="Calibri" pitchFamily="34" charset="-120"/>
              </a:rPr>
              <a:t>composed from the typed record — every clause tagged with its source</a:t>
            </a:r>
            <a:endParaRPr lang="en-US" sz="1150" dirty="0"/>
          </a:p>
        </p:txBody>
      </p:sp>
      <p:sp>
        <p:nvSpPr>
          <p:cNvPr id="54" name="Shape 52"/>
          <p:cNvSpPr/>
          <p:nvPr/>
        </p:nvSpPr>
        <p:spPr>
          <a:xfrm>
            <a:off x="8366760" y="5047488"/>
            <a:ext cx="182880" cy="0"/>
          </a:xfrm>
          <a:prstGeom prst="line">
            <a:avLst/>
          </a:prstGeom>
          <a:noFill/>
          <a:ln w="25400">
            <a:solidFill>
              <a:srgbClr val="0E7C7B"/>
            </a:solidFill>
            <a:prstDash val="solid"/>
            <a:tailEnd type="triangle"/>
          </a:ln>
        </p:spPr>
      </p:sp>
      <p:sp>
        <p:nvSpPr>
          <p:cNvPr id="55" name="Shape 53"/>
          <p:cNvSpPr/>
          <p:nvPr/>
        </p:nvSpPr>
        <p:spPr>
          <a:xfrm>
            <a:off x="8549640" y="4160520"/>
            <a:ext cx="2103120" cy="1783080"/>
          </a:xfrm>
          <a:prstGeom prst="roundRect">
            <a:avLst>
              <a:gd name="adj" fmla="val 4103"/>
            </a:avLst>
          </a:prstGeom>
          <a:solidFill>
            <a:srgbClr val="E6F4F1"/>
          </a:solidFill>
          <a:ln w="12700">
            <a:solidFill>
              <a:srgbClr val="E6F4F1"/>
            </a:solidFill>
            <a:prstDash val="solid"/>
          </a:ln>
        </p:spPr>
      </p:sp>
      <p:sp>
        <p:nvSpPr>
          <p:cNvPr id="56" name="Shape 54"/>
          <p:cNvSpPr/>
          <p:nvPr/>
        </p:nvSpPr>
        <p:spPr>
          <a:xfrm>
            <a:off x="8714232" y="4325112"/>
            <a:ext cx="365760" cy="365760"/>
          </a:xfrm>
          <a:prstGeom prst="ellipse">
            <a:avLst/>
          </a:prstGeom>
          <a:solidFill>
            <a:srgbClr val="0E7C7B"/>
          </a:solidFill>
          <a:ln w="12700">
            <a:solidFill>
              <a:srgbClr val="0E7C7B"/>
            </a:solidFill>
            <a:prstDash val="solid"/>
          </a:ln>
        </p:spPr>
      </p:sp>
      <p:sp>
        <p:nvSpPr>
          <p:cNvPr id="57" name="Text 55"/>
          <p:cNvSpPr txBox="1"/>
          <p:nvPr/>
        </p:nvSpPr>
        <p:spPr>
          <a:xfrm>
            <a:off x="8714232" y="43251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58" name="Text 56"/>
          <p:cNvSpPr txBox="1"/>
          <p:nvPr/>
        </p:nvSpPr>
        <p:spPr>
          <a:xfrm>
            <a:off x="9171432" y="4343400"/>
            <a:ext cx="1417320" cy="365760"/>
          </a:xfrm>
          <a:prstGeom prst="rect">
            <a:avLst/>
          </a:prstGeom>
          <a:noFill/>
          <a:ln/>
        </p:spPr>
        <p:txBody>
          <a:bodyPr wrap="square" lIns="0" tIns="0" rIns="0" bIns="0" rtlCol="0" anchor="ctr"/>
          <a:lstStyle/>
          <a:p>
            <a:pPr indent="0" marL="0">
              <a:buNone/>
            </a:pPr>
            <a:r>
              <a:rPr lang="en-US" sz="1450" b="1" dirty="0">
                <a:solidFill>
                  <a:srgbClr val="1F2D33"/>
                </a:solidFill>
                <a:latin typeface="Calibri" pitchFamily="34" charset="0"/>
                <a:ea typeface="Calibri" pitchFamily="34" charset="-122"/>
                <a:cs typeface="Calibri" pitchFamily="34" charset="-120"/>
              </a:rPr>
              <a:t>Assemble</a:t>
            </a:r>
            <a:endParaRPr lang="en-US" sz="1450" dirty="0"/>
          </a:p>
        </p:txBody>
      </p:sp>
      <p:sp>
        <p:nvSpPr>
          <p:cNvPr id="59" name="Text 57"/>
          <p:cNvSpPr txBox="1"/>
          <p:nvPr/>
        </p:nvSpPr>
        <p:spPr>
          <a:xfrm>
            <a:off x="8714232" y="4818888"/>
            <a:ext cx="1810512" cy="1051560"/>
          </a:xfrm>
          <a:prstGeom prst="rect">
            <a:avLst/>
          </a:prstGeom>
          <a:noFill/>
          <a:ln/>
        </p:spPr>
        <p:txBody>
          <a:bodyPr wrap="square" lIns="0" tIns="0" rIns="0" bIns="0" rtlCol="0" anchor="t"/>
          <a:lstStyle/>
          <a:p>
            <a:pPr indent="0" marL="0">
              <a:buNone/>
            </a:pPr>
            <a:r>
              <a:rPr lang="en-US" sz="1150" dirty="0">
                <a:solidFill>
                  <a:srgbClr val="1F2D33"/>
                </a:solidFill>
                <a:latin typeface="Calibri" pitchFamily="34" charset="0"/>
                <a:ea typeface="Calibri" pitchFamily="34" charset="-122"/>
                <a:cs typeface="Calibri" pitchFamily="34" charset="-120"/>
              </a:rPr>
              <a:t>exact qa schema, byte-identical xlsx + csv, explorer page</a:t>
            </a:r>
            <a:endParaRPr lang="en-US" sz="1150" dirty="0"/>
          </a:p>
        </p:txBody>
      </p:sp>
      <p:sp>
        <p:nvSpPr>
          <p:cNvPr id="60" name="Shape 58"/>
          <p:cNvSpPr/>
          <p:nvPr/>
        </p:nvSpPr>
        <p:spPr>
          <a:xfrm>
            <a:off x="10744200" y="3474720"/>
            <a:ext cx="0" cy="384048"/>
          </a:xfrm>
          <a:prstGeom prst="line">
            <a:avLst/>
          </a:prstGeom>
          <a:noFill/>
          <a:ln w="25400">
            <a:solidFill>
              <a:srgbClr val="0E7C7B"/>
            </a:solidFill>
            <a:prstDash val="solid"/>
          </a:ln>
        </p:spPr>
      </p:sp>
      <p:sp>
        <p:nvSpPr>
          <p:cNvPr id="61" name="Shape 59"/>
          <p:cNvSpPr/>
          <p:nvPr/>
        </p:nvSpPr>
        <p:spPr>
          <a:xfrm>
            <a:off x="2743200" y="3858768"/>
            <a:ext cx="8001000" cy="0"/>
          </a:xfrm>
          <a:prstGeom prst="line">
            <a:avLst/>
          </a:prstGeom>
          <a:noFill/>
          <a:ln w="25400">
            <a:solidFill>
              <a:srgbClr val="0E7C7B"/>
            </a:solidFill>
            <a:prstDash val="solid"/>
          </a:ln>
        </p:spPr>
      </p:sp>
      <p:sp>
        <p:nvSpPr>
          <p:cNvPr id="62" name="Shape 60"/>
          <p:cNvSpPr/>
          <p:nvPr/>
        </p:nvSpPr>
        <p:spPr>
          <a:xfrm>
            <a:off x="2743200" y="3858768"/>
            <a:ext cx="0" cy="283464"/>
          </a:xfrm>
          <a:prstGeom prst="line">
            <a:avLst/>
          </a:prstGeom>
          <a:noFill/>
          <a:ln w="25400">
            <a:solidFill>
              <a:srgbClr val="0E7C7B"/>
            </a:solidFill>
            <a:prstDash val="solid"/>
            <a:tailEnd type="triangle"/>
          </a:ln>
        </p:spPr>
      </p:sp>
      <p:sp>
        <p:nvSpPr>
          <p:cNvPr id="63" name="Shape 61"/>
          <p:cNvSpPr/>
          <p:nvPr/>
        </p:nvSpPr>
        <p:spPr>
          <a:xfrm>
            <a:off x="3886200" y="3474720"/>
            <a:ext cx="0" cy="384048"/>
          </a:xfrm>
          <a:prstGeom prst="line">
            <a:avLst/>
          </a:prstGeom>
          <a:noFill/>
          <a:ln w="28575">
            <a:solidFill>
              <a:srgbClr val="D9822B"/>
            </a:solidFill>
            <a:prstDash val="dash"/>
          </a:ln>
        </p:spPr>
      </p:sp>
      <p:sp>
        <p:nvSpPr>
          <p:cNvPr id="64" name="Text 62"/>
          <p:cNvSpPr txBox="1"/>
          <p:nvPr/>
        </p:nvSpPr>
        <p:spPr>
          <a:xfrm>
            <a:off x="4023360" y="3529584"/>
            <a:ext cx="2926080" cy="292608"/>
          </a:xfrm>
          <a:prstGeom prst="rect">
            <a:avLst/>
          </a:prstGeom>
          <a:noFill/>
          <a:ln/>
        </p:spPr>
        <p:txBody>
          <a:bodyPr wrap="square" lIns="0" tIns="0" rIns="0" bIns="0" rtlCol="0" anchor="t"/>
          <a:lstStyle/>
          <a:p>
            <a:pPr indent="0" marL="0">
              <a:buNone/>
            </a:pPr>
            <a:r>
              <a:rPr lang="en-US" sz="1200" b="1" dirty="0">
                <a:solidFill>
                  <a:srgbClr val="D9822B"/>
                </a:solidFill>
                <a:latin typeface="Calibri" pitchFamily="34" charset="0"/>
                <a:ea typeface="Calibri" pitchFamily="34" charset="-122"/>
                <a:cs typeface="Calibri" pitchFamily="34" charset="-120"/>
              </a:rPr>
              <a:t>registry hit: skip stages 2, 3, 4</a:t>
            </a:r>
            <a:endParaRPr lang="en-US" sz="1200" dirty="0"/>
          </a:p>
        </p:txBody>
      </p:sp>
      <p:sp>
        <p:nvSpPr>
          <p:cNvPr id="65" name="Text 63"/>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1050" dirty="0">
                <a:solidFill>
                  <a:srgbClr val="5B6B70"/>
                </a:solidFill>
                <a:latin typeface="Calibri" pitchFamily="34" charset="0"/>
                <a:ea typeface="Calibri" pitchFamily="34" charset="-122"/>
                <a:cs typeface="Calibri" pitchFamily="34" charset="-120"/>
              </a:rPr>
              <a:t>Every stage writes a typed artifact keyed by row_uid: resumable after any interruption, and a warm re-run produces a byte-identical submission.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300" kern="0" dirty="0">
                <a:solidFill>
                  <a:srgbClr val="0E7C7B"/>
                </a:solidFill>
                <a:latin typeface="Calibri" pitchFamily="34" charset="0"/>
                <a:ea typeface="Calibri" pitchFamily="34" charset="-122"/>
                <a:cs typeface="Calibri" pitchFamily="34" charset="-120"/>
              </a:rPr>
              <a:t>DESIGN STANCE</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F2D33"/>
                </a:solidFill>
                <a:latin typeface="Cambria" pitchFamily="34" charset="0"/>
                <a:ea typeface="Cambria" pitchFamily="34" charset="-122"/>
                <a:cs typeface="Cambria" pitchFamily="34" charset="-120"/>
              </a:rPr>
              <a:t>Why a pipeline, not an autonomous agent</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1920240"/>
                <a:gridCol w="4023360"/>
                <a:gridCol w="5120640"/>
              </a:tblGrid>
              <a:tr h="548640">
                <a:tc>
                  <a:txBody>
                    <a:bodyPr/>
                    <a:lstStyle/>
                    <a:p>
                      <a:pPr indent="0" marL="0">
                        <a:buNone/>
                      </a:pPr>
                      <a:endParaRPr lang="en-US" sz="140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Autonomous agent loop</a:t>
                      </a:r>
                      <a:endParaRPr lang="en-US" sz="140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NIMO pipeline</a:t>
                      </a:r>
                      <a:endParaRPr lang="en-US" sz="140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0E7C7B"/>
                    </a:solidFill>
                  </a:tcPr>
                </a:tc>
              </a:tr>
              <a:tr h="548640">
                <a:tc>
                  <a:txBody>
                    <a:bodyPr/>
                    <a:lstStyle/>
                    <a:p>
                      <a:pPr indent="0" marL="0">
                        <a:buNone/>
                      </a:pPr>
                      <a:r>
                        <a:rPr lang="en-US" sz="1350" b="1" dirty="0">
                          <a:solidFill>
                            <a:srgbClr val="0A5C5B"/>
                          </a:solidFill>
                          <a:latin typeface="Calibri" pitchFamily="34" charset="0"/>
                          <a:ea typeface="Calibri" pitchFamily="34" charset="-122"/>
                          <a:cs typeface="Calibri" pitchFamily="34" charset="-120"/>
                        </a:rPr>
                        <a:t>Reproducible</a:t>
                      </a:r>
                      <a:endParaRPr lang="en-US" sz="135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350" dirty="0">
                          <a:solidFill>
                            <a:srgbClr val="1F2D33"/>
                          </a:solidFill>
                          <a:latin typeface="Calibri" pitchFamily="34" charset="0"/>
                          <a:ea typeface="Calibri" pitchFamily="34" charset="-122"/>
                          <a:cs typeface="Calibri" pitchFamily="34" charset="-120"/>
                        </a:rPr>
                        <a:t>a different trajectory every run</a:t>
                      </a:r>
                      <a:endParaRPr lang="en-US" sz="135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350" dirty="0">
                          <a:solidFill>
                            <a:srgbClr val="1F2D33"/>
                          </a:solidFill>
                          <a:latin typeface="Calibri" pitchFamily="34" charset="0"/>
                          <a:ea typeface="Calibri" pitchFamily="34" charset="-122"/>
                          <a:cs typeface="Calibri" pitchFamily="34" charset="-120"/>
                        </a:rPr>
                        <a:t>same input → same output; warm re-run byte-identical</a:t>
                      </a:r>
                      <a:endParaRPr lang="en-US" sz="135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r>
              <a:tr h="548640">
                <a:tc>
                  <a:txBody>
                    <a:bodyPr/>
                    <a:lstStyle/>
                    <a:p>
                      <a:pPr indent="0" marL="0">
                        <a:buNone/>
                      </a:pPr>
                      <a:r>
                        <a:rPr lang="en-US" sz="1350" b="1" dirty="0">
                          <a:solidFill>
                            <a:srgbClr val="0A5C5B"/>
                          </a:solidFill>
                          <a:latin typeface="Calibri" pitchFamily="34" charset="0"/>
                          <a:ea typeface="Calibri" pitchFamily="34" charset="-122"/>
                          <a:cs typeface="Calibri" pitchFamily="34" charset="-120"/>
                        </a:rPr>
                        <a:t>Debuggable</a:t>
                      </a:r>
                      <a:endParaRPr lang="en-US" sz="135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3F8F7"/>
                    </a:solidFill>
                  </a:tcPr>
                </a:tc>
                <a:tc>
                  <a:txBody>
                    <a:bodyPr/>
                    <a:lstStyle/>
                    <a:p>
                      <a:pPr indent="0" marL="0">
                        <a:buNone/>
                      </a:pPr>
                      <a:r>
                        <a:rPr lang="en-US" sz="1350" dirty="0">
                          <a:solidFill>
                            <a:srgbClr val="1F2D33"/>
                          </a:solidFill>
                          <a:latin typeface="Calibri" pitchFamily="34" charset="0"/>
                          <a:ea typeface="Calibri" pitchFamily="34" charset="-122"/>
                          <a:cs typeface="Calibri" pitchFamily="34" charset="-120"/>
                        </a:rPr>
                        <a:t>a transcript</a:t>
                      </a:r>
                      <a:endParaRPr lang="en-US" sz="135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3F8F7"/>
                    </a:solidFill>
                  </a:tcPr>
                </a:tc>
                <a:tc>
                  <a:txBody>
                    <a:bodyPr/>
                    <a:lstStyle/>
                    <a:p>
                      <a:pPr indent="0" marL="0">
                        <a:buNone/>
                      </a:pPr>
                      <a:r>
                        <a:rPr lang="en-US" sz="1350" dirty="0">
                          <a:solidFill>
                            <a:srgbClr val="1F2D33"/>
                          </a:solidFill>
                          <a:latin typeface="Calibri" pitchFamily="34" charset="0"/>
                          <a:ea typeface="Calibri" pitchFamily="34" charset="-122"/>
                          <a:cs typeface="Calibri" pitchFamily="34" charset="-120"/>
                        </a:rPr>
                        <a:t>a typed record per stage: which feature misfired is visible</a:t>
                      </a:r>
                      <a:endParaRPr lang="en-US" sz="135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3F8F7"/>
                    </a:solidFill>
                  </a:tcPr>
                </a:tc>
              </a:tr>
              <a:tr h="548640">
                <a:tc>
                  <a:txBody>
                    <a:bodyPr/>
                    <a:lstStyle/>
                    <a:p>
                      <a:pPr indent="0" marL="0">
                        <a:buNone/>
                      </a:pPr>
                      <a:r>
                        <a:rPr lang="en-US" sz="1350" b="1" dirty="0">
                          <a:solidFill>
                            <a:srgbClr val="0A5C5B"/>
                          </a:solidFill>
                          <a:latin typeface="Calibri" pitchFamily="34" charset="0"/>
                          <a:ea typeface="Calibri" pitchFamily="34" charset="-122"/>
                          <a:cs typeface="Calibri" pitchFamily="34" charset="-120"/>
                        </a:rPr>
                        <a:t>Cost</a:t>
                      </a:r>
                      <a:endParaRPr lang="en-US" sz="135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350" dirty="0">
                          <a:solidFill>
                            <a:srgbClr val="1F2D33"/>
                          </a:solidFill>
                          <a:latin typeface="Calibri" pitchFamily="34" charset="0"/>
                          <a:ea typeface="Calibri" pitchFamily="34" charset="-122"/>
                          <a:cs typeface="Calibri" pitchFamily="34" charset="-120"/>
                        </a:rPr>
                        <a:t>model reads every candidate page</a:t>
                      </a:r>
                      <a:endParaRPr lang="en-US" sz="135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350" dirty="0">
                          <a:solidFill>
                            <a:srgbClr val="1F2D33"/>
                          </a:solidFill>
                          <a:latin typeface="Calibri" pitchFamily="34" charset="0"/>
                          <a:ea typeface="Calibri" pitchFamily="34" charset="-122"/>
                          <a:cs typeface="Calibri" pitchFamily="34" charset="-120"/>
                        </a:rPr>
                        <a:t>rules first; the model sees ≤ 3 structured candidates, only when needed</a:t>
                      </a:r>
                      <a:endParaRPr lang="en-US" sz="135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r>
              <a:tr h="548640">
                <a:tc>
                  <a:txBody>
                    <a:bodyPr/>
                    <a:lstStyle/>
                    <a:p>
                      <a:pPr indent="0" marL="0">
                        <a:buNone/>
                      </a:pPr>
                      <a:r>
                        <a:rPr lang="en-US" sz="1350" b="1" dirty="0">
                          <a:solidFill>
                            <a:srgbClr val="0A5C5B"/>
                          </a:solidFill>
                          <a:latin typeface="Calibri" pitchFamily="34" charset="0"/>
                          <a:ea typeface="Calibri" pitchFamily="34" charset="-122"/>
                          <a:cs typeface="Calibri" pitchFamily="34" charset="-120"/>
                        </a:rPr>
                        <a:t>Transparent</a:t>
                      </a:r>
                      <a:endParaRPr lang="en-US" sz="135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3F8F7"/>
                    </a:solidFill>
                  </a:tcPr>
                </a:tc>
                <a:tc>
                  <a:txBody>
                    <a:bodyPr/>
                    <a:lstStyle/>
                    <a:p>
                      <a:pPr indent="0" marL="0">
                        <a:buNone/>
                      </a:pPr>
                      <a:r>
                        <a:rPr lang="en-US" sz="1350" dirty="0">
                          <a:solidFill>
                            <a:srgbClr val="1F2D33"/>
                          </a:solidFill>
                          <a:latin typeface="Calibri" pitchFamily="34" charset="0"/>
                          <a:ea typeface="Calibri" pitchFamily="34" charset="-122"/>
                          <a:cs typeface="Calibri" pitchFamily="34" charset="-120"/>
                        </a:rPr>
                        <a:t>chain-of-thought</a:t>
                      </a:r>
                      <a:endParaRPr lang="en-US" sz="135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3F8F7"/>
                    </a:solidFill>
                  </a:tcPr>
                </a:tc>
                <a:tc>
                  <a:txBody>
                    <a:bodyPr/>
                    <a:lstStyle/>
                    <a:p>
                      <a:pPr indent="0" marL="0">
                        <a:buNone/>
                      </a:pPr>
                      <a:r>
                        <a:rPr lang="en-US" sz="1350" dirty="0">
                          <a:solidFill>
                            <a:srgbClr val="1F2D33"/>
                          </a:solidFill>
                          <a:latin typeface="Calibri" pitchFamily="34" charset="0"/>
                          <a:ea typeface="Calibri" pitchFamily="34" charset="-122"/>
                          <a:cs typeface="Calibri" pitchFamily="34" charset="-120"/>
                        </a:rPr>
                        <a:t>reasoning composed from recorded fields, each clause cited</a:t>
                      </a:r>
                      <a:endParaRPr lang="en-US" sz="135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3F8F7"/>
                    </a:solidFill>
                  </a:tcPr>
                </a:tc>
              </a:tr>
              <a:tr h="548640">
                <a:tc>
                  <a:txBody>
                    <a:bodyPr/>
                    <a:lstStyle/>
                    <a:p>
                      <a:pPr indent="0" marL="0">
                        <a:buNone/>
                      </a:pPr>
                      <a:r>
                        <a:rPr lang="en-US" sz="1350" b="1" dirty="0">
                          <a:solidFill>
                            <a:srgbClr val="0A5C5B"/>
                          </a:solidFill>
                          <a:latin typeface="Calibri" pitchFamily="34" charset="0"/>
                          <a:ea typeface="Calibri" pitchFamily="34" charset="-122"/>
                          <a:cs typeface="Calibri" pitchFamily="34" charset="-120"/>
                        </a:rPr>
                        <a:t>Safe</a:t>
                      </a:r>
                      <a:endParaRPr lang="en-US" sz="135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350" dirty="0">
                          <a:solidFill>
                            <a:srgbClr val="1F2D33"/>
                          </a:solidFill>
                          <a:latin typeface="Calibri" pitchFamily="34" charset="0"/>
                          <a:ea typeface="Calibri" pitchFamily="34" charset="-122"/>
                          <a:cs typeface="Calibri" pitchFamily="34" charset="-120"/>
                        </a:rPr>
                        <a:t>page text can steer the agent</a:t>
                      </a:r>
                      <a:endParaRPr lang="en-US" sz="135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350" dirty="0">
                          <a:solidFill>
                            <a:srgbClr val="1F2D33"/>
                          </a:solidFill>
                          <a:latin typeface="Calibri" pitchFamily="34" charset="0"/>
                          <a:ea typeface="Calibri" pitchFamily="34" charset="-122"/>
                          <a:cs typeface="Calibri" pitchFamily="34" charset="-120"/>
                        </a:rPr>
                        <a:t>page text is delimited data; the model's answer is an index, never a URL</a:t>
                      </a:r>
                      <a:endParaRPr lang="en-US" sz="135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166360"/>
            <a:ext cx="11064240" cy="1051560"/>
          </a:xfrm>
          <a:prstGeom prst="roundRect">
            <a:avLst>
              <a:gd name="adj" fmla="val 6957"/>
            </a:avLst>
          </a:prstGeom>
          <a:solidFill>
            <a:srgbClr val="FCEFE1"/>
          </a:solidFill>
          <a:ln w="12700">
            <a:solidFill>
              <a:srgbClr val="FCEFE1"/>
            </a:solidFill>
            <a:prstDash val="solid"/>
          </a:ln>
        </p:spPr>
      </p:sp>
      <p:sp>
        <p:nvSpPr>
          <p:cNvPr id="6" name="Text 3"/>
          <p:cNvSpPr txBox="1"/>
          <p:nvPr/>
        </p:nvSpPr>
        <p:spPr>
          <a:xfrm>
            <a:off x="777240" y="5285232"/>
            <a:ext cx="10607040" cy="868680"/>
          </a:xfrm>
          <a:prstGeom prst="rect">
            <a:avLst/>
          </a:prstGeom>
          <a:noFill/>
          <a:ln/>
        </p:spPr>
        <p:txBody>
          <a:bodyPr wrap="square" lIns="0" tIns="0" rIns="0" bIns="0" rtlCol="0" anchor="t"/>
          <a:lstStyle/>
          <a:p>
            <a:pPr indent="0" marL="0">
              <a:buNone/>
            </a:pPr>
            <a:r>
              <a:rPr lang="en-US" sz="1300" dirty="0">
                <a:solidFill>
                  <a:srgbClr val="1F2D33"/>
                </a:solidFill>
                <a:latin typeface="Calibri" pitchFamily="34" charset="0"/>
                <a:ea typeface="Calibri" pitchFamily="34" charset="-122"/>
                <a:cs typeface="Calibri" pitchFamily="34" charset="-120"/>
              </a:rPr>
              <a:t>Considered and rejected on measurement: a learned GNN (no multi-hop structure, 412 rows cannot train it — Union-Find gives the graph answer with no training), hyperbolic RAG (the taxonomy is 3 levels, fully enumerable), pure-LLM ranking of raw HTML (discards the barcode, size and pack-count signals that decide identity).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300" kern="0" dirty="0">
                <a:solidFill>
                  <a:srgbClr val="0E7C7B"/>
                </a:solidFill>
                <a:latin typeface="Calibri" pitchFamily="34" charset="0"/>
                <a:ea typeface="Calibri" pitchFamily="34" charset="-122"/>
                <a:cs typeface="Calibri" pitchFamily="34" charset="-120"/>
              </a:rPr>
              <a:t>MEMORY</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F2D33"/>
                </a:solidFill>
                <a:latin typeface="Cambria" pitchFamily="34" charset="0"/>
                <a:ea typeface="Cambria" pitchFamily="34" charset="-122"/>
                <a:cs typeface="Cambria" pitchFamily="34" charset="-120"/>
              </a:rPr>
              <a:t>Resolve once, answer from memory: the entity registry</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675120" cy="914400"/>
        </p:xfrm>
        <a:graphic>
          <a:graphicData uri="http://schemas.openxmlformats.org/drawingml/2006/table">
            <a:tbl>
              <a:tblPr/>
              <a:tblGrid>
                <a:gridCol w="1463040"/>
                <a:gridCol w="3749040"/>
                <a:gridCol w="1463040"/>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Tier</a:t>
                      </a:r>
                      <a:endParaRPr lang="en-US" sz="130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0E7C7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Trigger</a:t>
                      </a:r>
                      <a:endParaRPr lang="en-US" sz="130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0E7C7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Cost</a:t>
                      </a:r>
                      <a:endParaRPr lang="en-US" sz="130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0E7C7B"/>
                    </a:solidFill>
                  </a:tcPr>
                </a:tc>
              </a:tr>
              <a:tr h="475488">
                <a:tc>
                  <a:txBody>
                    <a:bodyPr/>
                    <a:lstStyle/>
                    <a:p>
                      <a:pPr indent="0" marL="0">
                        <a:buNone/>
                      </a:pPr>
                      <a:r>
                        <a:rPr lang="en-US" sz="1300" b="1" dirty="0">
                          <a:solidFill>
                            <a:srgbClr val="0A5C5B"/>
                          </a:solidFill>
                          <a:latin typeface="Calibri" pitchFamily="34" charset="0"/>
                          <a:ea typeface="Calibri" pitchFamily="34" charset="-122"/>
                          <a:cs typeface="Calibri" pitchFamily="34" charset="-120"/>
                        </a:rPr>
                        <a:t>0 · exact</a:t>
                      </a:r>
                      <a:endParaRPr lang="en-US" sz="130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300" dirty="0">
                          <a:solidFill>
                            <a:srgbClr val="1F2D33"/>
                          </a:solidFill>
                          <a:latin typeface="Calibri" pitchFamily="34" charset="0"/>
                          <a:ea typeface="Calibri" pitchFamily="34" charset="-122"/>
                          <a:cs typeface="Calibri" pitchFamily="34" charset="-120"/>
                        </a:rPr>
                        <a:t>barcode already resolved</a:t>
                      </a:r>
                      <a:endParaRPr lang="en-US" sz="130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300" dirty="0">
                          <a:solidFill>
                            <a:srgbClr val="1F2D33"/>
                          </a:solidFill>
                          <a:latin typeface="Calibri" pitchFamily="34" charset="0"/>
                          <a:ea typeface="Calibri" pitchFamily="34" charset="-122"/>
                          <a:cs typeface="Calibri" pitchFamily="34" charset="-120"/>
                        </a:rPr>
                        <a:t>milliseconds</a:t>
                      </a:r>
                      <a:endParaRPr lang="en-US" sz="130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0A5C5B"/>
                          </a:solidFill>
                          <a:latin typeface="Calibri" pitchFamily="34" charset="0"/>
                          <a:ea typeface="Calibri" pitchFamily="34" charset="-122"/>
                          <a:cs typeface="Calibri" pitchFamily="34" charset="-120"/>
                        </a:rPr>
                        <a:t>1 · similar</a:t>
                      </a:r>
                      <a:endParaRPr lang="en-US" sz="130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3F8F7"/>
                    </a:solidFill>
                  </a:tcPr>
                </a:tc>
                <a:tc>
                  <a:txBody>
                    <a:bodyPr/>
                    <a:lstStyle/>
                    <a:p>
                      <a:pPr indent="0" marL="0">
                        <a:buNone/>
                      </a:pPr>
                      <a:r>
                        <a:rPr lang="en-US" sz="1300" dirty="0">
                          <a:solidFill>
                            <a:srgbClr val="1F2D33"/>
                          </a:solidFill>
                          <a:latin typeface="Calibri" pitchFamily="34" charset="0"/>
                          <a:ea typeface="Calibri" pitchFamily="34" charset="-122"/>
                          <a:cs typeface="Calibri" pitchFamily="34" charset="-120"/>
                        </a:rPr>
                        <a:t>identity similarity ≥ 0.75 inside a size/brand block</a:t>
                      </a:r>
                      <a:endParaRPr lang="en-US" sz="130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3F8F7"/>
                    </a:solidFill>
                  </a:tcPr>
                </a:tc>
                <a:tc>
                  <a:txBody>
                    <a:bodyPr/>
                    <a:lstStyle/>
                    <a:p>
                      <a:pPr indent="0" marL="0">
                        <a:buNone/>
                      </a:pPr>
                      <a:r>
                        <a:rPr lang="en-US" sz="1300" dirty="0">
                          <a:solidFill>
                            <a:srgbClr val="1F2D33"/>
                          </a:solidFill>
                          <a:latin typeface="Calibri" pitchFamily="34" charset="0"/>
                          <a:ea typeface="Calibri" pitchFamily="34" charset="-122"/>
                          <a:cs typeface="Calibri" pitchFamily="34" charset="-120"/>
                        </a:rPr>
                        <a:t>milliseconds</a:t>
                      </a:r>
                      <a:endParaRPr lang="en-US" sz="130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3F8F7"/>
                    </a:solidFill>
                  </a:tcPr>
                </a:tc>
              </a:tr>
              <a:tr h="475488">
                <a:tc>
                  <a:txBody>
                    <a:bodyPr/>
                    <a:lstStyle/>
                    <a:p>
                      <a:pPr indent="0" marL="0">
                        <a:buNone/>
                      </a:pPr>
                      <a:r>
                        <a:rPr lang="en-US" sz="1300" b="1" dirty="0">
                          <a:solidFill>
                            <a:srgbClr val="0A5C5B"/>
                          </a:solidFill>
                          <a:latin typeface="Calibri" pitchFamily="34" charset="0"/>
                          <a:ea typeface="Calibri" pitchFamily="34" charset="-122"/>
                          <a:cs typeface="Calibri" pitchFamily="34" charset="-120"/>
                        </a:rPr>
                        <a:t>2 · retrieval</a:t>
                      </a:r>
                      <a:endParaRPr lang="en-US" sz="130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300" dirty="0">
                          <a:solidFill>
                            <a:srgbClr val="1F2D33"/>
                          </a:solidFill>
                          <a:latin typeface="Calibri" pitchFamily="34" charset="0"/>
                          <a:ea typeface="Calibri" pitchFamily="34" charset="-122"/>
                          <a:cs typeface="Calibri" pitchFamily="34" charset="-120"/>
                        </a:rPr>
                        <a:t>miss — search, fetch, match</a:t>
                      </a:r>
                      <a:endParaRPr lang="en-US" sz="130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300" dirty="0">
                          <a:solidFill>
                            <a:srgbClr val="1F2D33"/>
                          </a:solidFill>
                          <a:latin typeface="Calibri" pitchFamily="34" charset="0"/>
                          <a:ea typeface="Calibri" pitchFamily="34" charset="-122"/>
                          <a:cs typeface="Calibri" pitchFamily="34" charset="-120"/>
                        </a:rPr>
                        <a:t>seconds</a:t>
                      </a:r>
                      <a:endParaRPr lang="en-US" sz="130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0A5C5B"/>
                          </a:solidFill>
                          <a:latin typeface="Calibri" pitchFamily="34" charset="0"/>
                          <a:ea typeface="Calibri" pitchFamily="34" charset="-122"/>
                          <a:cs typeface="Calibri" pitchFamily="34" charset="-120"/>
                        </a:rPr>
                        <a:t>3 · model</a:t>
                      </a:r>
                      <a:endParaRPr lang="en-US" sz="130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3F8F7"/>
                    </a:solidFill>
                  </a:tcPr>
                </a:tc>
                <a:tc>
                  <a:txBody>
                    <a:bodyPr/>
                    <a:lstStyle/>
                    <a:p>
                      <a:pPr indent="0" marL="0">
                        <a:buNone/>
                      </a:pPr>
                      <a:r>
                        <a:rPr lang="en-US" sz="1300" dirty="0">
                          <a:solidFill>
                            <a:srgbClr val="1F2D33"/>
                          </a:solidFill>
                          <a:latin typeface="Calibri" pitchFamily="34" charset="0"/>
                          <a:ea typeface="Calibri" pitchFamily="34" charset="-122"/>
                          <a:cs typeface="Calibri" pitchFamily="34" charset="-120"/>
                        </a:rPr>
                        <a:t>top candidates too close to call</a:t>
                      </a:r>
                      <a:endParaRPr lang="en-US" sz="130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3F8F7"/>
                    </a:solidFill>
                  </a:tcPr>
                </a:tc>
                <a:tc>
                  <a:txBody>
                    <a:bodyPr/>
                    <a:lstStyle/>
                    <a:p>
                      <a:pPr indent="0" marL="0">
                        <a:buNone/>
                      </a:pPr>
                      <a:r>
                        <a:rPr lang="en-US" sz="1300" dirty="0">
                          <a:solidFill>
                            <a:srgbClr val="1F2D33"/>
                          </a:solidFill>
                          <a:latin typeface="Calibri" pitchFamily="34" charset="0"/>
                          <a:ea typeface="Calibri" pitchFamily="34" charset="-122"/>
                          <a:cs typeface="Calibri" pitchFamily="34" charset="-120"/>
                        </a:rPr>
                        <a:t>one call</a:t>
                      </a:r>
                      <a:endParaRPr lang="en-US" sz="1300" dirty="0">
                        <a:latin typeface="Calibri" charset="0"/>
                        <a:ea typeface="Calibri" charset="0"/>
                        <a:cs typeface="Calibri" charset="0"/>
                      </a:endParaRPr>
                    </a:p>
                  </a:txBody>
                  <a:tcPr marL="109728" marR="109728" marT="36576" marB="36576"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3F8F7"/>
                    </a:solidFill>
                  </a:tcPr>
                </a:tc>
              </a:tr>
            </a:tbl>
          </a:graphicData>
        </a:graphic>
      </p:graphicFrame>
      <p:sp>
        <p:nvSpPr>
          <p:cNvPr id="5" name="Text 2"/>
          <p:cNvSpPr txBox="1"/>
          <p:nvPr/>
        </p:nvSpPr>
        <p:spPr>
          <a:xfrm>
            <a:off x="548640" y="4206240"/>
            <a:ext cx="667512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2D33"/>
                </a:solidFill>
                <a:latin typeface="Calibri" pitchFamily="34" charset="0"/>
                <a:ea typeface="Calibri" pitchFamily="34" charset="-122"/>
                <a:cs typeface="Calibri" pitchFamily="34" charset="-120"/>
              </a:rPr>
              <a:t>Confirmed-same products are merged with Union-Find — deterministic, no training data.</a:t>
            </a:r>
            <a:endParaRPr lang="en-US" sz="1400" dirty="0"/>
          </a:p>
          <a:p>
            <a:pPr marL="342900" indent="-342900">
              <a:spcAft>
                <a:spcPts val="600"/>
              </a:spcAft>
              <a:buSzPct val="100000"/>
              <a:buChar char="•"/>
            </a:pPr>
            <a:r>
              <a:rPr lang="en-US" sz="1400" dirty="0">
                <a:solidFill>
                  <a:srgbClr val="1F2D33"/>
                </a:solidFill>
                <a:latin typeface="Calibri" pitchFamily="34" charset="0"/>
                <a:ea typeface="Calibri" pitchFamily="34" charset="-122"/>
                <a:cs typeface="Calibri" pitchFamily="34" charset="-120"/>
              </a:rPr>
              <a:t>Written only on barcode-confirmed identity, and every write is audit-logged.</a:t>
            </a:r>
            <a:endParaRPr lang="en-US" sz="1400" dirty="0"/>
          </a:p>
          <a:p>
            <a:pPr marL="342900" indent="-342900">
              <a:spcAft>
                <a:spcPts val="600"/>
              </a:spcAft>
              <a:buSzPct val="100000"/>
              <a:buChar char="•"/>
            </a:pPr>
            <a:r>
              <a:rPr lang="en-US" sz="1400" dirty="0">
                <a:solidFill>
                  <a:srgbClr val="1F2D33"/>
                </a:solidFill>
                <a:latin typeface="Calibri" pitchFamily="34" charset="0"/>
                <a:ea typeface="Calibri" pitchFamily="34" charset="-122"/>
                <a:cs typeface="Calibri" pitchFamily="34" charset="-120"/>
              </a:rPr>
              <a:t>Tier 1 is precision-first: on 20 hand-checked pairs it accepts 3 of 4 true duplicates and 0 of 14 look-alikes (Sensodyne Pronamel Extra Fresh vs Whitening differ by two words).</a:t>
            </a:r>
            <a:endParaRPr lang="en-US" sz="1400" dirty="0"/>
          </a:p>
        </p:txBody>
      </p:sp>
      <p:sp>
        <p:nvSpPr>
          <p:cNvPr id="6" name="Shape 3"/>
          <p:cNvSpPr/>
          <p:nvPr/>
        </p:nvSpPr>
        <p:spPr>
          <a:xfrm>
            <a:off x="7680960" y="1645920"/>
            <a:ext cx="3931920" cy="4480560"/>
          </a:xfrm>
          <a:prstGeom prst="roundRect">
            <a:avLst>
              <a:gd name="adj" fmla="val 1860"/>
            </a:avLst>
          </a:prstGeom>
          <a:solidFill>
            <a:srgbClr val="0B2A33"/>
          </a:solidFill>
          <a:ln w="12700">
            <a:solidFill>
              <a:srgbClr val="0B2A33"/>
            </a:solidFill>
            <a:prstDash val="solid"/>
          </a:ln>
        </p:spPr>
      </p:sp>
      <p:sp>
        <p:nvSpPr>
          <p:cNvPr id="7" name="Text 4"/>
          <p:cNvSpPr txBox="1"/>
          <p:nvPr/>
        </p:nvSpPr>
        <p:spPr>
          <a:xfrm>
            <a:off x="7955280" y="2011680"/>
            <a:ext cx="347472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111 of 412</a:t>
            </a:r>
            <a:endParaRPr lang="en-US" sz="4000" dirty="0"/>
          </a:p>
        </p:txBody>
      </p:sp>
      <p:sp>
        <p:nvSpPr>
          <p:cNvPr id="8" name="Text 5"/>
          <p:cNvSpPr txBox="1"/>
          <p:nvPr/>
        </p:nvSpPr>
        <p:spPr>
          <a:xfrm>
            <a:off x="7955280" y="2880360"/>
            <a:ext cx="3383280" cy="1097280"/>
          </a:xfrm>
          <a:prstGeom prst="rect">
            <a:avLst/>
          </a:prstGeom>
          <a:noFill/>
          <a:ln/>
        </p:spPr>
        <p:txBody>
          <a:bodyPr wrap="square" lIns="0" tIns="0" rIns="0" bIns="0" rtlCol="0" anchor="t"/>
          <a:lstStyle/>
          <a:p>
            <a:pPr indent="0" marL="0">
              <a:buNone/>
            </a:pPr>
            <a:r>
              <a:rPr lang="en-US" sz="1500" dirty="0">
                <a:solidFill>
                  <a:srgbClr val="DCE8EA"/>
                </a:solidFill>
                <a:latin typeface="Calibri" pitchFamily="34" charset="0"/>
                <a:ea typeface="Calibri" pitchFamily="34" charset="-122"/>
                <a:cs typeface="Calibri" pitchFamily="34" charset="-120"/>
              </a:rPr>
              <a:t>qa rows answered straight from the registry on the re-run — search, fetch and match skipped</a:t>
            </a:r>
            <a:endParaRPr lang="en-US" sz="1500" dirty="0"/>
          </a:p>
        </p:txBody>
      </p:sp>
      <p:sp>
        <p:nvSpPr>
          <p:cNvPr id="9" name="Text 6"/>
          <p:cNvSpPr txBox="1"/>
          <p:nvPr/>
        </p:nvSpPr>
        <p:spPr>
          <a:xfrm>
            <a:off x="7955280" y="4160520"/>
            <a:ext cx="3474720" cy="640080"/>
          </a:xfrm>
          <a:prstGeom prst="rect">
            <a:avLst/>
          </a:prstGeom>
          <a:noFill/>
          <a:ln/>
        </p:spPr>
        <p:txBody>
          <a:bodyPr wrap="square" lIns="0" tIns="0" rIns="0" bIns="0" rtlCol="0" anchor="t"/>
          <a:lstStyle/>
          <a:p>
            <a:pPr indent="0" marL="0">
              <a:buNone/>
            </a:pPr>
            <a:r>
              <a:rPr lang="en-US" sz="3200" b="1" dirty="0">
                <a:solidFill>
                  <a:srgbClr val="9FE3D6"/>
                </a:solidFill>
                <a:latin typeface="Cambria" pitchFamily="34" charset="0"/>
                <a:ea typeface="Cambria" pitchFamily="34" charset="-122"/>
                <a:cs typeface="Cambria" pitchFamily="34" charset="-120"/>
              </a:rPr>
              <a:t>115</a:t>
            </a:r>
            <a:endParaRPr lang="en-US" sz="3200" dirty="0"/>
          </a:p>
        </p:txBody>
      </p:sp>
      <p:sp>
        <p:nvSpPr>
          <p:cNvPr id="10" name="Text 7"/>
          <p:cNvSpPr txBox="1"/>
          <p:nvPr/>
        </p:nvSpPr>
        <p:spPr>
          <a:xfrm>
            <a:off x="7955280" y="4800600"/>
            <a:ext cx="3383280" cy="1097280"/>
          </a:xfrm>
          <a:prstGeom prst="rect">
            <a:avLst/>
          </a:prstGeom>
          <a:noFill/>
          <a:ln/>
        </p:spPr>
        <p:txBody>
          <a:bodyPr wrap="square" lIns="0" tIns="0" rIns="0" bIns="0" rtlCol="0" anchor="t"/>
          <a:lstStyle/>
          <a:p>
            <a:pPr indent="0" marL="0">
              <a:buNone/>
            </a:pPr>
            <a:r>
              <a:rPr lang="en-US" sz="1400" dirty="0">
                <a:solidFill>
                  <a:srgbClr val="DCE8EA"/>
                </a:solidFill>
                <a:latin typeface="Calibri" pitchFamily="34" charset="0"/>
                <a:ea typeface="Calibri" pitchFamily="34" charset="-122"/>
                <a:cs typeface="Calibri" pitchFamily="34" charset="-120"/>
              </a:rPr>
              <a:t>resolved products in memory, each with the rows folded into it and the page that proved it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300" kern="0" dirty="0">
                <a:solidFill>
                  <a:srgbClr val="0E7C7B"/>
                </a:solidFill>
                <a:latin typeface="Calibri" pitchFamily="34" charset="0"/>
                <a:ea typeface="Calibri" pitchFamily="34" charset="-122"/>
                <a:cs typeface="Calibri" pitchFamily="34" charset="-120"/>
              </a:rPr>
              <a:t>RETRIEVAL</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F2D33"/>
                </a:solidFill>
                <a:latin typeface="Cambria" pitchFamily="34" charset="0"/>
                <a:ea typeface="Cambria" pitchFamily="34" charset="-122"/>
                <a:cs typeface="Cambria" pitchFamily="34" charset="-120"/>
              </a:rPr>
              <a:t>Finding candidates on a real, hostile web</a:t>
            </a:r>
            <a:endParaRPr lang="en-US" sz="3000" dirty="0"/>
          </a:p>
        </p:txBody>
      </p:sp>
      <p:sp>
        <p:nvSpPr>
          <p:cNvPr id="4" name="Shape 2"/>
          <p:cNvSpPr/>
          <p:nvPr/>
        </p:nvSpPr>
        <p:spPr>
          <a:xfrm>
            <a:off x="548640" y="1645920"/>
            <a:ext cx="420624" cy="420624"/>
          </a:xfrm>
          <a:prstGeom prst="ellipse">
            <a:avLst/>
          </a:prstGeom>
          <a:solidFill>
            <a:srgbClr val="0E7C7B"/>
          </a:solidFill>
          <a:ln w="12700">
            <a:solidFill>
              <a:srgbClr val="0E7C7B"/>
            </a:solidFill>
            <a:prstDash val="solid"/>
          </a:ln>
        </p:spPr>
      </p:sp>
      <p:sp>
        <p:nvSpPr>
          <p:cNvPr id="5" name="Text 3"/>
          <p:cNvSpPr txBox="1"/>
          <p:nvPr/>
        </p:nvSpPr>
        <p:spPr>
          <a:xfrm>
            <a:off x="548640" y="16459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S2</a:t>
            </a:r>
            <a:endParaRPr lang="en-US" sz="1300" dirty="0"/>
          </a:p>
        </p:txBody>
      </p:sp>
      <p:sp>
        <p:nvSpPr>
          <p:cNvPr id="6" name="Text 4"/>
          <p:cNvSpPr txBox="1"/>
          <p:nvPr/>
        </p:nvSpPr>
        <p:spPr>
          <a:xfrm>
            <a:off x="1097280" y="1664208"/>
            <a:ext cx="2377440" cy="384048"/>
          </a:xfrm>
          <a:prstGeom prst="rect">
            <a:avLst/>
          </a:prstGeom>
          <a:noFill/>
          <a:ln/>
        </p:spPr>
        <p:txBody>
          <a:bodyPr wrap="square" lIns="0" tIns="0" rIns="0" bIns="0" rtlCol="0" anchor="ctr"/>
          <a:lstStyle/>
          <a:p>
            <a:pPr indent="0" marL="0">
              <a:buNone/>
            </a:pPr>
            <a:r>
              <a:rPr lang="en-US" sz="1450" b="1" dirty="0">
                <a:solidFill>
                  <a:srgbClr val="1F2D33"/>
                </a:solidFill>
                <a:latin typeface="Calibri" pitchFamily="34" charset="0"/>
                <a:ea typeface="Calibri" pitchFamily="34" charset="-122"/>
                <a:cs typeface="Calibri" pitchFamily="34" charset="-120"/>
              </a:rPr>
              <a:t>barcode + brand</a:t>
            </a:r>
            <a:endParaRPr lang="en-US" sz="1450" dirty="0"/>
          </a:p>
        </p:txBody>
      </p:sp>
      <p:sp>
        <p:nvSpPr>
          <p:cNvPr id="7" name="Text 5"/>
          <p:cNvSpPr txBox="1"/>
          <p:nvPr/>
        </p:nvSpPr>
        <p:spPr>
          <a:xfrm>
            <a:off x="3429000" y="1664208"/>
            <a:ext cx="2651760" cy="384048"/>
          </a:xfrm>
          <a:prstGeom prst="rect">
            <a:avLst/>
          </a:prstGeom>
          <a:noFill/>
          <a:ln/>
        </p:spPr>
        <p:txBody>
          <a:bodyPr wrap="square" lIns="0" tIns="0" rIns="0" bIns="0" rtlCol="0" anchor="ctr"/>
          <a:lstStyle/>
          <a:p>
            <a:pPr indent="0" marL="0">
              <a:buNone/>
            </a:pPr>
            <a:r>
              <a:rPr lang="en-US" sz="1250" dirty="0">
                <a:solidFill>
                  <a:srgbClr val="5B6B70"/>
                </a:solidFill>
                <a:latin typeface="Calibri" pitchFamily="34" charset="0"/>
                <a:ea typeface="Calibri" pitchFamily="34" charset="-122"/>
                <a:cs typeface="Calibri" pitchFamily="34" charset="-120"/>
              </a:rPr>
              <a:t>finds the retailers that publish structured data</a:t>
            </a:r>
            <a:endParaRPr lang="en-US" sz="1250" dirty="0"/>
          </a:p>
        </p:txBody>
      </p:sp>
      <p:sp>
        <p:nvSpPr>
          <p:cNvPr id="8" name="Shape 6"/>
          <p:cNvSpPr/>
          <p:nvPr/>
        </p:nvSpPr>
        <p:spPr>
          <a:xfrm>
            <a:off x="548640" y="2212848"/>
            <a:ext cx="420624" cy="420624"/>
          </a:xfrm>
          <a:prstGeom prst="ellipse">
            <a:avLst/>
          </a:prstGeom>
          <a:solidFill>
            <a:srgbClr val="0E7C7B"/>
          </a:solidFill>
          <a:ln w="12700">
            <a:solidFill>
              <a:srgbClr val="0E7C7B"/>
            </a:solidFill>
            <a:prstDash val="solid"/>
          </a:ln>
        </p:spPr>
      </p:sp>
      <p:sp>
        <p:nvSpPr>
          <p:cNvPr id="9" name="Text 7"/>
          <p:cNvSpPr txBox="1"/>
          <p:nvPr/>
        </p:nvSpPr>
        <p:spPr>
          <a:xfrm>
            <a:off x="548640" y="221284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S3</a:t>
            </a:r>
            <a:endParaRPr lang="en-US" sz="1300" dirty="0"/>
          </a:p>
        </p:txBody>
      </p:sp>
      <p:sp>
        <p:nvSpPr>
          <p:cNvPr id="10" name="Text 8"/>
          <p:cNvSpPr txBox="1"/>
          <p:nvPr/>
        </p:nvSpPr>
        <p:spPr>
          <a:xfrm>
            <a:off x="1097280" y="2231136"/>
            <a:ext cx="2377440" cy="384048"/>
          </a:xfrm>
          <a:prstGeom prst="rect">
            <a:avLst/>
          </a:prstGeom>
          <a:noFill/>
          <a:ln/>
        </p:spPr>
        <p:txBody>
          <a:bodyPr wrap="square" lIns="0" tIns="0" rIns="0" bIns="0" rtlCol="0" anchor="ctr"/>
          <a:lstStyle/>
          <a:p>
            <a:pPr indent="0" marL="0">
              <a:buNone/>
            </a:pPr>
            <a:r>
              <a:rPr lang="en-US" sz="1450" b="1" dirty="0">
                <a:solidFill>
                  <a:srgbClr val="1F2D33"/>
                </a:solidFill>
                <a:latin typeface="Calibri" pitchFamily="34" charset="0"/>
                <a:ea typeface="Calibri" pitchFamily="34" charset="-122"/>
                <a:cs typeface="Calibri" pitchFamily="34" charset="-120"/>
              </a:rPr>
              <a:t>brand + variant + size</a:t>
            </a:r>
            <a:endParaRPr lang="en-US" sz="1450" dirty="0"/>
          </a:p>
        </p:txBody>
      </p:sp>
      <p:sp>
        <p:nvSpPr>
          <p:cNvPr id="11" name="Text 9"/>
          <p:cNvSpPr txBox="1"/>
          <p:nvPr/>
        </p:nvSpPr>
        <p:spPr>
          <a:xfrm>
            <a:off x="3429000" y="2231136"/>
            <a:ext cx="2651760" cy="384048"/>
          </a:xfrm>
          <a:prstGeom prst="rect">
            <a:avLst/>
          </a:prstGeom>
          <a:noFill/>
          <a:ln/>
        </p:spPr>
        <p:txBody>
          <a:bodyPr wrap="square" lIns="0" tIns="0" rIns="0" bIns="0" rtlCol="0" anchor="ctr"/>
          <a:lstStyle/>
          <a:p>
            <a:pPr indent="0" marL="0">
              <a:buNone/>
            </a:pPr>
            <a:r>
              <a:rPr lang="en-US" sz="1250" dirty="0">
                <a:solidFill>
                  <a:srgbClr val="5B6B70"/>
                </a:solidFill>
                <a:latin typeface="Calibri" pitchFamily="34" charset="0"/>
                <a:ea typeface="Calibri" pitchFamily="34" charset="-122"/>
                <a:cs typeface="Calibri" pitchFamily="34" charset="-120"/>
              </a:rPr>
              <a:t>the product-name query</a:t>
            </a:r>
            <a:endParaRPr lang="en-US" sz="1250" dirty="0"/>
          </a:p>
        </p:txBody>
      </p:sp>
      <p:sp>
        <p:nvSpPr>
          <p:cNvPr id="12" name="Shape 10"/>
          <p:cNvSpPr/>
          <p:nvPr/>
        </p:nvSpPr>
        <p:spPr>
          <a:xfrm>
            <a:off x="548640" y="2779776"/>
            <a:ext cx="420624" cy="420624"/>
          </a:xfrm>
          <a:prstGeom prst="ellipse">
            <a:avLst/>
          </a:prstGeom>
          <a:solidFill>
            <a:srgbClr val="0E7C7B"/>
          </a:solidFill>
          <a:ln w="12700">
            <a:solidFill>
              <a:srgbClr val="0E7C7B"/>
            </a:solidFill>
            <a:prstDash val="solid"/>
          </a:ln>
        </p:spPr>
      </p:sp>
      <p:sp>
        <p:nvSpPr>
          <p:cNvPr id="13" name="Text 11"/>
          <p:cNvSpPr txBox="1"/>
          <p:nvPr/>
        </p:nvSpPr>
        <p:spPr>
          <a:xfrm>
            <a:off x="548640" y="277977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S4</a:t>
            </a:r>
            <a:endParaRPr lang="en-US" sz="1300" dirty="0"/>
          </a:p>
        </p:txBody>
      </p:sp>
      <p:sp>
        <p:nvSpPr>
          <p:cNvPr id="14" name="Text 12"/>
          <p:cNvSpPr txBox="1"/>
          <p:nvPr/>
        </p:nvSpPr>
        <p:spPr>
          <a:xfrm>
            <a:off x="1097280" y="2798064"/>
            <a:ext cx="2377440" cy="384048"/>
          </a:xfrm>
          <a:prstGeom prst="rect">
            <a:avLst/>
          </a:prstGeom>
          <a:noFill/>
          <a:ln/>
        </p:spPr>
        <p:txBody>
          <a:bodyPr wrap="square" lIns="0" tIns="0" rIns="0" bIns="0" rtlCol="0" anchor="ctr"/>
          <a:lstStyle/>
          <a:p>
            <a:pPr indent="0" marL="0">
              <a:buNone/>
            </a:pPr>
            <a:r>
              <a:rPr lang="en-US" sz="1450" b="1" dirty="0">
                <a:solidFill>
                  <a:srgbClr val="1F2D33"/>
                </a:solidFill>
                <a:latin typeface="Calibri" pitchFamily="34" charset="0"/>
                <a:ea typeface="Calibri" pitchFamily="34" charset="-122"/>
                <a:cs typeface="Calibri" pitchFamily="34" charset="-120"/>
              </a:rPr>
              <a:t>site:retailer</a:t>
            </a:r>
            <a:endParaRPr lang="en-US" sz="1450" dirty="0"/>
          </a:p>
        </p:txBody>
      </p:sp>
      <p:sp>
        <p:nvSpPr>
          <p:cNvPr id="15" name="Text 13"/>
          <p:cNvSpPr txBox="1"/>
          <p:nvPr/>
        </p:nvSpPr>
        <p:spPr>
          <a:xfrm>
            <a:off x="3429000" y="2798064"/>
            <a:ext cx="2651760" cy="384048"/>
          </a:xfrm>
          <a:prstGeom prst="rect">
            <a:avLst/>
          </a:prstGeom>
          <a:noFill/>
          <a:ln/>
        </p:spPr>
        <p:txBody>
          <a:bodyPr wrap="square" lIns="0" tIns="0" rIns="0" bIns="0" rtlCol="0" anchor="ctr"/>
          <a:lstStyle/>
          <a:p>
            <a:pPr indent="0" marL="0">
              <a:buNone/>
            </a:pPr>
            <a:r>
              <a:rPr lang="en-US" sz="1250" dirty="0">
                <a:solidFill>
                  <a:srgbClr val="5B6B70"/>
                </a:solidFill>
                <a:latin typeface="Calibri" pitchFamily="34" charset="0"/>
                <a:ea typeface="Calibri" pitchFamily="34" charset="-122"/>
                <a:cs typeface="Calibri" pitchFamily="34" charset="-120"/>
              </a:rPr>
              <a:t>the row's own retailer domain</a:t>
            </a:r>
            <a:endParaRPr lang="en-US" sz="1250" dirty="0"/>
          </a:p>
        </p:txBody>
      </p:sp>
      <p:sp>
        <p:nvSpPr>
          <p:cNvPr id="16" name="Shape 14"/>
          <p:cNvSpPr/>
          <p:nvPr/>
        </p:nvSpPr>
        <p:spPr>
          <a:xfrm>
            <a:off x="548640" y="3346704"/>
            <a:ext cx="420624" cy="420624"/>
          </a:xfrm>
          <a:prstGeom prst="ellipse">
            <a:avLst/>
          </a:prstGeom>
          <a:solidFill>
            <a:srgbClr val="0E7C7B"/>
          </a:solidFill>
          <a:ln w="12700">
            <a:solidFill>
              <a:srgbClr val="0E7C7B"/>
            </a:solidFill>
            <a:prstDash val="solid"/>
          </a:ln>
        </p:spPr>
      </p:sp>
      <p:sp>
        <p:nvSpPr>
          <p:cNvPr id="17" name="Text 15"/>
          <p:cNvSpPr txBox="1"/>
          <p:nvPr/>
        </p:nvSpPr>
        <p:spPr>
          <a:xfrm>
            <a:off x="548640" y="334670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S5</a:t>
            </a:r>
            <a:endParaRPr lang="en-US" sz="1300" dirty="0"/>
          </a:p>
        </p:txBody>
      </p:sp>
      <p:sp>
        <p:nvSpPr>
          <p:cNvPr id="18" name="Text 16"/>
          <p:cNvSpPr txBox="1"/>
          <p:nvPr/>
        </p:nvSpPr>
        <p:spPr>
          <a:xfrm>
            <a:off x="1097280" y="3364992"/>
            <a:ext cx="2377440" cy="384048"/>
          </a:xfrm>
          <a:prstGeom prst="rect">
            <a:avLst/>
          </a:prstGeom>
          <a:noFill/>
          <a:ln/>
        </p:spPr>
        <p:txBody>
          <a:bodyPr wrap="square" lIns="0" tIns="0" rIns="0" bIns="0" rtlCol="0" anchor="ctr"/>
          <a:lstStyle/>
          <a:p>
            <a:pPr indent="0" marL="0">
              <a:buNone/>
            </a:pPr>
            <a:r>
              <a:rPr lang="en-US" sz="1450" b="1" dirty="0">
                <a:solidFill>
                  <a:srgbClr val="1F2D33"/>
                </a:solidFill>
                <a:latin typeface="Calibri" pitchFamily="34" charset="0"/>
                <a:ea typeface="Calibri" pitchFamily="34" charset="-122"/>
                <a:cs typeface="Calibri" pitchFamily="34" charset="-120"/>
              </a:rPr>
              <a:t>description verbatim</a:t>
            </a:r>
            <a:endParaRPr lang="en-US" sz="1450" dirty="0"/>
          </a:p>
        </p:txBody>
      </p:sp>
      <p:sp>
        <p:nvSpPr>
          <p:cNvPr id="19" name="Text 17"/>
          <p:cNvSpPr txBox="1"/>
          <p:nvPr/>
        </p:nvSpPr>
        <p:spPr>
          <a:xfrm>
            <a:off x="3429000" y="3364992"/>
            <a:ext cx="2651760" cy="384048"/>
          </a:xfrm>
          <a:prstGeom prst="rect">
            <a:avLst/>
          </a:prstGeom>
          <a:noFill/>
          <a:ln/>
        </p:spPr>
        <p:txBody>
          <a:bodyPr wrap="square" lIns="0" tIns="0" rIns="0" bIns="0" rtlCol="0" anchor="ctr"/>
          <a:lstStyle/>
          <a:p>
            <a:pPr indent="0" marL="0">
              <a:buNone/>
            </a:pPr>
            <a:r>
              <a:rPr lang="en-US" sz="1250" dirty="0">
                <a:solidFill>
                  <a:srgbClr val="5B6B70"/>
                </a:solidFill>
                <a:latin typeface="Calibri" pitchFamily="34" charset="0"/>
                <a:ea typeface="Calibri" pitchFamily="34" charset="-122"/>
                <a:cs typeface="Calibri" pitchFamily="34" charset="-120"/>
              </a:rPr>
              <a:t>fallback</a:t>
            </a:r>
            <a:endParaRPr lang="en-US" sz="1250" dirty="0"/>
          </a:p>
        </p:txBody>
      </p:sp>
      <p:sp>
        <p:nvSpPr>
          <p:cNvPr id="20" name="Shape 18"/>
          <p:cNvSpPr/>
          <p:nvPr/>
        </p:nvSpPr>
        <p:spPr>
          <a:xfrm>
            <a:off x="548640" y="3913632"/>
            <a:ext cx="420624" cy="420624"/>
          </a:xfrm>
          <a:prstGeom prst="ellipse">
            <a:avLst/>
          </a:prstGeom>
          <a:solidFill>
            <a:srgbClr val="0E7C7B"/>
          </a:solidFill>
          <a:ln w="12700">
            <a:solidFill>
              <a:srgbClr val="0E7C7B"/>
            </a:solidFill>
            <a:prstDash val="solid"/>
          </a:ln>
        </p:spPr>
      </p:sp>
      <p:sp>
        <p:nvSpPr>
          <p:cNvPr id="21" name="Text 19"/>
          <p:cNvSpPr txBox="1"/>
          <p:nvPr/>
        </p:nvSpPr>
        <p:spPr>
          <a:xfrm>
            <a:off x="548640" y="391363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S1</a:t>
            </a:r>
            <a:endParaRPr lang="en-US" sz="1300" dirty="0"/>
          </a:p>
        </p:txBody>
      </p:sp>
      <p:sp>
        <p:nvSpPr>
          <p:cNvPr id="22" name="Text 20"/>
          <p:cNvSpPr txBox="1"/>
          <p:nvPr/>
        </p:nvSpPr>
        <p:spPr>
          <a:xfrm>
            <a:off x="1097280" y="3931920"/>
            <a:ext cx="2377440" cy="384048"/>
          </a:xfrm>
          <a:prstGeom prst="rect">
            <a:avLst/>
          </a:prstGeom>
          <a:noFill/>
          <a:ln/>
        </p:spPr>
        <p:txBody>
          <a:bodyPr wrap="square" lIns="0" tIns="0" rIns="0" bIns="0" rtlCol="0" anchor="ctr"/>
          <a:lstStyle/>
          <a:p>
            <a:pPr indent="0" marL="0">
              <a:buNone/>
            </a:pPr>
            <a:r>
              <a:rPr lang="en-US" sz="1450" b="1" dirty="0">
                <a:solidFill>
                  <a:srgbClr val="1F2D33"/>
                </a:solidFill>
                <a:latin typeface="Calibri" pitchFamily="34" charset="0"/>
                <a:ea typeface="Calibri" pitchFamily="34" charset="-122"/>
                <a:cs typeface="Calibri" pitchFamily="34" charset="-120"/>
              </a:rPr>
              <a:t>bare barcode</a:t>
            </a:r>
            <a:endParaRPr lang="en-US" sz="1450" dirty="0"/>
          </a:p>
        </p:txBody>
      </p:sp>
      <p:sp>
        <p:nvSpPr>
          <p:cNvPr id="23" name="Text 21"/>
          <p:cNvSpPr txBox="1"/>
          <p:nvPr/>
        </p:nvSpPr>
        <p:spPr>
          <a:xfrm>
            <a:off x="3429000" y="3931920"/>
            <a:ext cx="2651760" cy="384048"/>
          </a:xfrm>
          <a:prstGeom prst="rect">
            <a:avLst/>
          </a:prstGeom>
          <a:noFill/>
          <a:ln/>
        </p:spPr>
        <p:txBody>
          <a:bodyPr wrap="square" lIns="0" tIns="0" rIns="0" bIns="0" rtlCol="0" anchor="ctr"/>
          <a:lstStyle/>
          <a:p>
            <a:pPr indent="0" marL="0">
              <a:buNone/>
            </a:pPr>
            <a:r>
              <a:rPr lang="en-US" sz="1250" dirty="0">
                <a:solidFill>
                  <a:srgbClr val="5B6B70"/>
                </a:solidFill>
                <a:latin typeface="Calibri" pitchFamily="34" charset="0"/>
                <a:ea typeface="Calibri" pitchFamily="34" charset="-122"/>
                <a:cs typeface="Calibri" pitchFamily="34" charset="-120"/>
              </a:rPr>
              <a:t>last — digit strings match phone prefixes</a:t>
            </a:r>
            <a:endParaRPr lang="en-US" sz="1250" dirty="0"/>
          </a:p>
        </p:txBody>
      </p:sp>
      <p:sp>
        <p:nvSpPr>
          <p:cNvPr id="24" name="Text 22"/>
          <p:cNvSpPr txBox="1"/>
          <p:nvPr/>
        </p:nvSpPr>
        <p:spPr>
          <a:xfrm>
            <a:off x="548640" y="4572000"/>
            <a:ext cx="5577840" cy="17830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F2D33"/>
                </a:solidFill>
                <a:latin typeface="Calibri" pitchFamily="34" charset="0"/>
                <a:ea typeface="Calibri" pitchFamily="34" charset="-122"/>
                <a:cs typeface="Calibri" pitchFamily="34" charset="-120"/>
              </a:rPr>
              <a:t>Free engines, engineered: rotation, per-engine circuit breaker, early exit, cache — 412 qa rows in 107 minutes, zero failures.</a:t>
            </a:r>
            <a:endParaRPr lang="en-US" sz="1350" dirty="0"/>
          </a:p>
          <a:p>
            <a:pPr marL="342900" indent="-342900">
              <a:spcAft>
                <a:spcPts val="600"/>
              </a:spcAft>
              <a:buSzPct val="100000"/>
              <a:buChar char="•"/>
            </a:pPr>
            <a:r>
              <a:rPr lang="en-US" sz="1350" dirty="0">
                <a:solidFill>
                  <a:srgbClr val="1F2D33"/>
                </a:solidFill>
                <a:latin typeface="Calibri" pitchFamily="34" charset="0"/>
                <a:ea typeface="Calibri" pitchFamily="34" charset="-122"/>
                <a:cs typeface="Calibri" pitchFamily="34" charset="-120"/>
              </a:rPr>
              <a:t>Brave Search API when Docker is unavailable: cache-first over every harvested answer, capped per run.</a:t>
            </a:r>
            <a:endParaRPr lang="en-US" sz="1350" dirty="0"/>
          </a:p>
          <a:p>
            <a:pPr marL="342900" indent="-342900">
              <a:spcAft>
                <a:spcPts val="600"/>
              </a:spcAft>
              <a:buSzPct val="100000"/>
              <a:buChar char="•"/>
            </a:pPr>
            <a:r>
              <a:rPr lang="en-US" sz="1350" dirty="0">
                <a:solidFill>
                  <a:srgbClr val="1F2D33"/>
                </a:solidFill>
                <a:latin typeface="Calibri" pitchFamily="34" charset="0"/>
                <a:ea typeface="Calibri" pitchFamily="34" charset="-122"/>
                <a:cs typeface="Calibri" pitchFamily="34" charset="-120"/>
              </a:rPr>
              <a:t>Pages about the product — homepages, listings, barcode directories — never fill the fetch budget.</a:t>
            </a:r>
            <a:endParaRPr lang="en-US" sz="1350" dirty="0"/>
          </a:p>
        </p:txBody>
      </p:sp>
      <p:graphicFrame>
        <p:nvGraphicFramePr>
          <p:cNvPr id="25" name="Chart 0" descr=""/>
          <p:cNvGraphicFramePr/>
          <p:nvPr/>
        </p:nvGraphicFramePr>
        <p:xfrm>
          <a:off x="6400800" y="1554480"/>
          <a:ext cx="5212080" cy="448056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300" kern="0" dirty="0">
                <a:solidFill>
                  <a:srgbClr val="0E7C7B"/>
                </a:solidFill>
                <a:latin typeface="Calibri" pitchFamily="34" charset="0"/>
                <a:ea typeface="Calibri" pitchFamily="34" charset="-122"/>
                <a:cs typeface="Calibri" pitchFamily="34" charset="-120"/>
              </a:rPr>
              <a:t>MATCHING</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F2D33"/>
                </a:solidFill>
                <a:latin typeface="Cambria" pitchFamily="34" charset="0"/>
                <a:ea typeface="Cambria" pitchFamily="34" charset="-122"/>
                <a:cs typeface="Cambria" pitchFamily="34" charset="-120"/>
              </a:rPr>
              <a:t>Hard rules first, then a score that means a probability</a:t>
            </a:r>
            <a:endParaRPr lang="en-US" sz="3000" dirty="0"/>
          </a:p>
        </p:txBody>
      </p:sp>
      <p:sp>
        <p:nvSpPr>
          <p:cNvPr id="4" name="Shape 2"/>
          <p:cNvSpPr/>
          <p:nvPr/>
        </p:nvSpPr>
        <p:spPr>
          <a:xfrm>
            <a:off x="548640" y="1645920"/>
            <a:ext cx="5486400" cy="658368"/>
          </a:xfrm>
          <a:prstGeom prst="roundRect">
            <a:avLst>
              <a:gd name="adj" fmla="val 11111"/>
            </a:avLst>
          </a:prstGeom>
          <a:solidFill>
            <a:srgbClr val="F3F8F7"/>
          </a:solidFill>
          <a:ln w="12700">
            <a:solidFill>
              <a:srgbClr val="F3F8F7"/>
            </a:solidFill>
            <a:prstDash val="solid"/>
          </a:ln>
        </p:spPr>
      </p:sp>
      <p:sp>
        <p:nvSpPr>
          <p:cNvPr id="5" name="Shape 3"/>
          <p:cNvSpPr/>
          <p:nvPr/>
        </p:nvSpPr>
        <p:spPr>
          <a:xfrm>
            <a:off x="731520" y="1865376"/>
            <a:ext cx="219456" cy="219456"/>
          </a:xfrm>
          <a:prstGeom prst="ellipse">
            <a:avLst/>
          </a:prstGeom>
          <a:solidFill>
            <a:srgbClr val="0E7C7B"/>
          </a:solidFill>
          <a:ln w="12700">
            <a:solidFill>
              <a:srgbClr val="0E7C7B"/>
            </a:solidFill>
            <a:prstDash val="solid"/>
          </a:ln>
        </p:spPr>
      </p:sp>
      <p:sp>
        <p:nvSpPr>
          <p:cNvPr id="6" name="Text 4"/>
          <p:cNvSpPr txBox="1"/>
          <p:nvPr/>
        </p:nvSpPr>
        <p:spPr>
          <a:xfrm>
            <a:off x="1097280" y="1719072"/>
            <a:ext cx="2468880" cy="512064"/>
          </a:xfrm>
          <a:prstGeom prst="rect">
            <a:avLst/>
          </a:prstGeom>
          <a:noFill/>
          <a:ln/>
        </p:spPr>
        <p:txBody>
          <a:bodyPr wrap="square" lIns="0" tIns="0" rIns="0" bIns="0" rtlCol="0" anchor="ctr"/>
          <a:lstStyle/>
          <a:p>
            <a:pPr indent="0" marL="0">
              <a:buNone/>
            </a:pPr>
            <a:r>
              <a:rPr lang="en-US" sz="1400" b="1" dirty="0">
                <a:solidFill>
                  <a:srgbClr val="1F2D33"/>
                </a:solidFill>
                <a:latin typeface="Calibri" pitchFamily="34" charset="0"/>
                <a:ea typeface="Calibri" pitchFamily="34" charset="-122"/>
                <a:cs typeface="Calibri" pitchFamily="34" charset="-120"/>
              </a:rPr>
              <a:t>Page GTIN = our barcode</a:t>
            </a:r>
            <a:endParaRPr lang="en-US" sz="1400" dirty="0"/>
          </a:p>
        </p:txBody>
      </p:sp>
      <p:sp>
        <p:nvSpPr>
          <p:cNvPr id="7" name="Text 5"/>
          <p:cNvSpPr txBox="1"/>
          <p:nvPr/>
        </p:nvSpPr>
        <p:spPr>
          <a:xfrm>
            <a:off x="3566160" y="1719072"/>
            <a:ext cx="2377440" cy="512064"/>
          </a:xfrm>
          <a:prstGeom prst="rect">
            <a:avLst/>
          </a:prstGeom>
          <a:noFill/>
          <a:ln/>
        </p:spPr>
        <p:txBody>
          <a:bodyPr wrap="square" lIns="0" tIns="0" rIns="0" bIns="0" rtlCol="0" anchor="ctr"/>
          <a:lstStyle/>
          <a:p>
            <a:pPr indent="0" marL="0">
              <a:buNone/>
            </a:pPr>
            <a:r>
              <a:rPr lang="en-US" sz="1250" dirty="0">
                <a:solidFill>
                  <a:srgbClr val="5B6B70"/>
                </a:solidFill>
                <a:latin typeface="Calibri" pitchFamily="34" charset="0"/>
                <a:ea typeface="Calibri" pitchFamily="34" charset="-122"/>
                <a:cs typeface="Calibri" pitchFamily="34" charset="-120"/>
              </a:rPr>
              <a:t>accept — identity by identifier</a:t>
            </a:r>
            <a:endParaRPr lang="en-US" sz="1250" dirty="0"/>
          </a:p>
        </p:txBody>
      </p:sp>
      <p:sp>
        <p:nvSpPr>
          <p:cNvPr id="8" name="Shape 6"/>
          <p:cNvSpPr/>
          <p:nvPr/>
        </p:nvSpPr>
        <p:spPr>
          <a:xfrm>
            <a:off x="548640" y="2432304"/>
            <a:ext cx="5486400" cy="658368"/>
          </a:xfrm>
          <a:prstGeom prst="roundRect">
            <a:avLst>
              <a:gd name="adj" fmla="val 11111"/>
            </a:avLst>
          </a:prstGeom>
          <a:solidFill>
            <a:srgbClr val="F3F8F7"/>
          </a:solidFill>
          <a:ln w="12700">
            <a:solidFill>
              <a:srgbClr val="F3F8F7"/>
            </a:solidFill>
            <a:prstDash val="solid"/>
          </a:ln>
        </p:spPr>
      </p:sp>
      <p:sp>
        <p:nvSpPr>
          <p:cNvPr id="9" name="Shape 7"/>
          <p:cNvSpPr/>
          <p:nvPr/>
        </p:nvSpPr>
        <p:spPr>
          <a:xfrm>
            <a:off x="731520" y="2651760"/>
            <a:ext cx="219456" cy="219456"/>
          </a:xfrm>
          <a:prstGeom prst="ellipse">
            <a:avLst/>
          </a:prstGeom>
          <a:solidFill>
            <a:srgbClr val="C0492F"/>
          </a:solidFill>
          <a:ln w="12700">
            <a:solidFill>
              <a:srgbClr val="C0492F"/>
            </a:solidFill>
            <a:prstDash val="solid"/>
          </a:ln>
        </p:spPr>
      </p:sp>
      <p:sp>
        <p:nvSpPr>
          <p:cNvPr id="10" name="Text 8"/>
          <p:cNvSpPr txBox="1"/>
          <p:nvPr/>
        </p:nvSpPr>
        <p:spPr>
          <a:xfrm>
            <a:off x="1097280" y="2505456"/>
            <a:ext cx="2468880" cy="512064"/>
          </a:xfrm>
          <a:prstGeom prst="rect">
            <a:avLst/>
          </a:prstGeom>
          <a:noFill/>
          <a:ln/>
        </p:spPr>
        <p:txBody>
          <a:bodyPr wrap="square" lIns="0" tIns="0" rIns="0" bIns="0" rtlCol="0" anchor="ctr"/>
          <a:lstStyle/>
          <a:p>
            <a:pPr indent="0" marL="0">
              <a:buNone/>
            </a:pPr>
            <a:r>
              <a:rPr lang="en-US" sz="1400" b="1" dirty="0">
                <a:solidFill>
                  <a:srgbClr val="1F2D33"/>
                </a:solidFill>
                <a:latin typeface="Calibri" pitchFamily="34" charset="0"/>
                <a:ea typeface="Calibri" pitchFamily="34" charset="-122"/>
                <a:cs typeface="Calibri" pitchFamily="34" charset="-120"/>
              </a:rPr>
              <a:t>Page GTIN ≠ our barcode</a:t>
            </a:r>
            <a:endParaRPr lang="en-US" sz="1400" dirty="0"/>
          </a:p>
        </p:txBody>
      </p:sp>
      <p:sp>
        <p:nvSpPr>
          <p:cNvPr id="11" name="Text 9"/>
          <p:cNvSpPr txBox="1"/>
          <p:nvPr/>
        </p:nvSpPr>
        <p:spPr>
          <a:xfrm>
            <a:off x="3566160" y="2505456"/>
            <a:ext cx="2377440" cy="512064"/>
          </a:xfrm>
          <a:prstGeom prst="rect">
            <a:avLst/>
          </a:prstGeom>
          <a:noFill/>
          <a:ln/>
        </p:spPr>
        <p:txBody>
          <a:bodyPr wrap="square" lIns="0" tIns="0" rIns="0" bIns="0" rtlCol="0" anchor="ctr"/>
          <a:lstStyle/>
          <a:p>
            <a:pPr indent="0" marL="0">
              <a:buNone/>
            </a:pPr>
            <a:r>
              <a:rPr lang="en-US" sz="1250" dirty="0">
                <a:solidFill>
                  <a:srgbClr val="5B6B70"/>
                </a:solidFill>
                <a:latin typeface="Calibri" pitchFamily="34" charset="0"/>
                <a:ea typeface="Calibri" pitchFamily="34" charset="-122"/>
                <a:cs typeface="Calibri" pitchFamily="34" charset="-120"/>
              </a:rPr>
              <a:t>reject — however similar the text</a:t>
            </a:r>
            <a:endParaRPr lang="en-US" sz="1250" dirty="0"/>
          </a:p>
        </p:txBody>
      </p:sp>
      <p:sp>
        <p:nvSpPr>
          <p:cNvPr id="12" name="Shape 10"/>
          <p:cNvSpPr/>
          <p:nvPr/>
        </p:nvSpPr>
        <p:spPr>
          <a:xfrm>
            <a:off x="548640" y="3218688"/>
            <a:ext cx="5486400" cy="658368"/>
          </a:xfrm>
          <a:prstGeom prst="roundRect">
            <a:avLst>
              <a:gd name="adj" fmla="val 11111"/>
            </a:avLst>
          </a:prstGeom>
          <a:solidFill>
            <a:srgbClr val="F3F8F7"/>
          </a:solidFill>
          <a:ln w="12700">
            <a:solidFill>
              <a:srgbClr val="F3F8F7"/>
            </a:solidFill>
            <a:prstDash val="solid"/>
          </a:ln>
        </p:spPr>
      </p:sp>
      <p:sp>
        <p:nvSpPr>
          <p:cNvPr id="13" name="Shape 11"/>
          <p:cNvSpPr/>
          <p:nvPr/>
        </p:nvSpPr>
        <p:spPr>
          <a:xfrm>
            <a:off x="731520" y="3438144"/>
            <a:ext cx="219456" cy="219456"/>
          </a:xfrm>
          <a:prstGeom prst="ellipse">
            <a:avLst/>
          </a:prstGeom>
          <a:solidFill>
            <a:srgbClr val="D9822B"/>
          </a:solidFill>
          <a:ln w="12700">
            <a:solidFill>
              <a:srgbClr val="D9822B"/>
            </a:solidFill>
            <a:prstDash val="solid"/>
          </a:ln>
        </p:spPr>
      </p:sp>
      <p:sp>
        <p:nvSpPr>
          <p:cNvPr id="14" name="Text 12"/>
          <p:cNvSpPr txBox="1"/>
          <p:nvPr/>
        </p:nvSpPr>
        <p:spPr>
          <a:xfrm>
            <a:off x="1097280" y="3291840"/>
            <a:ext cx="2468880" cy="512064"/>
          </a:xfrm>
          <a:prstGeom prst="rect">
            <a:avLst/>
          </a:prstGeom>
          <a:noFill/>
          <a:ln/>
        </p:spPr>
        <p:txBody>
          <a:bodyPr wrap="square" lIns="0" tIns="0" rIns="0" bIns="0" rtlCol="0" anchor="ctr"/>
          <a:lstStyle/>
          <a:p>
            <a:pPr indent="0" marL="0">
              <a:buNone/>
            </a:pPr>
            <a:r>
              <a:rPr lang="en-US" sz="1400" b="1" dirty="0">
                <a:solidFill>
                  <a:srgbClr val="1F2D33"/>
                </a:solidFill>
                <a:latin typeface="Calibri" pitchFamily="34" charset="0"/>
                <a:ea typeface="Calibri" pitchFamily="34" charset="-122"/>
                <a:cs typeface="Calibri" pitchFamily="34" charset="-120"/>
              </a:rPr>
              <a:t>Size or pack count differ</a:t>
            </a:r>
            <a:endParaRPr lang="en-US" sz="1400" dirty="0"/>
          </a:p>
        </p:txBody>
      </p:sp>
      <p:sp>
        <p:nvSpPr>
          <p:cNvPr id="15" name="Text 13"/>
          <p:cNvSpPr txBox="1"/>
          <p:nvPr/>
        </p:nvSpPr>
        <p:spPr>
          <a:xfrm>
            <a:off x="3566160" y="3291840"/>
            <a:ext cx="2377440" cy="512064"/>
          </a:xfrm>
          <a:prstGeom prst="rect">
            <a:avLst/>
          </a:prstGeom>
          <a:noFill/>
          <a:ln/>
        </p:spPr>
        <p:txBody>
          <a:bodyPr wrap="square" lIns="0" tIns="0" rIns="0" bIns="0" rtlCol="0" anchor="ctr"/>
          <a:lstStyle/>
          <a:p>
            <a:pPr indent="0" marL="0">
              <a:buNone/>
            </a:pPr>
            <a:r>
              <a:rPr lang="en-US" sz="1250" dirty="0">
                <a:solidFill>
                  <a:srgbClr val="5B6B70"/>
                </a:solidFill>
                <a:latin typeface="Calibri" pitchFamily="34" charset="0"/>
                <a:ea typeface="Calibri" pitchFamily="34" charset="-122"/>
                <a:cs typeface="Calibri" pitchFamily="34" charset="-120"/>
              </a:rPr>
              <a:t>demote — 2-pack ≠ single, 75 ml ≠ 100 ml</a:t>
            </a:r>
            <a:endParaRPr lang="en-US" sz="1250" dirty="0"/>
          </a:p>
        </p:txBody>
      </p:sp>
      <p:sp>
        <p:nvSpPr>
          <p:cNvPr id="16" name="Shape 14"/>
          <p:cNvSpPr/>
          <p:nvPr/>
        </p:nvSpPr>
        <p:spPr>
          <a:xfrm>
            <a:off x="548640" y="4005072"/>
            <a:ext cx="5486400" cy="658368"/>
          </a:xfrm>
          <a:prstGeom prst="roundRect">
            <a:avLst>
              <a:gd name="adj" fmla="val 11111"/>
            </a:avLst>
          </a:prstGeom>
          <a:solidFill>
            <a:srgbClr val="F3F8F7"/>
          </a:solidFill>
          <a:ln w="12700">
            <a:solidFill>
              <a:srgbClr val="F3F8F7"/>
            </a:solidFill>
            <a:prstDash val="solid"/>
          </a:ln>
        </p:spPr>
      </p:sp>
      <p:sp>
        <p:nvSpPr>
          <p:cNvPr id="17" name="Shape 15"/>
          <p:cNvSpPr/>
          <p:nvPr/>
        </p:nvSpPr>
        <p:spPr>
          <a:xfrm>
            <a:off x="731520" y="4224528"/>
            <a:ext cx="219456" cy="219456"/>
          </a:xfrm>
          <a:prstGeom prst="ellipse">
            <a:avLst/>
          </a:prstGeom>
          <a:solidFill>
            <a:srgbClr val="D9822B"/>
          </a:solidFill>
          <a:ln w="12700">
            <a:solidFill>
              <a:srgbClr val="D9822B"/>
            </a:solidFill>
            <a:prstDash val="solid"/>
          </a:ln>
        </p:spPr>
      </p:sp>
      <p:sp>
        <p:nvSpPr>
          <p:cNvPr id="18" name="Text 16"/>
          <p:cNvSpPr txBox="1"/>
          <p:nvPr/>
        </p:nvSpPr>
        <p:spPr>
          <a:xfrm>
            <a:off x="1097280" y="4078224"/>
            <a:ext cx="2468880" cy="512064"/>
          </a:xfrm>
          <a:prstGeom prst="rect">
            <a:avLst/>
          </a:prstGeom>
          <a:noFill/>
          <a:ln/>
        </p:spPr>
        <p:txBody>
          <a:bodyPr wrap="square" lIns="0" tIns="0" rIns="0" bIns="0" rtlCol="0" anchor="ctr"/>
          <a:lstStyle/>
          <a:p>
            <a:pPr indent="0" marL="0">
              <a:buNone/>
            </a:pPr>
            <a:r>
              <a:rPr lang="en-US" sz="1400" b="1" dirty="0">
                <a:solidFill>
                  <a:srgbClr val="1F2D33"/>
                </a:solidFill>
                <a:latin typeface="Calibri" pitchFamily="34" charset="0"/>
                <a:ea typeface="Calibri" pitchFamily="34" charset="-122"/>
                <a:cs typeface="Calibri" pitchFamily="34" charset="-120"/>
              </a:rPr>
              <a:t>Refill, travel, bundle, sample</a:t>
            </a:r>
            <a:endParaRPr lang="en-US" sz="1400" dirty="0"/>
          </a:p>
        </p:txBody>
      </p:sp>
      <p:sp>
        <p:nvSpPr>
          <p:cNvPr id="19" name="Text 17"/>
          <p:cNvSpPr txBox="1"/>
          <p:nvPr/>
        </p:nvSpPr>
        <p:spPr>
          <a:xfrm>
            <a:off x="3566160" y="4078224"/>
            <a:ext cx="2377440" cy="512064"/>
          </a:xfrm>
          <a:prstGeom prst="rect">
            <a:avLst/>
          </a:prstGeom>
          <a:noFill/>
          <a:ln/>
        </p:spPr>
        <p:txBody>
          <a:bodyPr wrap="square" lIns="0" tIns="0" rIns="0" bIns="0" rtlCol="0" anchor="ctr"/>
          <a:lstStyle/>
          <a:p>
            <a:pPr indent="0" marL="0">
              <a:buNone/>
            </a:pPr>
            <a:r>
              <a:rPr lang="en-US" sz="1250" dirty="0">
                <a:solidFill>
                  <a:srgbClr val="5B6B70"/>
                </a:solidFill>
                <a:latin typeface="Calibri" pitchFamily="34" charset="0"/>
                <a:ea typeface="Calibri" pitchFamily="34" charset="-122"/>
                <a:cs typeface="Calibri" pitchFamily="34" charset="-120"/>
              </a:rPr>
              <a:t>demote — a different SKU of the line</a:t>
            </a:r>
            <a:endParaRPr lang="en-US" sz="1250" dirty="0"/>
          </a:p>
        </p:txBody>
      </p:sp>
      <p:sp>
        <p:nvSpPr>
          <p:cNvPr id="20" name="Shape 18"/>
          <p:cNvSpPr/>
          <p:nvPr/>
        </p:nvSpPr>
        <p:spPr>
          <a:xfrm>
            <a:off x="548640" y="4791456"/>
            <a:ext cx="5486400" cy="658368"/>
          </a:xfrm>
          <a:prstGeom prst="roundRect">
            <a:avLst>
              <a:gd name="adj" fmla="val 11111"/>
            </a:avLst>
          </a:prstGeom>
          <a:solidFill>
            <a:srgbClr val="F3F8F7"/>
          </a:solidFill>
          <a:ln w="12700">
            <a:solidFill>
              <a:srgbClr val="F3F8F7"/>
            </a:solidFill>
            <a:prstDash val="solid"/>
          </a:ln>
        </p:spPr>
      </p:sp>
      <p:sp>
        <p:nvSpPr>
          <p:cNvPr id="21" name="Shape 19"/>
          <p:cNvSpPr/>
          <p:nvPr/>
        </p:nvSpPr>
        <p:spPr>
          <a:xfrm>
            <a:off x="731520" y="5010912"/>
            <a:ext cx="219456" cy="219456"/>
          </a:xfrm>
          <a:prstGeom prst="ellipse">
            <a:avLst/>
          </a:prstGeom>
          <a:solidFill>
            <a:srgbClr val="D9822B"/>
          </a:solidFill>
          <a:ln w="12700">
            <a:solidFill>
              <a:srgbClr val="D9822B"/>
            </a:solidFill>
            <a:prstDash val="solid"/>
          </a:ln>
        </p:spPr>
      </p:sp>
      <p:sp>
        <p:nvSpPr>
          <p:cNvPr id="22" name="Text 20"/>
          <p:cNvSpPr txBox="1"/>
          <p:nvPr/>
        </p:nvSpPr>
        <p:spPr>
          <a:xfrm>
            <a:off x="1097280" y="4864608"/>
            <a:ext cx="2468880" cy="512064"/>
          </a:xfrm>
          <a:prstGeom prst="rect">
            <a:avLst/>
          </a:prstGeom>
          <a:noFill/>
          <a:ln/>
        </p:spPr>
        <p:txBody>
          <a:bodyPr wrap="square" lIns="0" tIns="0" rIns="0" bIns="0" rtlCol="0" anchor="ctr"/>
          <a:lstStyle/>
          <a:p>
            <a:pPr indent="0" marL="0">
              <a:buNone/>
            </a:pPr>
            <a:r>
              <a:rPr lang="en-US" sz="1400" b="1" dirty="0">
                <a:solidFill>
                  <a:srgbClr val="1F2D33"/>
                </a:solidFill>
                <a:latin typeface="Calibri" pitchFamily="34" charset="0"/>
                <a:ea typeface="Calibri" pitchFamily="34" charset="-122"/>
                <a:cs typeface="Calibri" pitchFamily="34" charset="-120"/>
              </a:rPr>
              <a:t>Homepage, listing, directory</a:t>
            </a:r>
            <a:endParaRPr lang="en-US" sz="1400" dirty="0"/>
          </a:p>
        </p:txBody>
      </p:sp>
      <p:sp>
        <p:nvSpPr>
          <p:cNvPr id="23" name="Text 21"/>
          <p:cNvSpPr txBox="1"/>
          <p:nvPr/>
        </p:nvSpPr>
        <p:spPr>
          <a:xfrm>
            <a:off x="3566160" y="4864608"/>
            <a:ext cx="2377440" cy="512064"/>
          </a:xfrm>
          <a:prstGeom prst="rect">
            <a:avLst/>
          </a:prstGeom>
          <a:noFill/>
          <a:ln/>
        </p:spPr>
        <p:txBody>
          <a:bodyPr wrap="square" lIns="0" tIns="0" rIns="0" bIns="0" rtlCol="0" anchor="ctr"/>
          <a:lstStyle/>
          <a:p>
            <a:pPr indent="0" marL="0">
              <a:buNone/>
            </a:pPr>
            <a:r>
              <a:rPr lang="en-US" sz="1250" dirty="0">
                <a:solidFill>
                  <a:srgbClr val="5B6B70"/>
                </a:solidFill>
                <a:latin typeface="Calibri" pitchFamily="34" charset="0"/>
                <a:ea typeface="Calibri" pitchFamily="34" charset="-122"/>
                <a:cs typeface="Calibri" pitchFamily="34" charset="-120"/>
              </a:rPr>
              <a:t>demote — about the product, not of it</a:t>
            </a:r>
            <a:endParaRPr lang="en-US" sz="1250" dirty="0"/>
          </a:p>
        </p:txBody>
      </p:sp>
      <p:sp>
        <p:nvSpPr>
          <p:cNvPr id="24" name="Text 22"/>
          <p:cNvSpPr txBox="1"/>
          <p:nvPr/>
        </p:nvSpPr>
        <p:spPr>
          <a:xfrm>
            <a:off x="548640" y="5669280"/>
            <a:ext cx="5486400" cy="640080"/>
          </a:xfrm>
          <a:prstGeom prst="rect">
            <a:avLst/>
          </a:prstGeom>
          <a:noFill/>
          <a:ln/>
        </p:spPr>
        <p:txBody>
          <a:bodyPr wrap="square" lIns="0" tIns="0" rIns="0" bIns="0" rtlCol="0" anchor="t"/>
          <a:lstStyle/>
          <a:p>
            <a:pPr indent="0" marL="0">
              <a:buNone/>
            </a:pPr>
            <a:r>
              <a:rPr lang="en-US" sz="1300" dirty="0">
                <a:solidFill>
                  <a:srgbClr val="5B6B70"/>
                </a:solidFill>
                <a:latin typeface="Calibri" pitchFamily="34" charset="0"/>
                <a:ea typeface="Calibri" pitchFamily="34" charset="-122"/>
                <a:cs typeface="Calibri" pitchFamily="34" charset="-120"/>
              </a:rPr>
              <a:t>Everything else: weighted brand, variant, format, retailer and market features — market is scored, never a filter.</a:t>
            </a:r>
            <a:endParaRPr lang="en-US" sz="1300" dirty="0"/>
          </a:p>
        </p:txBody>
      </p:sp>
      <p:graphicFrame>
        <p:nvGraphicFramePr>
          <p:cNvPr id="25" name="Chart 0" descr=""/>
          <p:cNvGraphicFramePr/>
          <p:nvPr/>
        </p:nvGraphicFramePr>
        <p:xfrm>
          <a:off x="6400800" y="1554480"/>
          <a:ext cx="5212080" cy="4206240"/>
        </p:xfrm>
        <a:graphic xmlns:a="http://schemas.openxmlformats.org/drawingml/2006/main">
          <a:graphicData uri="http://schemas.openxmlformats.org/drawingml/2006/chart">
            <c:chart xmlns:c="http://schemas.openxmlformats.org/drawingml/2006/chart" r:id="rId1"/>
          </a:graphicData>
        </a:graphic>
      </p:graphicFrame>
      <p:sp>
        <p:nvSpPr>
          <p:cNvPr id="26" name="Text 23"/>
          <p:cNvSpPr txBox="1"/>
          <p:nvPr/>
        </p:nvSpPr>
        <p:spPr>
          <a:xfrm>
            <a:off x="6400800" y="5806440"/>
            <a:ext cx="5212080" cy="502920"/>
          </a:xfrm>
          <a:prstGeom prst="rect">
            <a:avLst/>
          </a:prstGeom>
          <a:noFill/>
          <a:ln/>
        </p:spPr>
        <p:txBody>
          <a:bodyPr wrap="square" lIns="0" tIns="0" rIns="0" bIns="0" rtlCol="0" anchor="t"/>
          <a:lstStyle/>
          <a:p>
            <a:pPr indent="0" marL="0">
              <a:buNone/>
            </a:pPr>
            <a:r>
              <a:rPr lang="en-US" sz="1200" dirty="0">
                <a:solidFill>
                  <a:srgbClr val="5B6B70"/>
                </a:solidFill>
                <a:latin typeface="Calibri" pitchFamily="34" charset="0"/>
                <a:ea typeface="Calibri" pitchFamily="34" charset="-122"/>
                <a:cs typeface="Calibri" pitchFamily="34" charset="-120"/>
              </a:rPr>
              <a:t>Isotonic fit on 236 pages whose own barcode labels them right or wrong · held-out calibration error 0.068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300" kern="0" dirty="0">
                <a:solidFill>
                  <a:srgbClr val="0E7C7B"/>
                </a:solidFill>
                <a:latin typeface="Calibri" pitchFamily="34" charset="0"/>
                <a:ea typeface="Calibri" pitchFamily="34" charset="-122"/>
                <a:cs typeface="Calibri" pitchFamily="34" charset="-120"/>
              </a:rPr>
              <a:t>MODULE CLASSIFICATION</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F2D33"/>
                </a:solidFill>
                <a:latin typeface="Cambria" pitchFamily="34" charset="0"/>
                <a:ea typeface="Cambria" pitchFamily="34" charset="-122"/>
                <a:cs typeface="Cambria" pitchFamily="34" charset="-120"/>
              </a:rPr>
              <a:t>80.3% module accuracy — a model chosen on the long tail</a:t>
            </a:r>
            <a:endParaRPr lang="en-US" sz="3000" dirty="0"/>
          </a:p>
        </p:txBody>
      </p:sp>
      <p:graphicFrame>
        <p:nvGraphicFramePr>
          <p:cNvPr id="4" name="Chart 0" descr=""/>
          <p:cNvGraphicFramePr/>
          <p:nvPr/>
        </p:nvGraphicFramePr>
        <p:xfrm>
          <a:off x="548640" y="1508760"/>
          <a:ext cx="6400800" cy="47548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315200" y="1600200"/>
            <a:ext cx="4297680" cy="347472"/>
          </a:xfrm>
          <a:prstGeom prst="rect">
            <a:avLst/>
          </a:prstGeom>
          <a:noFill/>
          <a:ln/>
        </p:spPr>
        <p:txBody>
          <a:bodyPr wrap="square" lIns="0" tIns="0" rIns="0" bIns="0" rtlCol="0" anchor="t"/>
          <a:lstStyle/>
          <a:p>
            <a:pPr indent="0" marL="0">
              <a:buNone/>
            </a:pPr>
            <a:r>
              <a:rPr lang="en-US" sz="1500" b="1" dirty="0">
                <a:solidFill>
                  <a:srgbClr val="0A5C5B"/>
                </a:solidFill>
                <a:latin typeface="Calibri" pitchFamily="34" charset="0"/>
                <a:ea typeface="Calibri" pitchFamily="34" charset="-122"/>
                <a:cs typeface="Calibri" pitchFamily="34" charset="-120"/>
              </a:rPr>
              <a:t>Macro is the headline</a:t>
            </a:r>
            <a:endParaRPr lang="en-US" sz="1500" dirty="0"/>
          </a:p>
        </p:txBody>
      </p:sp>
      <p:sp>
        <p:nvSpPr>
          <p:cNvPr id="6" name="Text 3"/>
          <p:cNvSpPr txBox="1"/>
          <p:nvPr/>
        </p:nvSpPr>
        <p:spPr>
          <a:xfrm>
            <a:off x="7315200" y="1965960"/>
            <a:ext cx="4297680" cy="77724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The top 4 modules are 77% of rows. Complement NB is within 2 points overall and 11 behind on macro — it buys the head by dropping the tail.</a:t>
            </a:r>
            <a:endParaRPr lang="en-US" sz="1250" dirty="0"/>
          </a:p>
        </p:txBody>
      </p:sp>
      <p:sp>
        <p:nvSpPr>
          <p:cNvPr id="7" name="Text 4"/>
          <p:cNvSpPr txBox="1"/>
          <p:nvPr/>
        </p:nvSpPr>
        <p:spPr>
          <a:xfrm>
            <a:off x="7315200" y="2788920"/>
            <a:ext cx="4297680" cy="347472"/>
          </a:xfrm>
          <a:prstGeom prst="rect">
            <a:avLst/>
          </a:prstGeom>
          <a:noFill/>
          <a:ln/>
        </p:spPr>
        <p:txBody>
          <a:bodyPr wrap="square" lIns="0" tIns="0" rIns="0" bIns="0" rtlCol="0" anchor="t"/>
          <a:lstStyle/>
          <a:p>
            <a:pPr indent="0" marL="0">
              <a:buNone/>
            </a:pPr>
            <a:r>
              <a:rPr lang="en-US" sz="1500" b="1" dirty="0">
                <a:solidFill>
                  <a:srgbClr val="0A5C5B"/>
                </a:solidFill>
                <a:latin typeface="Calibri" pitchFamily="34" charset="0"/>
                <a:ea typeface="Calibri" pitchFamily="34" charset="-122"/>
                <a:cs typeface="Calibri" pitchFamily="34" charset="-120"/>
              </a:rPr>
              <a:t>Character 4-grams, not words</a:t>
            </a:r>
            <a:endParaRPr lang="en-US" sz="1500" dirty="0"/>
          </a:p>
        </p:txBody>
      </p:sp>
      <p:sp>
        <p:nvSpPr>
          <p:cNvPr id="8" name="Text 5"/>
          <p:cNvSpPr txBox="1"/>
          <p:nvPr/>
        </p:nvSpPr>
        <p:spPr>
          <a:xfrm>
            <a:off x="7315200" y="3154680"/>
            <a:ext cx="4297680" cy="77724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+8 points: the data writes toothpaste as 'tooth paste', 't/paste', 'pste'.</a:t>
            </a:r>
            <a:endParaRPr lang="en-US" sz="1250" dirty="0"/>
          </a:p>
        </p:txBody>
      </p:sp>
      <p:sp>
        <p:nvSpPr>
          <p:cNvPr id="9" name="Text 6"/>
          <p:cNvSpPr txBox="1"/>
          <p:nvPr/>
        </p:nvSpPr>
        <p:spPr>
          <a:xfrm>
            <a:off x="7315200" y="3977640"/>
            <a:ext cx="4297680" cy="347472"/>
          </a:xfrm>
          <a:prstGeom prst="rect">
            <a:avLst/>
          </a:prstGeom>
          <a:noFill/>
          <a:ln/>
        </p:spPr>
        <p:txBody>
          <a:bodyPr wrap="square" lIns="0" tIns="0" rIns="0" bIns="0" rtlCol="0" anchor="t"/>
          <a:lstStyle/>
          <a:p>
            <a:pPr indent="0" marL="0">
              <a:buNone/>
            </a:pPr>
            <a:r>
              <a:rPr lang="en-US" sz="1500" b="1" dirty="0">
                <a:solidFill>
                  <a:srgbClr val="0A5C5B"/>
                </a:solidFill>
                <a:latin typeface="Calibri" pitchFamily="34" charset="0"/>
                <a:ea typeface="Calibri" pitchFamily="34" charset="-122"/>
                <a:cs typeface="Calibri" pitchFamily="34" charset="-120"/>
              </a:rPr>
              <a:t>BRAND measured out</a:t>
            </a:r>
            <a:endParaRPr lang="en-US" sz="1500" dirty="0"/>
          </a:p>
        </p:txBody>
      </p:sp>
      <p:sp>
        <p:nvSpPr>
          <p:cNvPr id="10" name="Text 7"/>
          <p:cNvSpPr txBox="1"/>
          <p:nvPr/>
        </p:nvSpPr>
        <p:spPr>
          <a:xfrm>
            <a:off x="7315200" y="4343400"/>
            <a:ext cx="4297680" cy="77724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Adding it costs 7.5 points: Oral-B makes brushes, heads and paste.</a:t>
            </a:r>
            <a:endParaRPr lang="en-US" sz="1250" dirty="0"/>
          </a:p>
        </p:txBody>
      </p:sp>
      <p:sp>
        <p:nvSpPr>
          <p:cNvPr id="11" name="Text 8"/>
          <p:cNvSpPr txBox="1"/>
          <p:nvPr/>
        </p:nvSpPr>
        <p:spPr>
          <a:xfrm>
            <a:off x="7315200" y="5166360"/>
            <a:ext cx="4297680" cy="347472"/>
          </a:xfrm>
          <a:prstGeom prst="rect">
            <a:avLst/>
          </a:prstGeom>
          <a:noFill/>
          <a:ln/>
        </p:spPr>
        <p:txBody>
          <a:bodyPr wrap="square" lIns="0" tIns="0" rIns="0" bIns="0" rtlCol="0" anchor="t"/>
          <a:lstStyle/>
          <a:p>
            <a:pPr indent="0" marL="0">
              <a:buNone/>
            </a:pPr>
            <a:r>
              <a:rPr lang="en-US" sz="1500" b="1" dirty="0">
                <a:solidFill>
                  <a:srgbClr val="0A5C5B"/>
                </a:solidFill>
                <a:latin typeface="Calibri" pitchFamily="34" charset="0"/>
                <a:ea typeface="Calibri" pitchFamily="34" charset="-122"/>
                <a:cs typeface="Calibri" pitchFamily="34" charset="-120"/>
              </a:rPr>
              <a:t>It cites its evidence</a:t>
            </a:r>
            <a:endParaRPr lang="en-US" sz="1500" dirty="0"/>
          </a:p>
        </p:txBody>
      </p:sp>
      <p:sp>
        <p:nvSpPr>
          <p:cNvPr id="12" name="Text 9"/>
          <p:cNvSpPr txBox="1"/>
          <p:nvPr/>
        </p:nvSpPr>
        <p:spPr>
          <a:xfrm>
            <a:off x="7315200" y="5532120"/>
            <a:ext cx="4297680" cy="77724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Each prediction names its nearest labelled row — a citation a person can open.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300" kern="0" dirty="0">
                <a:solidFill>
                  <a:srgbClr val="0E7C7B"/>
                </a:solidFill>
                <a:latin typeface="Calibri" pitchFamily="34" charset="0"/>
                <a:ea typeface="Calibri" pitchFamily="34" charset="-122"/>
                <a:cs typeface="Calibri" pitchFamily="34" charset="-120"/>
              </a:rPr>
              <a:t>CHARACTERISTICS</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F2D33"/>
                </a:solidFill>
                <a:latin typeface="Cambria" pitchFamily="34" charset="0"/>
                <a:ea typeface="Cambria" pitchFamily="34" charset="-122"/>
                <a:cs typeface="Cambria" pitchFamily="34" charset="-120"/>
              </a:rPr>
              <a:t>The model proposes, the vocabulary disposes</a:t>
            </a:r>
            <a:endParaRPr lang="en-US" sz="3000" dirty="0"/>
          </a:p>
        </p:txBody>
      </p:sp>
      <p:sp>
        <p:nvSpPr>
          <p:cNvPr id="4" name="Shape 2"/>
          <p:cNvSpPr/>
          <p:nvPr/>
        </p:nvSpPr>
        <p:spPr>
          <a:xfrm>
            <a:off x="548640" y="1600200"/>
            <a:ext cx="384048" cy="384048"/>
          </a:xfrm>
          <a:prstGeom prst="ellipse">
            <a:avLst/>
          </a:prstGeom>
          <a:solidFill>
            <a:srgbClr val="0E7C7B"/>
          </a:solidFill>
          <a:ln w="12700">
            <a:solidFill>
              <a:srgbClr val="0E7C7B"/>
            </a:solidFill>
            <a:prstDash val="solid"/>
          </a:ln>
        </p:spPr>
      </p:sp>
      <p:sp>
        <p:nvSpPr>
          <p:cNvPr id="5" name="Text 3"/>
          <p:cNvSpPr txBox="1"/>
          <p:nvPr/>
        </p:nvSpPr>
        <p:spPr>
          <a:xfrm>
            <a:off x="548640" y="1600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097280" y="1600200"/>
            <a:ext cx="4206240" cy="384048"/>
          </a:xfrm>
          <a:prstGeom prst="rect">
            <a:avLst/>
          </a:prstGeom>
          <a:noFill/>
          <a:ln/>
        </p:spPr>
        <p:txBody>
          <a:bodyPr wrap="square" lIns="0" tIns="0" rIns="0" bIns="0" rtlCol="0" anchor="ctr"/>
          <a:lstStyle/>
          <a:p>
            <a:pPr indent="0" marL="0">
              <a:buNone/>
            </a:pPr>
            <a:r>
              <a:rPr lang="en-US" sz="1450" b="1" dirty="0">
                <a:solidFill>
                  <a:srgbClr val="0A5C5B"/>
                </a:solidFill>
                <a:latin typeface="Calibri" pitchFamily="34" charset="0"/>
                <a:ea typeface="Calibri" pitchFamily="34" charset="-122"/>
                <a:cs typeface="Calibri" pitchFamily="34" charset="-120"/>
              </a:rPr>
              <a:t>Applicability gate — ours, before and after the model</a:t>
            </a:r>
            <a:endParaRPr lang="en-US" sz="1450" dirty="0"/>
          </a:p>
        </p:txBody>
      </p:sp>
      <p:sp>
        <p:nvSpPr>
          <p:cNvPr id="7" name="Text 5"/>
          <p:cNvSpPr txBox="1"/>
          <p:nvPr/>
        </p:nvSpPr>
        <p:spPr>
          <a:xfrm>
            <a:off x="1097280" y="2011680"/>
            <a:ext cx="4206240" cy="73152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Only characteristics that apply to the module are asked; a volunteered one is dropped. Under predicted modules: precision 0.955, recall 0.928.</a:t>
            </a:r>
            <a:endParaRPr lang="en-US" sz="1250" dirty="0"/>
          </a:p>
        </p:txBody>
      </p:sp>
      <p:sp>
        <p:nvSpPr>
          <p:cNvPr id="8" name="Shape 6"/>
          <p:cNvSpPr/>
          <p:nvPr/>
        </p:nvSpPr>
        <p:spPr>
          <a:xfrm>
            <a:off x="548640" y="2770632"/>
            <a:ext cx="384048" cy="384048"/>
          </a:xfrm>
          <a:prstGeom prst="ellipse">
            <a:avLst/>
          </a:prstGeom>
          <a:solidFill>
            <a:srgbClr val="0E7C7B"/>
          </a:solidFill>
          <a:ln w="12700">
            <a:solidFill>
              <a:srgbClr val="0E7C7B"/>
            </a:solidFill>
            <a:prstDash val="solid"/>
          </a:ln>
        </p:spPr>
      </p:sp>
      <p:sp>
        <p:nvSpPr>
          <p:cNvPr id="9" name="Text 7"/>
          <p:cNvSpPr txBox="1"/>
          <p:nvPr/>
        </p:nvSpPr>
        <p:spPr>
          <a:xfrm>
            <a:off x="548640" y="27706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097280" y="2770632"/>
            <a:ext cx="4206240" cy="384048"/>
          </a:xfrm>
          <a:prstGeom prst="rect">
            <a:avLst/>
          </a:prstGeom>
          <a:noFill/>
          <a:ln/>
        </p:spPr>
        <p:txBody>
          <a:bodyPr wrap="square" lIns="0" tIns="0" rIns="0" bIns="0" rtlCol="0" anchor="ctr"/>
          <a:lstStyle/>
          <a:p>
            <a:pPr indent="0" marL="0">
              <a:buNone/>
            </a:pPr>
            <a:r>
              <a:rPr lang="en-US" sz="1450" b="1" dirty="0">
                <a:solidFill>
                  <a:srgbClr val="0A5C5B"/>
                </a:solidFill>
                <a:latin typeface="Calibri" pitchFamily="34" charset="0"/>
                <a:ea typeface="Calibri" pitchFamily="34" charset="-122"/>
                <a:cs typeface="Calibri" pitchFamily="34" charset="-120"/>
              </a:rPr>
              <a:t>One call per row, with the pack shot</a:t>
            </a:r>
            <a:endParaRPr lang="en-US" sz="1450" dirty="0"/>
          </a:p>
        </p:txBody>
      </p:sp>
      <p:sp>
        <p:nvSpPr>
          <p:cNvPr id="11" name="Text 9"/>
          <p:cNvSpPr txBox="1"/>
          <p:nvPr/>
        </p:nvSpPr>
        <p:spPr>
          <a:xfrm>
            <a:off x="1097280" y="3182112"/>
            <a:ext cx="4206240" cy="73152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Only that row's guidelines, the page excerpt around ingredients and pack terms, and the product image (636 of 824 rows have one).</a:t>
            </a:r>
            <a:endParaRPr lang="en-US" sz="1250" dirty="0"/>
          </a:p>
        </p:txBody>
      </p:sp>
      <p:sp>
        <p:nvSpPr>
          <p:cNvPr id="12" name="Shape 10"/>
          <p:cNvSpPr/>
          <p:nvPr/>
        </p:nvSpPr>
        <p:spPr>
          <a:xfrm>
            <a:off x="548640" y="3941064"/>
            <a:ext cx="384048" cy="384048"/>
          </a:xfrm>
          <a:prstGeom prst="ellipse">
            <a:avLst/>
          </a:prstGeom>
          <a:solidFill>
            <a:srgbClr val="0E7C7B"/>
          </a:solidFill>
          <a:ln w="12700">
            <a:solidFill>
              <a:srgbClr val="0E7C7B"/>
            </a:solidFill>
            <a:prstDash val="solid"/>
          </a:ln>
        </p:spPr>
      </p:sp>
      <p:sp>
        <p:nvSpPr>
          <p:cNvPr id="13" name="Text 11"/>
          <p:cNvSpPr txBox="1"/>
          <p:nvPr/>
        </p:nvSpPr>
        <p:spPr>
          <a:xfrm>
            <a:off x="548640" y="39410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097280" y="3941064"/>
            <a:ext cx="4206240" cy="384048"/>
          </a:xfrm>
          <a:prstGeom prst="rect">
            <a:avLst/>
          </a:prstGeom>
          <a:noFill/>
          <a:ln/>
        </p:spPr>
        <p:txBody>
          <a:bodyPr wrap="square" lIns="0" tIns="0" rIns="0" bIns="0" rtlCol="0" anchor="ctr"/>
          <a:lstStyle/>
          <a:p>
            <a:pPr indent="0" marL="0">
              <a:buNone/>
            </a:pPr>
            <a:r>
              <a:rPr lang="en-US" sz="1450" b="1" dirty="0">
                <a:solidFill>
                  <a:srgbClr val="0A5C5B"/>
                </a:solidFill>
                <a:latin typeface="Calibri" pitchFamily="34" charset="0"/>
                <a:ea typeface="Calibri" pitchFamily="34" charset="-122"/>
                <a:cs typeface="Calibri" pitchFamily="34" charset="-120"/>
              </a:rPr>
              <a:t>Validated against the organizers' list</a:t>
            </a:r>
            <a:endParaRPr lang="en-US" sz="1450" dirty="0"/>
          </a:p>
        </p:txBody>
      </p:sp>
      <p:sp>
        <p:nvSpPr>
          <p:cNvPr id="15" name="Text 13"/>
          <p:cNvSpPr txBox="1"/>
          <p:nvPr/>
        </p:nvSpPr>
        <p:spPr>
          <a:xfrm>
            <a:off x="1097280" y="4352544"/>
            <a:ext cx="4206240" cy="73152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Per '&amp;' component: reproduces their counts exactly — 1,719 values accepted, the 2 known data errors refused.</a:t>
            </a:r>
            <a:endParaRPr lang="en-US" sz="1250" dirty="0"/>
          </a:p>
        </p:txBody>
      </p:sp>
      <p:sp>
        <p:nvSpPr>
          <p:cNvPr id="16" name="Shape 14"/>
          <p:cNvSpPr/>
          <p:nvPr/>
        </p:nvSpPr>
        <p:spPr>
          <a:xfrm>
            <a:off x="548640" y="5111496"/>
            <a:ext cx="384048" cy="384048"/>
          </a:xfrm>
          <a:prstGeom prst="ellipse">
            <a:avLst/>
          </a:prstGeom>
          <a:solidFill>
            <a:srgbClr val="0E7C7B"/>
          </a:solidFill>
          <a:ln w="12700">
            <a:solidFill>
              <a:srgbClr val="0E7C7B"/>
            </a:solidFill>
            <a:prstDash val="solid"/>
          </a:ln>
        </p:spPr>
      </p:sp>
      <p:sp>
        <p:nvSpPr>
          <p:cNvPr id="17" name="Text 15"/>
          <p:cNvSpPr txBox="1"/>
          <p:nvPr/>
        </p:nvSpPr>
        <p:spPr>
          <a:xfrm>
            <a:off x="548640" y="5111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097280" y="5111496"/>
            <a:ext cx="4206240" cy="384048"/>
          </a:xfrm>
          <a:prstGeom prst="rect">
            <a:avLst/>
          </a:prstGeom>
          <a:noFill/>
          <a:ln/>
        </p:spPr>
        <p:txBody>
          <a:bodyPr wrap="square" lIns="0" tIns="0" rIns="0" bIns="0" rtlCol="0" anchor="ctr"/>
          <a:lstStyle/>
          <a:p>
            <a:pPr indent="0" marL="0">
              <a:buNone/>
            </a:pPr>
            <a:r>
              <a:rPr lang="en-US" sz="1450" b="1" dirty="0">
                <a:solidFill>
                  <a:srgbClr val="0A5C5B"/>
                </a:solidFill>
                <a:latin typeface="Calibri" pitchFamily="34" charset="0"/>
                <a:ea typeface="Calibri" pitchFamily="34" charset="-122"/>
                <a:cs typeface="Calibri" pitchFamily="34" charset="-120"/>
              </a:rPr>
              <a:t>Practice over prose where they differ</a:t>
            </a:r>
            <a:endParaRPr lang="en-US" sz="1450" dirty="0"/>
          </a:p>
        </p:txBody>
      </p:sp>
      <p:sp>
        <p:nvSpPr>
          <p:cNvPr id="19" name="Text 17"/>
          <p:cNvSpPr txBox="1"/>
          <p:nvPr/>
        </p:nvSpPr>
        <p:spPr>
          <a:xfrm>
            <a:off x="1097280" y="5522976"/>
            <a:ext cx="4206240" cy="73152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Measured defaults where the coders' practice departs from the written guideline (e.g. fluoride).</a:t>
            </a:r>
            <a:endParaRPr lang="en-US" sz="1250" dirty="0"/>
          </a:p>
        </p:txBody>
      </p:sp>
      <p:pic>
        <p:nvPicPr>
          <p:cNvPr id="20" name="Image 0" descr="C:\Users\adity\Downloads\NIMO\presentation\assets\card_qa28_model.png">    </p:cNvPr>
          <p:cNvPicPr>
            <a:picLocks noChangeAspect="1"/>
          </p:cNvPicPr>
          <p:nvPr/>
        </p:nvPicPr>
        <p:blipFill>
          <a:blip r:embed="rId1"/>
          <a:stretch>
            <a:fillRect/>
          </a:stretch>
        </p:blipFill>
        <p:spPr>
          <a:xfrm>
            <a:off x="5669280" y="1554480"/>
            <a:ext cx="5943600" cy="3712464"/>
          </a:xfrm>
          <a:prstGeom prst="rect">
            <a:avLst/>
          </a:prstGeom>
        </p:spPr>
      </p:pic>
      <p:sp>
        <p:nvSpPr>
          <p:cNvPr id="21" name="Text 18"/>
          <p:cNvSpPr txBox="1"/>
          <p:nvPr/>
        </p:nvSpPr>
        <p:spPr>
          <a:xfrm>
            <a:off x="5669280" y="5349240"/>
            <a:ext cx="5943600" cy="822960"/>
          </a:xfrm>
          <a:prstGeom prst="rect">
            <a:avLst/>
          </a:prstGeom>
          <a:noFill/>
          <a:ln/>
        </p:spPr>
        <p:txBody>
          <a:bodyPr wrap="square" lIns="0" tIns="0" rIns="0" bIns="0" rtlCol="0" anchor="t"/>
          <a:lstStyle/>
          <a:p>
            <a:pPr indent="0" marL="0">
              <a:buNone/>
            </a:pPr>
            <a:r>
              <a:rPr lang="en-US" sz="1200" dirty="0">
                <a:solidFill>
                  <a:srgbClr val="5B6B70"/>
                </a:solidFill>
                <a:latin typeface="Calibri" pitchFamily="34" charset="0"/>
                <a:ea typeface="Calibri" pitchFamily="34" charset="-122"/>
                <a:cs typeface="Calibri" pitchFamily="34" charset="-120"/>
              </a:rPr>
              <a:t>qa:28, real output from the model on the NIQ network: Green People children's mandarin &amp; aloe vera toothpaste → BABY &amp; CHILD · TUBE · 100% · MILK TEETH · WITHOUT FLUORIDE · ALOE VERA &amp; MANDARIN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300" kern="0" dirty="0">
                <a:solidFill>
                  <a:srgbClr val="0E7C7B"/>
                </a:solidFill>
                <a:latin typeface="Calibri" pitchFamily="34" charset="0"/>
                <a:ea typeface="Calibri" pitchFamily="34" charset="-122"/>
                <a:cs typeface="Calibri" pitchFamily="34" charset="-120"/>
              </a:rPr>
              <a:t>REASONING</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F2D33"/>
                </a:solidFill>
                <a:latin typeface="Cambria" pitchFamily="34" charset="0"/>
                <a:ea typeface="Cambria" pitchFamily="34" charset="-122"/>
                <a:cs typeface="Cambria" pitchFamily="34" charset="-120"/>
              </a:rPr>
              <a:t>Reasoning composed from recorded fields — never generated</a:t>
            </a:r>
            <a:endParaRPr lang="en-US" sz="3000" dirty="0"/>
          </a:p>
        </p:txBody>
      </p:sp>
      <p:sp>
        <p:nvSpPr>
          <p:cNvPr id="4" name="Shape 2"/>
          <p:cNvSpPr/>
          <p:nvPr/>
        </p:nvSpPr>
        <p:spPr>
          <a:xfrm>
            <a:off x="548640" y="1600200"/>
            <a:ext cx="6949440" cy="3246120"/>
          </a:xfrm>
          <a:prstGeom prst="roundRect">
            <a:avLst>
              <a:gd name="adj" fmla="val 2254"/>
            </a:avLst>
          </a:prstGeom>
          <a:solidFill>
            <a:srgbClr val="F3F8F7"/>
          </a:solidFill>
          <a:ln w="12700">
            <a:solidFill>
              <a:srgbClr val="F3F8F7"/>
            </a:solidFill>
            <a:prstDash val="solid"/>
          </a:ln>
        </p:spPr>
      </p:sp>
      <p:sp>
        <p:nvSpPr>
          <p:cNvPr id="5" name="Text 3"/>
          <p:cNvSpPr txBox="1"/>
          <p:nvPr/>
        </p:nvSpPr>
        <p:spPr>
          <a:xfrm>
            <a:off x="822960" y="1783080"/>
            <a:ext cx="6400800" cy="2377440"/>
          </a:xfrm>
          <a:prstGeom prst="rect">
            <a:avLst/>
          </a:prstGeom>
          <a:noFill/>
          <a:ln/>
        </p:spPr>
        <p:txBody>
          <a:bodyPr wrap="square" lIns="0" tIns="0" rIns="0" bIns="0" rtlCol="0" anchor="t"/>
          <a:lstStyle/>
          <a:p>
            <a:pPr indent="0" marL="0">
              <a:buNone/>
            </a:pPr>
            <a:r>
              <a:rPr lang="en-US" sz="1550" i="1" dirty="0">
                <a:solidFill>
                  <a:srgbClr val="1F2D33"/>
                </a:solidFill>
                <a:latin typeface="Calibri" pitchFamily="34" charset="0"/>
                <a:ea typeface="Calibri" pitchFamily="34" charset="-122"/>
                <a:cs typeface="Calibri" pitchFamily="34" charset="-120"/>
              </a:rPr>
              <a:t>“The selected page (superdrug.com) was ranked first on brand match 1.00, variant overlap 0.80 (teeth, whitening, week, charcoal), ahead of the runner-up by 0.19 (calibrated probability 0.93). Classified as TOOTH STAIN REMOVERS - POWDER from the description, which most resembles dev:98 (similarity 0.30). … Page evidence used: structured product data (JSON-LD), the page title, 5635 characters of page text.”</a:t>
            </a:r>
            <a:endParaRPr lang="en-US" sz="1550" dirty="0"/>
          </a:p>
        </p:txBody>
      </p:sp>
      <p:sp>
        <p:nvSpPr>
          <p:cNvPr id="6" name="Text 4"/>
          <p:cNvSpPr txBox="1"/>
          <p:nvPr/>
        </p:nvSpPr>
        <p:spPr>
          <a:xfrm>
            <a:off x="822960" y="4160520"/>
            <a:ext cx="6400800" cy="640080"/>
          </a:xfrm>
          <a:prstGeom prst="rect">
            <a:avLst/>
          </a:prstGeom>
          <a:noFill/>
          <a:ln/>
        </p:spPr>
        <p:txBody>
          <a:bodyPr wrap="square" lIns="0" tIns="0" rIns="0" bIns="0" rtlCol="0" anchor="t"/>
          <a:lstStyle/>
          <a:p>
            <a:pPr indent="0" marL="0">
              <a:buNone/>
            </a:pPr>
            <a:r>
              <a:rPr lang="en-US" sz="1200" dirty="0">
                <a:solidFill>
                  <a:srgbClr val="5B6B70"/>
                </a:solidFill>
                <a:latin typeface="Calibri" pitchFamily="34" charset="0"/>
                <a:ea typeface="Calibri" pitchFamily="34" charset="-122"/>
                <a:cs typeface="Calibri" pitchFamily="34" charset="-120"/>
              </a:rPr>
              <a:t>qa:0 — BRILLIANT teeth whitening 1 week charcoal kit. The brand word also found paint pages and a tutoring site; the matcher ranked the Superdrug product page first.</a:t>
            </a:r>
            <a:endParaRPr lang="en-US" sz="1200" dirty="0"/>
          </a:p>
        </p:txBody>
      </p:sp>
      <p:sp>
        <p:nvSpPr>
          <p:cNvPr id="7" name="Text 5"/>
          <p:cNvSpPr txBox="1"/>
          <p:nvPr/>
        </p:nvSpPr>
        <p:spPr>
          <a:xfrm>
            <a:off x="548640" y="5074920"/>
            <a:ext cx="6949440" cy="320040"/>
          </a:xfrm>
          <a:prstGeom prst="rect">
            <a:avLst/>
          </a:prstGeom>
          <a:noFill/>
          <a:ln/>
        </p:spPr>
        <p:txBody>
          <a:bodyPr wrap="square" lIns="0" tIns="0" rIns="0" bIns="0" rtlCol="0" anchor="t"/>
          <a:lstStyle/>
          <a:p>
            <a:pPr indent="0" marL="0">
              <a:buNone/>
            </a:pPr>
            <a:r>
              <a:rPr lang="en-US" sz="1300" b="1" dirty="0">
                <a:solidFill>
                  <a:srgbClr val="5B6B70"/>
                </a:solidFill>
                <a:latin typeface="Calibri" pitchFamily="34" charset="0"/>
                <a:ea typeface="Calibri" pitchFamily="34" charset="-122"/>
                <a:cs typeface="Calibri" pitchFamily="34" charset="-120"/>
              </a:rPr>
              <a:t>Provenance tags stored with the text</a:t>
            </a:r>
            <a:endParaRPr lang="en-US" sz="1300" dirty="0"/>
          </a:p>
        </p:txBody>
      </p:sp>
      <p:sp>
        <p:nvSpPr>
          <p:cNvPr id="8" name="Shape 6"/>
          <p:cNvSpPr/>
          <p:nvPr/>
        </p:nvSpPr>
        <p:spPr>
          <a:xfrm>
            <a:off x="548640" y="5440680"/>
            <a:ext cx="1664208" cy="347472"/>
          </a:xfrm>
          <a:prstGeom prst="roundRect">
            <a:avLst>
              <a:gd name="adj" fmla="val 50000"/>
            </a:avLst>
          </a:prstGeom>
          <a:solidFill>
            <a:srgbClr val="E6F4F1"/>
          </a:solidFill>
          <a:ln w="12700">
            <a:solidFill>
              <a:srgbClr val="E6F4F1"/>
            </a:solidFill>
            <a:prstDash val="solid"/>
          </a:ln>
        </p:spPr>
      </p:sp>
      <p:sp>
        <p:nvSpPr>
          <p:cNvPr id="9" name="Text 7"/>
          <p:cNvSpPr txBox="1"/>
          <p:nvPr/>
        </p:nvSpPr>
        <p:spPr>
          <a:xfrm>
            <a:off x="548640" y="5440680"/>
            <a:ext cx="1664208" cy="347472"/>
          </a:xfrm>
          <a:prstGeom prst="rect">
            <a:avLst/>
          </a:prstGeom>
          <a:noFill/>
          <a:ln/>
        </p:spPr>
        <p:txBody>
          <a:bodyPr wrap="square" lIns="0" tIns="0" rIns="0" bIns="0" rtlCol="0" anchor="ctr"/>
          <a:lstStyle/>
          <a:p>
            <a:pPr algn="ctr" indent="0" marL="0">
              <a:buNone/>
            </a:pPr>
            <a:r>
              <a:rPr lang="en-US" sz="1000" dirty="0">
                <a:solidFill>
                  <a:srgbClr val="0A5C5B"/>
                </a:solidFill>
                <a:latin typeface="Calibri" pitchFamily="34" charset="0"/>
                <a:ea typeface="Calibri" pitchFamily="34" charset="-122"/>
                <a:cs typeface="Calibri" pitchFamily="34" charset="-120"/>
              </a:rPr>
              <a:t>selection.url</a:t>
            </a:r>
            <a:endParaRPr lang="en-US" sz="1000" dirty="0"/>
          </a:p>
        </p:txBody>
      </p:sp>
      <p:sp>
        <p:nvSpPr>
          <p:cNvPr id="10" name="Shape 8"/>
          <p:cNvSpPr/>
          <p:nvPr/>
        </p:nvSpPr>
        <p:spPr>
          <a:xfrm>
            <a:off x="2304288" y="5440680"/>
            <a:ext cx="1664208" cy="347472"/>
          </a:xfrm>
          <a:prstGeom prst="roundRect">
            <a:avLst>
              <a:gd name="adj" fmla="val 50000"/>
            </a:avLst>
          </a:prstGeom>
          <a:solidFill>
            <a:srgbClr val="E6F4F1"/>
          </a:solidFill>
          <a:ln w="12700">
            <a:solidFill>
              <a:srgbClr val="E6F4F1"/>
            </a:solidFill>
            <a:prstDash val="solid"/>
          </a:ln>
        </p:spPr>
      </p:sp>
      <p:sp>
        <p:nvSpPr>
          <p:cNvPr id="11" name="Text 9"/>
          <p:cNvSpPr txBox="1"/>
          <p:nvPr/>
        </p:nvSpPr>
        <p:spPr>
          <a:xfrm>
            <a:off x="2304288" y="5440680"/>
            <a:ext cx="1664208" cy="347472"/>
          </a:xfrm>
          <a:prstGeom prst="rect">
            <a:avLst/>
          </a:prstGeom>
          <a:noFill/>
          <a:ln/>
        </p:spPr>
        <p:txBody>
          <a:bodyPr wrap="square" lIns="0" tIns="0" rIns="0" bIns="0" rtlCol="0" anchor="ctr"/>
          <a:lstStyle/>
          <a:p>
            <a:pPr algn="ctr" indent="0" marL="0">
              <a:buNone/>
            </a:pPr>
            <a:r>
              <a:rPr lang="en-US" sz="1000" dirty="0">
                <a:solidFill>
                  <a:srgbClr val="0A5C5B"/>
                </a:solidFill>
                <a:latin typeface="Calibri" pitchFamily="34" charset="0"/>
                <a:ea typeface="Calibri" pitchFamily="34" charset="-122"/>
                <a:cs typeface="Calibri" pitchFamily="34" charset="-120"/>
              </a:rPr>
              <a:t>selection.brand_match</a:t>
            </a:r>
            <a:endParaRPr lang="en-US" sz="1000" dirty="0"/>
          </a:p>
        </p:txBody>
      </p:sp>
      <p:sp>
        <p:nvSpPr>
          <p:cNvPr id="12" name="Shape 10"/>
          <p:cNvSpPr/>
          <p:nvPr/>
        </p:nvSpPr>
        <p:spPr>
          <a:xfrm>
            <a:off x="4059936" y="5440680"/>
            <a:ext cx="1664208" cy="347472"/>
          </a:xfrm>
          <a:prstGeom prst="roundRect">
            <a:avLst>
              <a:gd name="adj" fmla="val 50000"/>
            </a:avLst>
          </a:prstGeom>
          <a:solidFill>
            <a:srgbClr val="E6F4F1"/>
          </a:solidFill>
          <a:ln w="12700">
            <a:solidFill>
              <a:srgbClr val="E6F4F1"/>
            </a:solidFill>
            <a:prstDash val="solid"/>
          </a:ln>
        </p:spPr>
      </p:sp>
      <p:sp>
        <p:nvSpPr>
          <p:cNvPr id="13" name="Text 11"/>
          <p:cNvSpPr txBox="1"/>
          <p:nvPr/>
        </p:nvSpPr>
        <p:spPr>
          <a:xfrm>
            <a:off x="4059936" y="5440680"/>
            <a:ext cx="1664208" cy="347472"/>
          </a:xfrm>
          <a:prstGeom prst="rect">
            <a:avLst/>
          </a:prstGeom>
          <a:noFill/>
          <a:ln/>
        </p:spPr>
        <p:txBody>
          <a:bodyPr wrap="square" lIns="0" tIns="0" rIns="0" bIns="0" rtlCol="0" anchor="ctr"/>
          <a:lstStyle/>
          <a:p>
            <a:pPr algn="ctr" indent="0" marL="0">
              <a:buNone/>
            </a:pPr>
            <a:r>
              <a:rPr lang="en-US" sz="1000" dirty="0">
                <a:solidFill>
                  <a:srgbClr val="0A5C5B"/>
                </a:solidFill>
                <a:latin typeface="Calibri" pitchFamily="34" charset="0"/>
                <a:ea typeface="Calibri" pitchFamily="34" charset="-122"/>
                <a:cs typeface="Calibri" pitchFamily="34" charset="-120"/>
              </a:rPr>
              <a:t>selection.variant_overlap</a:t>
            </a:r>
            <a:endParaRPr lang="en-US" sz="1000" dirty="0"/>
          </a:p>
        </p:txBody>
      </p:sp>
      <p:sp>
        <p:nvSpPr>
          <p:cNvPr id="14" name="Shape 12"/>
          <p:cNvSpPr/>
          <p:nvPr/>
        </p:nvSpPr>
        <p:spPr>
          <a:xfrm>
            <a:off x="5815584" y="5440680"/>
            <a:ext cx="1664208" cy="347472"/>
          </a:xfrm>
          <a:prstGeom prst="roundRect">
            <a:avLst>
              <a:gd name="adj" fmla="val 50000"/>
            </a:avLst>
          </a:prstGeom>
          <a:solidFill>
            <a:srgbClr val="E6F4F1"/>
          </a:solidFill>
          <a:ln w="12700">
            <a:solidFill>
              <a:srgbClr val="E6F4F1"/>
            </a:solidFill>
            <a:prstDash val="solid"/>
          </a:ln>
        </p:spPr>
      </p:sp>
      <p:sp>
        <p:nvSpPr>
          <p:cNvPr id="15" name="Text 13"/>
          <p:cNvSpPr txBox="1"/>
          <p:nvPr/>
        </p:nvSpPr>
        <p:spPr>
          <a:xfrm>
            <a:off x="5815584" y="5440680"/>
            <a:ext cx="1664208" cy="347472"/>
          </a:xfrm>
          <a:prstGeom prst="rect">
            <a:avLst/>
          </a:prstGeom>
          <a:noFill/>
          <a:ln/>
        </p:spPr>
        <p:txBody>
          <a:bodyPr wrap="square" lIns="0" tIns="0" rIns="0" bIns="0" rtlCol="0" anchor="ctr"/>
          <a:lstStyle/>
          <a:p>
            <a:pPr algn="ctr" indent="0" marL="0">
              <a:buNone/>
            </a:pPr>
            <a:r>
              <a:rPr lang="en-US" sz="1000" dirty="0">
                <a:solidFill>
                  <a:srgbClr val="0A5C5B"/>
                </a:solidFill>
                <a:latin typeface="Calibri" pitchFamily="34" charset="0"/>
                <a:ea typeface="Calibri" pitchFamily="34" charset="-122"/>
                <a:cs typeface="Calibri" pitchFamily="34" charset="-120"/>
              </a:rPr>
              <a:t>selection.runner_up_gap</a:t>
            </a:r>
            <a:endParaRPr lang="en-US" sz="1000" dirty="0"/>
          </a:p>
        </p:txBody>
      </p:sp>
      <p:sp>
        <p:nvSpPr>
          <p:cNvPr id="16" name="Shape 14"/>
          <p:cNvSpPr/>
          <p:nvPr/>
        </p:nvSpPr>
        <p:spPr>
          <a:xfrm>
            <a:off x="548640" y="5897880"/>
            <a:ext cx="1664208" cy="347472"/>
          </a:xfrm>
          <a:prstGeom prst="roundRect">
            <a:avLst>
              <a:gd name="adj" fmla="val 50000"/>
            </a:avLst>
          </a:prstGeom>
          <a:solidFill>
            <a:srgbClr val="E6F4F1"/>
          </a:solidFill>
          <a:ln w="12700">
            <a:solidFill>
              <a:srgbClr val="E6F4F1"/>
            </a:solidFill>
            <a:prstDash val="solid"/>
          </a:ln>
        </p:spPr>
      </p:sp>
      <p:sp>
        <p:nvSpPr>
          <p:cNvPr id="17" name="Text 15"/>
          <p:cNvSpPr txBox="1"/>
          <p:nvPr/>
        </p:nvSpPr>
        <p:spPr>
          <a:xfrm>
            <a:off x="548640" y="5897880"/>
            <a:ext cx="1664208" cy="347472"/>
          </a:xfrm>
          <a:prstGeom prst="rect">
            <a:avLst/>
          </a:prstGeom>
          <a:noFill/>
          <a:ln/>
        </p:spPr>
        <p:txBody>
          <a:bodyPr wrap="square" lIns="0" tIns="0" rIns="0" bIns="0" rtlCol="0" anchor="ctr"/>
          <a:lstStyle/>
          <a:p>
            <a:pPr algn="ctr" indent="0" marL="0">
              <a:buNone/>
            </a:pPr>
            <a:r>
              <a:rPr lang="en-US" sz="1000" dirty="0">
                <a:solidFill>
                  <a:srgbClr val="0A5C5B"/>
                </a:solidFill>
                <a:latin typeface="Calibri" pitchFamily="34" charset="0"/>
                <a:ea typeface="Calibri" pitchFamily="34" charset="-122"/>
                <a:cs typeface="Calibri" pitchFamily="34" charset="-120"/>
              </a:rPr>
              <a:t>selection.calibrated_prob</a:t>
            </a:r>
            <a:endParaRPr lang="en-US" sz="1000" dirty="0"/>
          </a:p>
        </p:txBody>
      </p:sp>
      <p:sp>
        <p:nvSpPr>
          <p:cNvPr id="18" name="Shape 16"/>
          <p:cNvSpPr/>
          <p:nvPr/>
        </p:nvSpPr>
        <p:spPr>
          <a:xfrm>
            <a:off x="2304288" y="5897880"/>
            <a:ext cx="1664208" cy="347472"/>
          </a:xfrm>
          <a:prstGeom prst="roundRect">
            <a:avLst>
              <a:gd name="adj" fmla="val 50000"/>
            </a:avLst>
          </a:prstGeom>
          <a:solidFill>
            <a:srgbClr val="E6F4F1"/>
          </a:solidFill>
          <a:ln w="12700">
            <a:solidFill>
              <a:srgbClr val="E6F4F1"/>
            </a:solidFill>
            <a:prstDash val="solid"/>
          </a:ln>
        </p:spPr>
      </p:sp>
      <p:sp>
        <p:nvSpPr>
          <p:cNvPr id="19" name="Text 17"/>
          <p:cNvSpPr txBox="1"/>
          <p:nvPr/>
        </p:nvSpPr>
        <p:spPr>
          <a:xfrm>
            <a:off x="2304288" y="5897880"/>
            <a:ext cx="1664208" cy="347472"/>
          </a:xfrm>
          <a:prstGeom prst="rect">
            <a:avLst/>
          </a:prstGeom>
          <a:noFill/>
          <a:ln/>
        </p:spPr>
        <p:txBody>
          <a:bodyPr wrap="square" lIns="0" tIns="0" rIns="0" bIns="0" rtlCol="0" anchor="ctr"/>
          <a:lstStyle/>
          <a:p>
            <a:pPr algn="ctr" indent="0" marL="0">
              <a:buNone/>
            </a:pPr>
            <a:r>
              <a:rPr lang="en-US" sz="1000" dirty="0">
                <a:solidFill>
                  <a:srgbClr val="0A5C5B"/>
                </a:solidFill>
                <a:latin typeface="Calibri" pitchFamily="34" charset="0"/>
                <a:ea typeface="Calibri" pitchFamily="34" charset="-122"/>
                <a:cs typeface="Calibri" pitchFamily="34" charset="-120"/>
              </a:rPr>
              <a:t>module.module</a:t>
            </a:r>
            <a:endParaRPr lang="en-US" sz="1000" dirty="0"/>
          </a:p>
        </p:txBody>
      </p:sp>
      <p:sp>
        <p:nvSpPr>
          <p:cNvPr id="20" name="Shape 18"/>
          <p:cNvSpPr/>
          <p:nvPr/>
        </p:nvSpPr>
        <p:spPr>
          <a:xfrm>
            <a:off x="4059936" y="5897880"/>
            <a:ext cx="1664208" cy="347472"/>
          </a:xfrm>
          <a:prstGeom prst="roundRect">
            <a:avLst>
              <a:gd name="adj" fmla="val 50000"/>
            </a:avLst>
          </a:prstGeom>
          <a:solidFill>
            <a:srgbClr val="E6F4F1"/>
          </a:solidFill>
          <a:ln w="12700">
            <a:solidFill>
              <a:srgbClr val="E6F4F1"/>
            </a:solidFill>
            <a:prstDash val="solid"/>
          </a:ln>
        </p:spPr>
      </p:sp>
      <p:sp>
        <p:nvSpPr>
          <p:cNvPr id="21" name="Text 19"/>
          <p:cNvSpPr txBox="1"/>
          <p:nvPr/>
        </p:nvSpPr>
        <p:spPr>
          <a:xfrm>
            <a:off x="4059936" y="5897880"/>
            <a:ext cx="1664208" cy="347472"/>
          </a:xfrm>
          <a:prstGeom prst="rect">
            <a:avLst/>
          </a:prstGeom>
          <a:noFill/>
          <a:ln/>
        </p:spPr>
        <p:txBody>
          <a:bodyPr wrap="square" lIns="0" tIns="0" rIns="0" bIns="0" rtlCol="0" anchor="ctr"/>
          <a:lstStyle/>
          <a:p>
            <a:pPr algn="ctr" indent="0" marL="0">
              <a:buNone/>
            </a:pPr>
            <a:r>
              <a:rPr lang="en-US" sz="1000" dirty="0">
                <a:solidFill>
                  <a:srgbClr val="0A5C5B"/>
                </a:solidFill>
                <a:latin typeface="Calibri" pitchFamily="34" charset="0"/>
                <a:ea typeface="Calibri" pitchFamily="34" charset="-122"/>
                <a:cs typeface="Calibri" pitchFamily="34" charset="-120"/>
              </a:rPr>
              <a:t>module.nearest_example</a:t>
            </a:r>
            <a:endParaRPr lang="en-US" sz="1000" dirty="0"/>
          </a:p>
        </p:txBody>
      </p:sp>
      <p:sp>
        <p:nvSpPr>
          <p:cNvPr id="22" name="Shape 20"/>
          <p:cNvSpPr/>
          <p:nvPr/>
        </p:nvSpPr>
        <p:spPr>
          <a:xfrm>
            <a:off x="5815584" y="5897880"/>
            <a:ext cx="1664208" cy="347472"/>
          </a:xfrm>
          <a:prstGeom prst="roundRect">
            <a:avLst>
              <a:gd name="adj" fmla="val 50000"/>
            </a:avLst>
          </a:prstGeom>
          <a:solidFill>
            <a:srgbClr val="E6F4F1"/>
          </a:solidFill>
          <a:ln w="12700">
            <a:solidFill>
              <a:srgbClr val="E6F4F1"/>
            </a:solidFill>
            <a:prstDash val="solid"/>
          </a:ln>
        </p:spPr>
      </p:sp>
      <p:sp>
        <p:nvSpPr>
          <p:cNvPr id="23" name="Text 21"/>
          <p:cNvSpPr txBox="1"/>
          <p:nvPr/>
        </p:nvSpPr>
        <p:spPr>
          <a:xfrm>
            <a:off x="5815584" y="5897880"/>
            <a:ext cx="1664208" cy="347472"/>
          </a:xfrm>
          <a:prstGeom prst="rect">
            <a:avLst/>
          </a:prstGeom>
          <a:noFill/>
          <a:ln/>
        </p:spPr>
        <p:txBody>
          <a:bodyPr wrap="square" lIns="0" tIns="0" rIns="0" bIns="0" rtlCol="0" anchor="ctr"/>
          <a:lstStyle/>
          <a:p>
            <a:pPr algn="ctr" indent="0" marL="0">
              <a:buNone/>
            </a:pPr>
            <a:r>
              <a:rPr lang="en-US" sz="1000" dirty="0">
                <a:solidFill>
                  <a:srgbClr val="0A5C5B"/>
                </a:solidFill>
                <a:latin typeface="Calibri" pitchFamily="34" charset="0"/>
                <a:ea typeface="Calibri" pitchFamily="34" charset="-122"/>
                <a:cs typeface="Calibri" pitchFamily="34" charset="-120"/>
              </a:rPr>
              <a:t>evidence.fields</a:t>
            </a:r>
            <a:endParaRPr lang="en-US" sz="1000" dirty="0"/>
          </a:p>
        </p:txBody>
      </p:sp>
      <p:sp>
        <p:nvSpPr>
          <p:cNvPr id="24" name="Shape 22"/>
          <p:cNvSpPr/>
          <p:nvPr/>
        </p:nvSpPr>
        <p:spPr>
          <a:xfrm>
            <a:off x="7863840" y="1645920"/>
            <a:ext cx="3749040" cy="1298448"/>
          </a:xfrm>
          <a:prstGeom prst="roundRect">
            <a:avLst>
              <a:gd name="adj" fmla="val 5634"/>
            </a:avLst>
          </a:prstGeom>
          <a:solidFill>
            <a:srgbClr val="E6F4F1"/>
          </a:solidFill>
          <a:ln w="12700">
            <a:solidFill>
              <a:srgbClr val="E6F4F1"/>
            </a:solidFill>
            <a:prstDash val="solid"/>
          </a:ln>
        </p:spPr>
      </p:sp>
      <p:sp>
        <p:nvSpPr>
          <p:cNvPr id="25" name="Text 23"/>
          <p:cNvSpPr txBox="1"/>
          <p:nvPr/>
        </p:nvSpPr>
        <p:spPr>
          <a:xfrm>
            <a:off x="8092440" y="1810512"/>
            <a:ext cx="3291840" cy="365760"/>
          </a:xfrm>
          <a:prstGeom prst="rect">
            <a:avLst/>
          </a:prstGeom>
          <a:noFill/>
          <a:ln/>
        </p:spPr>
        <p:txBody>
          <a:bodyPr wrap="square" lIns="0" tIns="0" rIns="0" bIns="0" rtlCol="0" anchor="t"/>
          <a:lstStyle/>
          <a:p>
            <a:pPr indent="0" marL="0">
              <a:buNone/>
            </a:pPr>
            <a:r>
              <a:rPr lang="en-US" sz="1500" b="1" dirty="0">
                <a:solidFill>
                  <a:srgbClr val="0A5C5B"/>
                </a:solidFill>
                <a:latin typeface="Calibri" pitchFamily="34" charset="0"/>
                <a:ea typeface="Calibri" pitchFamily="34" charset="-122"/>
                <a:cs typeface="Calibri" pitchFamily="34" charset="-120"/>
              </a:rPr>
              <a:t>No invented claims</a:t>
            </a:r>
            <a:endParaRPr lang="en-US" sz="1500" dirty="0"/>
          </a:p>
        </p:txBody>
      </p:sp>
      <p:sp>
        <p:nvSpPr>
          <p:cNvPr id="26" name="Text 24"/>
          <p:cNvSpPr txBox="1"/>
          <p:nvPr/>
        </p:nvSpPr>
        <p:spPr>
          <a:xfrm>
            <a:off x="8092440" y="2194560"/>
            <a:ext cx="3291840" cy="685800"/>
          </a:xfrm>
          <a:prstGeom prst="rect">
            <a:avLst/>
          </a:prstGeom>
          <a:noFill/>
          <a:ln/>
        </p:spPr>
        <p:txBody>
          <a:bodyPr wrap="square" lIns="0" tIns="0" rIns="0" bIns="0" rtlCol="0" anchor="t"/>
          <a:lstStyle/>
          <a:p>
            <a:pPr indent="0" marL="0">
              <a:buNone/>
            </a:pPr>
            <a:r>
              <a:rPr lang="en-US" sz="1300" dirty="0">
                <a:solidFill>
                  <a:srgbClr val="1F2D33"/>
                </a:solidFill>
                <a:latin typeface="Calibri" pitchFamily="34" charset="0"/>
                <a:ea typeface="Calibri" pitchFamily="34" charset="-122"/>
                <a:cs typeface="Calibri" pitchFamily="34" charset="-120"/>
              </a:rPr>
              <a:t>Every number in the text is a field's value — tested.</a:t>
            </a:r>
            <a:endParaRPr lang="en-US" sz="1300" dirty="0"/>
          </a:p>
        </p:txBody>
      </p:sp>
      <p:sp>
        <p:nvSpPr>
          <p:cNvPr id="27" name="Shape 25"/>
          <p:cNvSpPr/>
          <p:nvPr/>
        </p:nvSpPr>
        <p:spPr>
          <a:xfrm>
            <a:off x="7863840" y="3108960"/>
            <a:ext cx="3749040" cy="1298448"/>
          </a:xfrm>
          <a:prstGeom prst="roundRect">
            <a:avLst>
              <a:gd name="adj" fmla="val 5634"/>
            </a:avLst>
          </a:prstGeom>
          <a:solidFill>
            <a:srgbClr val="E6F4F1"/>
          </a:solidFill>
          <a:ln w="12700">
            <a:solidFill>
              <a:srgbClr val="E6F4F1"/>
            </a:solidFill>
            <a:prstDash val="solid"/>
          </a:ln>
        </p:spPr>
      </p:sp>
      <p:sp>
        <p:nvSpPr>
          <p:cNvPr id="28" name="Text 26"/>
          <p:cNvSpPr txBox="1"/>
          <p:nvPr/>
        </p:nvSpPr>
        <p:spPr>
          <a:xfrm>
            <a:off x="8092440" y="3273552"/>
            <a:ext cx="3291840" cy="365760"/>
          </a:xfrm>
          <a:prstGeom prst="rect">
            <a:avLst/>
          </a:prstGeom>
          <a:noFill/>
          <a:ln/>
        </p:spPr>
        <p:txBody>
          <a:bodyPr wrap="square" lIns="0" tIns="0" rIns="0" bIns="0" rtlCol="0" anchor="t"/>
          <a:lstStyle/>
          <a:p>
            <a:pPr indent="0" marL="0">
              <a:buNone/>
            </a:pPr>
            <a:r>
              <a:rPr lang="en-US" sz="1500" b="1" dirty="0">
                <a:solidFill>
                  <a:srgbClr val="0A5C5B"/>
                </a:solidFill>
                <a:latin typeface="Calibri" pitchFamily="34" charset="0"/>
                <a:ea typeface="Calibri" pitchFamily="34" charset="-122"/>
                <a:cs typeface="Calibri" pitchFamily="34" charset="-120"/>
              </a:rPr>
              <a:t>No injection surface</a:t>
            </a:r>
            <a:endParaRPr lang="en-US" sz="1500" dirty="0"/>
          </a:p>
        </p:txBody>
      </p:sp>
      <p:sp>
        <p:nvSpPr>
          <p:cNvPr id="29" name="Text 27"/>
          <p:cNvSpPr txBox="1"/>
          <p:nvPr/>
        </p:nvSpPr>
        <p:spPr>
          <a:xfrm>
            <a:off x="8092440" y="3657600"/>
            <a:ext cx="3291840" cy="685800"/>
          </a:xfrm>
          <a:prstGeom prst="rect">
            <a:avLst/>
          </a:prstGeom>
          <a:noFill/>
          <a:ln/>
        </p:spPr>
        <p:txBody>
          <a:bodyPr wrap="square" lIns="0" tIns="0" rIns="0" bIns="0" rtlCol="0" anchor="t"/>
          <a:lstStyle/>
          <a:p>
            <a:pPr indent="0" marL="0">
              <a:buNone/>
            </a:pPr>
            <a:r>
              <a:rPr lang="en-US" sz="1300" dirty="0">
                <a:solidFill>
                  <a:srgbClr val="1F2D33"/>
                </a:solidFill>
                <a:latin typeface="Calibri" pitchFamily="34" charset="0"/>
                <a:ea typeface="Calibri" pitchFamily="34" charset="-122"/>
                <a:cs typeface="Calibri" pitchFamily="34" charset="-120"/>
              </a:rPr>
              <a:t>Page text is never quoted; only validated fields are cited.</a:t>
            </a:r>
            <a:endParaRPr lang="en-US" sz="1300" dirty="0"/>
          </a:p>
        </p:txBody>
      </p:sp>
      <p:sp>
        <p:nvSpPr>
          <p:cNvPr id="30" name="Shape 28"/>
          <p:cNvSpPr/>
          <p:nvPr/>
        </p:nvSpPr>
        <p:spPr>
          <a:xfrm>
            <a:off x="7863840" y="4572000"/>
            <a:ext cx="3749040" cy="1298448"/>
          </a:xfrm>
          <a:prstGeom prst="roundRect">
            <a:avLst>
              <a:gd name="adj" fmla="val 5634"/>
            </a:avLst>
          </a:prstGeom>
          <a:solidFill>
            <a:srgbClr val="E6F4F1"/>
          </a:solidFill>
          <a:ln w="12700">
            <a:solidFill>
              <a:srgbClr val="E6F4F1"/>
            </a:solidFill>
            <a:prstDash val="solid"/>
          </a:ln>
        </p:spPr>
      </p:sp>
      <p:sp>
        <p:nvSpPr>
          <p:cNvPr id="31" name="Text 29"/>
          <p:cNvSpPr txBox="1"/>
          <p:nvPr/>
        </p:nvSpPr>
        <p:spPr>
          <a:xfrm>
            <a:off x="8092440" y="4736592"/>
            <a:ext cx="3291840" cy="365760"/>
          </a:xfrm>
          <a:prstGeom prst="rect">
            <a:avLst/>
          </a:prstGeom>
          <a:noFill/>
          <a:ln/>
        </p:spPr>
        <p:txBody>
          <a:bodyPr wrap="square" lIns="0" tIns="0" rIns="0" bIns="0" rtlCol="0" anchor="t"/>
          <a:lstStyle/>
          <a:p>
            <a:pPr indent="0" marL="0">
              <a:buNone/>
            </a:pPr>
            <a:r>
              <a:rPr lang="en-US" sz="1500" b="1" dirty="0">
                <a:solidFill>
                  <a:srgbClr val="0A5C5B"/>
                </a:solidFill>
                <a:latin typeface="Calibri" pitchFamily="34" charset="0"/>
                <a:ea typeface="Calibri" pitchFamily="34" charset="-122"/>
                <a:cs typeface="Calibri" pitchFamily="34" charset="-120"/>
              </a:rPr>
              <a:t>Absence is stated, not guessed</a:t>
            </a:r>
            <a:endParaRPr lang="en-US" sz="1500" dirty="0"/>
          </a:p>
        </p:txBody>
      </p:sp>
      <p:sp>
        <p:nvSpPr>
          <p:cNvPr id="32" name="Text 30"/>
          <p:cNvSpPr txBox="1"/>
          <p:nvPr/>
        </p:nvSpPr>
        <p:spPr>
          <a:xfrm>
            <a:off x="8092440" y="5120640"/>
            <a:ext cx="3291840" cy="685800"/>
          </a:xfrm>
          <a:prstGeom prst="rect">
            <a:avLst/>
          </a:prstGeom>
          <a:noFill/>
          <a:ln/>
        </p:spPr>
        <p:txBody>
          <a:bodyPr wrap="square" lIns="0" tIns="0" rIns="0" bIns="0" rtlCol="0" anchor="t"/>
          <a:lstStyle/>
          <a:p>
            <a:pPr indent="0" marL="0">
              <a:buNone/>
            </a:pPr>
            <a:r>
              <a:rPr lang="en-US" sz="1300" dirty="0">
                <a:solidFill>
                  <a:srgbClr val="1F2D33"/>
                </a:solidFill>
                <a:latin typeface="Calibri" pitchFamily="34" charset="0"/>
                <a:ea typeface="Calibri" pitchFamily="34" charset="-122"/>
                <a:cs typeface="Calibri" pitchFamily="34" charset="-120"/>
              </a:rPr>
              <a:t>“No evidence for FLUORIDE; left empty” — as in the organizers' own sample.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300" kern="0" dirty="0">
                <a:solidFill>
                  <a:srgbClr val="0E7C7B"/>
                </a:solidFill>
                <a:latin typeface="Calibri" pitchFamily="34" charset="0"/>
                <a:ea typeface="Calibri" pitchFamily="34" charset="-122"/>
                <a:cs typeface="Calibri" pitchFamily="34" charset="-120"/>
              </a:rPr>
              <a:t>THE WORKING PROTOTYPE</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F2D33"/>
                </a:solidFill>
                <a:latin typeface="Cambria" pitchFamily="34" charset="0"/>
                <a:ea typeface="Cambria" pitchFamily="34" charset="-122"/>
                <a:cs typeface="Cambria" pitchFamily="34" charset="-120"/>
              </a:rPr>
              <a:t>Three ways to use it</a:t>
            </a:r>
            <a:endParaRPr lang="en-US" sz="3000" dirty="0"/>
          </a:p>
        </p:txBody>
      </p:sp>
      <p:pic>
        <p:nvPicPr>
          <p:cNvPr id="4" name="Image 0" descr="C:\Users\adity\Downloads\NIMO\presentation\assets\card_qa0.png">    </p:cNvPr>
          <p:cNvPicPr>
            <a:picLocks noChangeAspect="1"/>
          </p:cNvPicPr>
          <p:nvPr/>
        </p:nvPicPr>
        <p:blipFill>
          <a:blip r:embed="rId1"/>
          <a:stretch>
            <a:fillRect/>
          </a:stretch>
        </p:blipFill>
        <p:spPr>
          <a:xfrm>
            <a:off x="548640" y="1508760"/>
            <a:ext cx="6766560" cy="4233672"/>
          </a:xfrm>
          <a:prstGeom prst="rect">
            <a:avLst/>
          </a:prstGeom>
        </p:spPr>
      </p:pic>
      <p:sp>
        <p:nvSpPr>
          <p:cNvPr id="5" name="Text 2"/>
          <p:cNvSpPr txBox="1"/>
          <p:nvPr/>
        </p:nvSpPr>
        <p:spPr>
          <a:xfrm>
            <a:off x="548640" y="5806440"/>
            <a:ext cx="6766560" cy="457200"/>
          </a:xfrm>
          <a:prstGeom prst="rect">
            <a:avLst/>
          </a:prstGeom>
          <a:noFill/>
          <a:ln/>
        </p:spPr>
        <p:txBody>
          <a:bodyPr wrap="square" lIns="0" tIns="0" rIns="0" bIns="0" rtlCol="0" anchor="t"/>
          <a:lstStyle/>
          <a:p>
            <a:pPr indent="0" marL="0">
              <a:buNone/>
            </a:pPr>
            <a:r>
              <a:rPr lang="en-US" sz="1200" dirty="0">
                <a:solidFill>
                  <a:srgbClr val="5B6B70"/>
                </a:solidFill>
                <a:latin typeface="Calibri" pitchFamily="34" charset="0"/>
                <a:ea typeface="Calibri" pitchFamily="34" charset="-122"/>
                <a:cs typeface="Calibri" pitchFamily="34" charset="-120"/>
              </a:rPr>
              <a:t>Results explorer: every row's evidence, stage by stage — one HTML file, opens with no server.</a:t>
            </a:r>
            <a:endParaRPr lang="en-US" sz="1200" dirty="0"/>
          </a:p>
        </p:txBody>
      </p:sp>
      <p:sp>
        <p:nvSpPr>
          <p:cNvPr id="6" name="Shape 3"/>
          <p:cNvSpPr/>
          <p:nvPr/>
        </p:nvSpPr>
        <p:spPr>
          <a:xfrm>
            <a:off x="7635240" y="1554480"/>
            <a:ext cx="3977640" cy="1417320"/>
          </a:xfrm>
          <a:prstGeom prst="roundRect">
            <a:avLst>
              <a:gd name="adj" fmla="val 5161"/>
            </a:avLst>
          </a:prstGeom>
          <a:solidFill>
            <a:srgbClr val="E6F4F1"/>
          </a:solidFill>
          <a:ln w="12700">
            <a:solidFill>
              <a:srgbClr val="E6F4F1"/>
            </a:solidFill>
            <a:prstDash val="solid"/>
          </a:ln>
        </p:spPr>
      </p:sp>
      <p:sp>
        <p:nvSpPr>
          <p:cNvPr id="7" name="Text 4"/>
          <p:cNvSpPr txBox="1"/>
          <p:nvPr/>
        </p:nvSpPr>
        <p:spPr>
          <a:xfrm>
            <a:off x="7863840" y="1691640"/>
            <a:ext cx="3566160" cy="347472"/>
          </a:xfrm>
          <a:prstGeom prst="rect">
            <a:avLst/>
          </a:prstGeom>
          <a:noFill/>
          <a:ln/>
        </p:spPr>
        <p:txBody>
          <a:bodyPr wrap="square" lIns="0" tIns="0" rIns="0" bIns="0" rtlCol="0" anchor="t"/>
          <a:lstStyle/>
          <a:p>
            <a:pPr indent="0" marL="0">
              <a:buNone/>
            </a:pPr>
            <a:r>
              <a:rPr lang="en-US" sz="1550" b="1" dirty="0">
                <a:solidFill>
                  <a:srgbClr val="0A5C5B"/>
                </a:solidFill>
                <a:latin typeface="Calibri" pitchFamily="34" charset="0"/>
                <a:ea typeface="Calibri" pitchFamily="34" charset="-122"/>
                <a:cs typeface="Calibri" pitchFamily="34" charset="-120"/>
              </a:rPr>
              <a:t>Live interface</a:t>
            </a:r>
            <a:endParaRPr lang="en-US" sz="1550" dirty="0"/>
          </a:p>
        </p:txBody>
      </p:sp>
      <p:sp>
        <p:nvSpPr>
          <p:cNvPr id="8" name="Text 5"/>
          <p:cNvSpPr txBox="1"/>
          <p:nvPr/>
        </p:nvSpPr>
        <p:spPr>
          <a:xfrm>
            <a:off x="7863840" y="2039112"/>
            <a:ext cx="3566160" cy="50292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Run any dataset row, or type a new product and watch it resolve end to end.</a:t>
            </a:r>
            <a:endParaRPr lang="en-US" sz="1250" dirty="0"/>
          </a:p>
        </p:txBody>
      </p:sp>
      <p:sp>
        <p:nvSpPr>
          <p:cNvPr id="9" name="Text 6"/>
          <p:cNvSpPr txBox="1"/>
          <p:nvPr/>
        </p:nvSpPr>
        <p:spPr>
          <a:xfrm>
            <a:off x="7863840" y="2560320"/>
            <a:ext cx="3611880" cy="310896"/>
          </a:xfrm>
          <a:prstGeom prst="rect">
            <a:avLst/>
          </a:prstGeom>
          <a:noFill/>
          <a:ln/>
        </p:spPr>
        <p:txBody>
          <a:bodyPr wrap="square" lIns="0" tIns="0" rIns="0" bIns="0" rtlCol="0" anchor="t"/>
          <a:lstStyle/>
          <a:p>
            <a:pPr indent="0" marL="0">
              <a:buNone/>
            </a:pPr>
            <a:r>
              <a:rPr lang="en-US" sz="950" dirty="0">
                <a:solidFill>
                  <a:srgbClr val="0B2A33"/>
                </a:solidFill>
                <a:latin typeface="Courier New" pitchFamily="34" charset="0"/>
                <a:ea typeface="Courier New" pitchFamily="34" charset="-122"/>
                <a:cs typeface="Courier New" pitchFamily="34" charset="-120"/>
              </a:rPr>
              <a:t>uv run python -m nimo.ui --live</a:t>
            </a:r>
            <a:endParaRPr lang="en-US" sz="950" dirty="0"/>
          </a:p>
        </p:txBody>
      </p:sp>
      <p:sp>
        <p:nvSpPr>
          <p:cNvPr id="10" name="Shape 7"/>
          <p:cNvSpPr/>
          <p:nvPr/>
        </p:nvSpPr>
        <p:spPr>
          <a:xfrm>
            <a:off x="7635240" y="3127248"/>
            <a:ext cx="3977640" cy="1417320"/>
          </a:xfrm>
          <a:prstGeom prst="roundRect">
            <a:avLst>
              <a:gd name="adj" fmla="val 5161"/>
            </a:avLst>
          </a:prstGeom>
          <a:solidFill>
            <a:srgbClr val="E6F4F1"/>
          </a:solidFill>
          <a:ln w="12700">
            <a:solidFill>
              <a:srgbClr val="E6F4F1"/>
            </a:solidFill>
            <a:prstDash val="solid"/>
          </a:ln>
        </p:spPr>
      </p:sp>
      <p:sp>
        <p:nvSpPr>
          <p:cNvPr id="11" name="Text 8"/>
          <p:cNvSpPr txBox="1"/>
          <p:nvPr/>
        </p:nvSpPr>
        <p:spPr>
          <a:xfrm>
            <a:off x="7863840" y="3264408"/>
            <a:ext cx="3566160" cy="347472"/>
          </a:xfrm>
          <a:prstGeom prst="rect">
            <a:avLst/>
          </a:prstGeom>
          <a:noFill/>
          <a:ln/>
        </p:spPr>
        <p:txBody>
          <a:bodyPr wrap="square" lIns="0" tIns="0" rIns="0" bIns="0" rtlCol="0" anchor="t"/>
          <a:lstStyle/>
          <a:p>
            <a:pPr indent="0" marL="0">
              <a:buNone/>
            </a:pPr>
            <a:r>
              <a:rPr lang="en-US" sz="1550" b="1" dirty="0">
                <a:solidFill>
                  <a:srgbClr val="0A5C5B"/>
                </a:solidFill>
                <a:latin typeface="Calibri" pitchFamily="34" charset="0"/>
                <a:ea typeface="Calibri" pitchFamily="34" charset="-122"/>
                <a:cs typeface="Calibri" pitchFamily="34" charset="-120"/>
              </a:rPr>
              <a:t>Results explorer</a:t>
            </a:r>
            <a:endParaRPr lang="en-US" sz="1550" dirty="0"/>
          </a:p>
        </p:txBody>
      </p:sp>
      <p:sp>
        <p:nvSpPr>
          <p:cNvPr id="12" name="Text 9"/>
          <p:cNvSpPr txBox="1"/>
          <p:nvPr/>
        </p:nvSpPr>
        <p:spPr>
          <a:xfrm>
            <a:off x="7863840" y="3611880"/>
            <a:ext cx="3566160" cy="50292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The whole 412-row run in one self-contained page, searchable and filterable.</a:t>
            </a:r>
            <a:endParaRPr lang="en-US" sz="1250" dirty="0"/>
          </a:p>
        </p:txBody>
      </p:sp>
      <p:sp>
        <p:nvSpPr>
          <p:cNvPr id="13" name="Text 10"/>
          <p:cNvSpPr txBox="1"/>
          <p:nvPr/>
        </p:nvSpPr>
        <p:spPr>
          <a:xfrm>
            <a:off x="7863840" y="4133088"/>
            <a:ext cx="3611880" cy="310896"/>
          </a:xfrm>
          <a:prstGeom prst="rect">
            <a:avLst/>
          </a:prstGeom>
          <a:noFill/>
          <a:ln/>
        </p:spPr>
        <p:txBody>
          <a:bodyPr wrap="square" lIns="0" tIns="0" rIns="0" bIns="0" rtlCol="0" anchor="t"/>
          <a:lstStyle/>
          <a:p>
            <a:pPr indent="0" marL="0">
              <a:buNone/>
            </a:pPr>
            <a:r>
              <a:rPr lang="en-US" sz="950" dirty="0">
                <a:solidFill>
                  <a:srgbClr val="0B2A33"/>
                </a:solidFill>
                <a:latin typeface="Courier New" pitchFamily="34" charset="0"/>
                <a:ea typeface="Courier New" pitchFamily="34" charset="-122"/>
                <a:cs typeface="Courier New" pitchFamily="34" charset="-120"/>
              </a:rPr>
              <a:t>uv run python -m nimo.site --sheet qa</a:t>
            </a:r>
            <a:endParaRPr lang="en-US" sz="950" dirty="0"/>
          </a:p>
        </p:txBody>
      </p:sp>
      <p:sp>
        <p:nvSpPr>
          <p:cNvPr id="14" name="Shape 11"/>
          <p:cNvSpPr/>
          <p:nvPr/>
        </p:nvSpPr>
        <p:spPr>
          <a:xfrm>
            <a:off x="7635240" y="4700016"/>
            <a:ext cx="3977640" cy="1417320"/>
          </a:xfrm>
          <a:prstGeom prst="roundRect">
            <a:avLst>
              <a:gd name="adj" fmla="val 5161"/>
            </a:avLst>
          </a:prstGeom>
          <a:solidFill>
            <a:srgbClr val="E6F4F1"/>
          </a:solidFill>
          <a:ln w="12700">
            <a:solidFill>
              <a:srgbClr val="E6F4F1"/>
            </a:solidFill>
            <a:prstDash val="solid"/>
          </a:ln>
        </p:spPr>
      </p:sp>
      <p:sp>
        <p:nvSpPr>
          <p:cNvPr id="15" name="Text 12"/>
          <p:cNvSpPr txBox="1"/>
          <p:nvPr/>
        </p:nvSpPr>
        <p:spPr>
          <a:xfrm>
            <a:off x="7863840" y="4837176"/>
            <a:ext cx="3566160" cy="347472"/>
          </a:xfrm>
          <a:prstGeom prst="rect">
            <a:avLst/>
          </a:prstGeom>
          <a:noFill/>
          <a:ln/>
        </p:spPr>
        <p:txBody>
          <a:bodyPr wrap="square" lIns="0" tIns="0" rIns="0" bIns="0" rtlCol="0" anchor="t"/>
          <a:lstStyle/>
          <a:p>
            <a:pPr indent="0" marL="0">
              <a:buNone/>
            </a:pPr>
            <a:r>
              <a:rPr lang="en-US" sz="1550" b="1" dirty="0">
                <a:solidFill>
                  <a:srgbClr val="0A5C5B"/>
                </a:solidFill>
                <a:latin typeface="Calibri" pitchFamily="34" charset="0"/>
                <a:ea typeface="Calibri" pitchFamily="34" charset="-122"/>
                <a:cs typeface="Calibri" pitchFamily="34" charset="-120"/>
              </a:rPr>
              <a:t>Your own Excel file</a:t>
            </a:r>
            <a:endParaRPr lang="en-US" sz="1550" dirty="0"/>
          </a:p>
        </p:txBody>
      </p:sp>
      <p:sp>
        <p:nvSpPr>
          <p:cNvPr id="16" name="Text 13"/>
          <p:cNvSpPr txBox="1"/>
          <p:nvPr/>
        </p:nvSpPr>
        <p:spPr>
          <a:xfrm>
            <a:off x="7863840" y="5184648"/>
            <a:ext cx="3566160" cy="502920"/>
          </a:xfrm>
          <a:prstGeom prst="rect">
            <a:avLst/>
          </a:prstGeom>
          <a:noFill/>
          <a:ln/>
        </p:spPr>
        <p:txBody>
          <a:bodyPr wrap="square" lIns="0" tIns="0" rIns="0" bIns="0" rtlCol="0" anchor="t"/>
          <a:lstStyle/>
          <a:p>
            <a:pPr indent="0" marL="0">
              <a:buNone/>
            </a:pPr>
            <a:r>
              <a:rPr lang="en-US" sz="1250" dirty="0">
                <a:solidFill>
                  <a:srgbClr val="1F2D33"/>
                </a:solidFill>
                <a:latin typeface="Calibri" pitchFamily="34" charset="0"/>
                <a:ea typeface="Calibri" pitchFamily="34" charset="-122"/>
                <a:cs typeface="Calibri" pitchFamily="34" charset="-120"/>
              </a:rPr>
              <a:t>Any .xlsx / .csv with RETAILER_DESC and BRAND, through the same pipeline.</a:t>
            </a:r>
            <a:endParaRPr lang="en-US" sz="1250" dirty="0"/>
          </a:p>
        </p:txBody>
      </p:sp>
      <p:sp>
        <p:nvSpPr>
          <p:cNvPr id="17" name="Text 14"/>
          <p:cNvSpPr txBox="1"/>
          <p:nvPr/>
        </p:nvSpPr>
        <p:spPr>
          <a:xfrm>
            <a:off x="7863840" y="5705856"/>
            <a:ext cx="3611880" cy="310896"/>
          </a:xfrm>
          <a:prstGeom prst="rect">
            <a:avLst/>
          </a:prstGeom>
          <a:noFill/>
          <a:ln/>
        </p:spPr>
        <p:txBody>
          <a:bodyPr wrap="square" lIns="0" tIns="0" rIns="0" bIns="0" rtlCol="0" anchor="t"/>
          <a:lstStyle/>
          <a:p>
            <a:pPr indent="0" marL="0">
              <a:buNone/>
            </a:pPr>
            <a:r>
              <a:rPr lang="en-US" sz="950" dirty="0">
                <a:solidFill>
                  <a:srgbClr val="0B2A33"/>
                </a:solidFill>
                <a:latin typeface="Courier New" pitchFamily="34" charset="0"/>
                <a:ea typeface="Courier New" pitchFamily="34" charset="-122"/>
                <a:cs typeface="Courier New" pitchFamily="34" charset="-120"/>
              </a:rPr>
              <a:t>uv run python -m nimo.run --input my.xlsx --live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2A33"/>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300" kern="0" dirty="0">
                <a:solidFill>
                  <a:srgbClr val="9FE3D6"/>
                </a:solidFill>
                <a:latin typeface="Calibri" pitchFamily="34" charset="0"/>
                <a:ea typeface="Calibri" pitchFamily="34" charset="-122"/>
                <a:cs typeface="Calibri" pitchFamily="34" charset="-120"/>
              </a:rPr>
              <a:t>RESULTS AT A GLANCE</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Measured, not asserted</a:t>
            </a:r>
            <a:endParaRPr lang="en-US" sz="3000" dirty="0"/>
          </a:p>
        </p:txBody>
      </p:sp>
      <p:sp>
        <p:nvSpPr>
          <p:cNvPr id="4" name="Shape 2"/>
          <p:cNvSpPr/>
          <p:nvPr/>
        </p:nvSpPr>
        <p:spPr>
          <a:xfrm>
            <a:off x="548640" y="1691640"/>
            <a:ext cx="2606040" cy="2103120"/>
          </a:xfrm>
          <a:prstGeom prst="roundRect">
            <a:avLst>
              <a:gd name="adj" fmla="val 3478"/>
            </a:avLst>
          </a:prstGeom>
          <a:solidFill>
            <a:srgbClr val="123C47"/>
          </a:solidFill>
          <a:ln w="12700">
            <a:solidFill>
              <a:srgbClr val="123C47"/>
            </a:solidFill>
            <a:prstDash val="solid"/>
          </a:ln>
        </p:spPr>
      </p:sp>
      <p:sp>
        <p:nvSpPr>
          <p:cNvPr id="5" name="Text 3"/>
          <p:cNvSpPr txBox="1"/>
          <p:nvPr/>
        </p:nvSpPr>
        <p:spPr>
          <a:xfrm>
            <a:off x="749808" y="1920240"/>
            <a:ext cx="224028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412 / 412</a:t>
            </a:r>
            <a:endParaRPr lang="en-US" sz="3400" dirty="0"/>
          </a:p>
        </p:txBody>
      </p:sp>
      <p:sp>
        <p:nvSpPr>
          <p:cNvPr id="6" name="Text 4"/>
          <p:cNvSpPr txBox="1"/>
          <p:nvPr/>
        </p:nvSpPr>
        <p:spPr>
          <a:xfrm>
            <a:off x="749808" y="2743200"/>
            <a:ext cx="2240280" cy="960120"/>
          </a:xfrm>
          <a:prstGeom prst="rect">
            <a:avLst/>
          </a:prstGeom>
          <a:noFill/>
          <a:ln/>
        </p:spPr>
        <p:txBody>
          <a:bodyPr wrap="square" lIns="0" tIns="0" rIns="0" bIns="0" rtlCol="0" anchor="t"/>
          <a:lstStyle/>
          <a:p>
            <a:pPr indent="0" marL="0">
              <a:buNone/>
            </a:pPr>
            <a:r>
              <a:rPr lang="en-US" sz="1350" dirty="0">
                <a:solidFill>
                  <a:srgbClr val="C9DADD"/>
                </a:solidFill>
                <a:latin typeface="Calibri" pitchFamily="34" charset="0"/>
                <a:ea typeface="Calibri" pitchFamily="34" charset="-122"/>
                <a:cs typeface="Calibri" pitchFamily="34" charset="-120"/>
              </a:rPr>
              <a:t>qa rows resolved end to end</a:t>
            </a:r>
            <a:endParaRPr lang="en-US" sz="1350" dirty="0"/>
          </a:p>
        </p:txBody>
      </p:sp>
      <p:sp>
        <p:nvSpPr>
          <p:cNvPr id="7" name="Shape 5"/>
          <p:cNvSpPr/>
          <p:nvPr/>
        </p:nvSpPr>
        <p:spPr>
          <a:xfrm>
            <a:off x="3355848" y="1691640"/>
            <a:ext cx="2606040" cy="2103120"/>
          </a:xfrm>
          <a:prstGeom prst="roundRect">
            <a:avLst>
              <a:gd name="adj" fmla="val 3478"/>
            </a:avLst>
          </a:prstGeom>
          <a:solidFill>
            <a:srgbClr val="123C47"/>
          </a:solidFill>
          <a:ln w="12700">
            <a:solidFill>
              <a:srgbClr val="123C47"/>
            </a:solidFill>
            <a:prstDash val="solid"/>
          </a:ln>
        </p:spPr>
      </p:sp>
      <p:sp>
        <p:nvSpPr>
          <p:cNvPr id="8" name="Text 6"/>
          <p:cNvSpPr txBox="1"/>
          <p:nvPr/>
        </p:nvSpPr>
        <p:spPr>
          <a:xfrm>
            <a:off x="3557016" y="1920240"/>
            <a:ext cx="224028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114</a:t>
            </a:r>
            <a:endParaRPr lang="en-US" sz="3400" dirty="0"/>
          </a:p>
        </p:txBody>
      </p:sp>
      <p:sp>
        <p:nvSpPr>
          <p:cNvPr id="9" name="Text 7"/>
          <p:cNvSpPr txBox="1"/>
          <p:nvPr/>
        </p:nvSpPr>
        <p:spPr>
          <a:xfrm>
            <a:off x="3557016" y="2743200"/>
            <a:ext cx="2240280" cy="960120"/>
          </a:xfrm>
          <a:prstGeom prst="rect">
            <a:avLst/>
          </a:prstGeom>
          <a:noFill/>
          <a:ln/>
        </p:spPr>
        <p:txBody>
          <a:bodyPr wrap="square" lIns="0" tIns="0" rIns="0" bIns="0" rtlCol="0" anchor="t"/>
          <a:lstStyle/>
          <a:p>
            <a:pPr indent="0" marL="0">
              <a:buNone/>
            </a:pPr>
            <a:r>
              <a:rPr lang="en-US" sz="1350" dirty="0">
                <a:solidFill>
                  <a:srgbClr val="C9DADD"/>
                </a:solidFill>
                <a:latin typeface="Calibri" pitchFamily="34" charset="0"/>
                <a:ea typeface="Calibri" pitchFamily="34" charset="-122"/>
                <a:cs typeface="Calibri" pitchFamily="34" charset="-120"/>
              </a:rPr>
              <a:t>answers confirmed by the page's own barcode</a:t>
            </a:r>
            <a:endParaRPr lang="en-US" sz="1350" dirty="0"/>
          </a:p>
        </p:txBody>
      </p:sp>
      <p:sp>
        <p:nvSpPr>
          <p:cNvPr id="10" name="Shape 8"/>
          <p:cNvSpPr/>
          <p:nvPr/>
        </p:nvSpPr>
        <p:spPr>
          <a:xfrm>
            <a:off x="6163056" y="1691640"/>
            <a:ext cx="2606040" cy="2103120"/>
          </a:xfrm>
          <a:prstGeom prst="roundRect">
            <a:avLst>
              <a:gd name="adj" fmla="val 3478"/>
            </a:avLst>
          </a:prstGeom>
          <a:solidFill>
            <a:srgbClr val="123C47"/>
          </a:solidFill>
          <a:ln w="12700">
            <a:solidFill>
              <a:srgbClr val="123C47"/>
            </a:solidFill>
            <a:prstDash val="solid"/>
          </a:ln>
        </p:spPr>
      </p:sp>
      <p:sp>
        <p:nvSpPr>
          <p:cNvPr id="11" name="Text 9"/>
          <p:cNvSpPr txBox="1"/>
          <p:nvPr/>
        </p:nvSpPr>
        <p:spPr>
          <a:xfrm>
            <a:off x="6364224" y="1920240"/>
            <a:ext cx="224028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111</a:t>
            </a:r>
            <a:endParaRPr lang="en-US" sz="3400" dirty="0"/>
          </a:p>
        </p:txBody>
      </p:sp>
      <p:sp>
        <p:nvSpPr>
          <p:cNvPr id="12" name="Text 10"/>
          <p:cNvSpPr txBox="1"/>
          <p:nvPr/>
        </p:nvSpPr>
        <p:spPr>
          <a:xfrm>
            <a:off x="6364224" y="2743200"/>
            <a:ext cx="2240280" cy="960120"/>
          </a:xfrm>
          <a:prstGeom prst="rect">
            <a:avLst/>
          </a:prstGeom>
          <a:noFill/>
          <a:ln/>
        </p:spPr>
        <p:txBody>
          <a:bodyPr wrap="square" lIns="0" tIns="0" rIns="0" bIns="0" rtlCol="0" anchor="t"/>
          <a:lstStyle/>
          <a:p>
            <a:pPr indent="0" marL="0">
              <a:buNone/>
            </a:pPr>
            <a:r>
              <a:rPr lang="en-US" sz="1350" dirty="0">
                <a:solidFill>
                  <a:srgbClr val="C9DADD"/>
                </a:solidFill>
                <a:latin typeface="Calibri" pitchFamily="34" charset="0"/>
                <a:ea typeface="Calibri" pitchFamily="34" charset="-122"/>
                <a:cs typeface="Calibri" pitchFamily="34" charset="-120"/>
              </a:rPr>
              <a:t>rows answered from registry memory on re-run</a:t>
            </a:r>
            <a:endParaRPr lang="en-US" sz="1350" dirty="0"/>
          </a:p>
        </p:txBody>
      </p:sp>
      <p:sp>
        <p:nvSpPr>
          <p:cNvPr id="13" name="Shape 11"/>
          <p:cNvSpPr/>
          <p:nvPr/>
        </p:nvSpPr>
        <p:spPr>
          <a:xfrm>
            <a:off x="8970264" y="1691640"/>
            <a:ext cx="2606040" cy="2103120"/>
          </a:xfrm>
          <a:prstGeom prst="roundRect">
            <a:avLst>
              <a:gd name="adj" fmla="val 3478"/>
            </a:avLst>
          </a:prstGeom>
          <a:solidFill>
            <a:srgbClr val="123C47"/>
          </a:solidFill>
          <a:ln w="12700">
            <a:solidFill>
              <a:srgbClr val="123C47"/>
            </a:solidFill>
            <a:prstDash val="solid"/>
          </a:ln>
        </p:spPr>
      </p:sp>
      <p:sp>
        <p:nvSpPr>
          <p:cNvPr id="14" name="Text 12"/>
          <p:cNvSpPr txBox="1"/>
          <p:nvPr/>
        </p:nvSpPr>
        <p:spPr>
          <a:xfrm>
            <a:off x="9171432" y="1920240"/>
            <a:ext cx="2240280" cy="777240"/>
          </a:xfrm>
          <a:prstGeom prst="rect">
            <a:avLst/>
          </a:prstGeom>
          <a:noFill/>
          <a:ln/>
        </p:spPr>
        <p:txBody>
          <a:bodyPr wrap="square" lIns="0" tIns="0" rIns="0" bIns="0" rtlCol="0" anchor="ctr"/>
          <a:lstStyle/>
          <a:p>
            <a:pPr indent="0" marL="0">
              <a:buNone/>
            </a:pPr>
            <a:r>
              <a:rPr lang="en-US" sz="3400" b="1" dirty="0">
                <a:solidFill>
                  <a:srgbClr val="9FE3D6"/>
                </a:solidFill>
                <a:latin typeface="Cambria" pitchFamily="34" charset="0"/>
                <a:ea typeface="Cambria" pitchFamily="34" charset="-122"/>
                <a:cs typeface="Cambria" pitchFamily="34" charset="-120"/>
              </a:rPr>
              <a:t>0</a:t>
            </a:r>
            <a:endParaRPr lang="en-US" sz="3400" dirty="0"/>
          </a:p>
        </p:txBody>
      </p:sp>
      <p:sp>
        <p:nvSpPr>
          <p:cNvPr id="15" name="Text 13"/>
          <p:cNvSpPr txBox="1"/>
          <p:nvPr/>
        </p:nvSpPr>
        <p:spPr>
          <a:xfrm>
            <a:off x="9171432" y="2743200"/>
            <a:ext cx="2240280" cy="960120"/>
          </a:xfrm>
          <a:prstGeom prst="rect">
            <a:avLst/>
          </a:prstGeom>
          <a:noFill/>
          <a:ln/>
        </p:spPr>
        <p:txBody>
          <a:bodyPr wrap="square" lIns="0" tIns="0" rIns="0" bIns="0" rtlCol="0" anchor="t"/>
          <a:lstStyle/>
          <a:p>
            <a:pPr indent="0" marL="0">
              <a:buNone/>
            </a:pPr>
            <a:r>
              <a:rPr lang="en-US" sz="1350" dirty="0">
                <a:solidFill>
                  <a:srgbClr val="C9DADD"/>
                </a:solidFill>
                <a:latin typeface="Calibri" pitchFamily="34" charset="0"/>
                <a:ea typeface="Calibri" pitchFamily="34" charset="-122"/>
                <a:cs typeface="Calibri" pitchFamily="34" charset="-120"/>
              </a:rPr>
              <a:t>brand homepages submitted (was 100)</a:t>
            </a:r>
            <a:endParaRPr lang="en-US" sz="1350" dirty="0"/>
          </a:p>
        </p:txBody>
      </p:sp>
      <p:sp>
        <p:nvSpPr>
          <p:cNvPr id="16" name="Shape 14"/>
          <p:cNvSpPr/>
          <p:nvPr/>
        </p:nvSpPr>
        <p:spPr>
          <a:xfrm>
            <a:off x="548640" y="4023360"/>
            <a:ext cx="2606040" cy="2103120"/>
          </a:xfrm>
          <a:prstGeom prst="roundRect">
            <a:avLst>
              <a:gd name="adj" fmla="val 3478"/>
            </a:avLst>
          </a:prstGeom>
          <a:solidFill>
            <a:srgbClr val="123C47"/>
          </a:solidFill>
          <a:ln w="12700">
            <a:solidFill>
              <a:srgbClr val="123C47"/>
            </a:solidFill>
            <a:prstDash val="solid"/>
          </a:ln>
        </p:spPr>
      </p:sp>
      <p:sp>
        <p:nvSpPr>
          <p:cNvPr id="17" name="Text 15"/>
          <p:cNvSpPr txBox="1"/>
          <p:nvPr/>
        </p:nvSpPr>
        <p:spPr>
          <a:xfrm>
            <a:off x="749808" y="4251960"/>
            <a:ext cx="224028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80.3%</a:t>
            </a:r>
            <a:endParaRPr lang="en-US" sz="3400" dirty="0"/>
          </a:p>
        </p:txBody>
      </p:sp>
      <p:sp>
        <p:nvSpPr>
          <p:cNvPr id="18" name="Text 16"/>
          <p:cNvSpPr txBox="1"/>
          <p:nvPr/>
        </p:nvSpPr>
        <p:spPr>
          <a:xfrm>
            <a:off x="749808" y="5074920"/>
            <a:ext cx="2240280" cy="960120"/>
          </a:xfrm>
          <a:prstGeom prst="rect">
            <a:avLst/>
          </a:prstGeom>
          <a:noFill/>
          <a:ln/>
        </p:spPr>
        <p:txBody>
          <a:bodyPr wrap="square" lIns="0" tIns="0" rIns="0" bIns="0" rtlCol="0" anchor="t"/>
          <a:lstStyle/>
          <a:p>
            <a:pPr indent="0" marL="0">
              <a:buNone/>
            </a:pPr>
            <a:r>
              <a:rPr lang="en-US" sz="1350" dirty="0">
                <a:solidFill>
                  <a:srgbClr val="C9DADD"/>
                </a:solidFill>
                <a:latin typeface="Calibri" pitchFamily="34" charset="0"/>
                <a:ea typeface="Calibri" pitchFamily="34" charset="-122"/>
                <a:cs typeface="Calibri" pitchFamily="34" charset="-120"/>
              </a:rPr>
              <a:t>module accuracy, leave-one-out (49.7% macro)</a:t>
            </a:r>
            <a:endParaRPr lang="en-US" sz="1350" dirty="0"/>
          </a:p>
        </p:txBody>
      </p:sp>
      <p:sp>
        <p:nvSpPr>
          <p:cNvPr id="19" name="Shape 17"/>
          <p:cNvSpPr/>
          <p:nvPr/>
        </p:nvSpPr>
        <p:spPr>
          <a:xfrm>
            <a:off x="3355848" y="4023360"/>
            <a:ext cx="2606040" cy="2103120"/>
          </a:xfrm>
          <a:prstGeom prst="roundRect">
            <a:avLst>
              <a:gd name="adj" fmla="val 3478"/>
            </a:avLst>
          </a:prstGeom>
          <a:solidFill>
            <a:srgbClr val="123C47"/>
          </a:solidFill>
          <a:ln w="12700">
            <a:solidFill>
              <a:srgbClr val="123C47"/>
            </a:solidFill>
            <a:prstDash val="solid"/>
          </a:ln>
        </p:spPr>
      </p:sp>
      <p:sp>
        <p:nvSpPr>
          <p:cNvPr id="20" name="Text 18"/>
          <p:cNvSpPr txBox="1"/>
          <p:nvPr/>
        </p:nvSpPr>
        <p:spPr>
          <a:xfrm>
            <a:off x="3557016" y="4251960"/>
            <a:ext cx="224028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0.068</a:t>
            </a:r>
            <a:endParaRPr lang="en-US" sz="3400" dirty="0"/>
          </a:p>
        </p:txBody>
      </p:sp>
      <p:sp>
        <p:nvSpPr>
          <p:cNvPr id="21" name="Text 19"/>
          <p:cNvSpPr txBox="1"/>
          <p:nvPr/>
        </p:nvSpPr>
        <p:spPr>
          <a:xfrm>
            <a:off x="3557016" y="5074920"/>
            <a:ext cx="2240280" cy="960120"/>
          </a:xfrm>
          <a:prstGeom prst="rect">
            <a:avLst/>
          </a:prstGeom>
          <a:noFill/>
          <a:ln/>
        </p:spPr>
        <p:txBody>
          <a:bodyPr wrap="square" lIns="0" tIns="0" rIns="0" bIns="0" rtlCol="0" anchor="t"/>
          <a:lstStyle/>
          <a:p>
            <a:pPr indent="0" marL="0">
              <a:buNone/>
            </a:pPr>
            <a:r>
              <a:rPr lang="en-US" sz="1350" dirty="0">
                <a:solidFill>
                  <a:srgbClr val="C9DADD"/>
                </a:solidFill>
                <a:latin typeface="Calibri" pitchFamily="34" charset="0"/>
                <a:ea typeface="Calibri" pitchFamily="34" charset="-122"/>
                <a:cs typeface="Calibri" pitchFamily="34" charset="-120"/>
              </a:rPr>
              <a:t>held-out calibration error of the match score</a:t>
            </a:r>
            <a:endParaRPr lang="en-US" sz="1350" dirty="0"/>
          </a:p>
        </p:txBody>
      </p:sp>
      <p:sp>
        <p:nvSpPr>
          <p:cNvPr id="22" name="Shape 20"/>
          <p:cNvSpPr/>
          <p:nvPr/>
        </p:nvSpPr>
        <p:spPr>
          <a:xfrm>
            <a:off x="6163056" y="4023360"/>
            <a:ext cx="2606040" cy="2103120"/>
          </a:xfrm>
          <a:prstGeom prst="roundRect">
            <a:avLst>
              <a:gd name="adj" fmla="val 3478"/>
            </a:avLst>
          </a:prstGeom>
          <a:solidFill>
            <a:srgbClr val="123C47"/>
          </a:solidFill>
          <a:ln w="12700">
            <a:solidFill>
              <a:srgbClr val="123C47"/>
            </a:solidFill>
            <a:prstDash val="solid"/>
          </a:ln>
        </p:spPr>
      </p:sp>
      <p:sp>
        <p:nvSpPr>
          <p:cNvPr id="23" name="Text 21"/>
          <p:cNvSpPr txBox="1"/>
          <p:nvPr/>
        </p:nvSpPr>
        <p:spPr>
          <a:xfrm>
            <a:off x="6364224" y="4251960"/>
            <a:ext cx="224028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68.6%</a:t>
            </a:r>
            <a:endParaRPr lang="en-US" sz="3400" dirty="0"/>
          </a:p>
        </p:txBody>
      </p:sp>
      <p:sp>
        <p:nvSpPr>
          <p:cNvPr id="24" name="Text 22"/>
          <p:cNvSpPr txBox="1"/>
          <p:nvPr/>
        </p:nvSpPr>
        <p:spPr>
          <a:xfrm>
            <a:off x="6364224" y="5074920"/>
            <a:ext cx="2240280" cy="960120"/>
          </a:xfrm>
          <a:prstGeom prst="rect">
            <a:avLst/>
          </a:prstGeom>
          <a:noFill/>
          <a:ln/>
        </p:spPr>
        <p:txBody>
          <a:bodyPr wrap="square" lIns="0" tIns="0" rIns="0" bIns="0" rtlCol="0" anchor="t"/>
          <a:lstStyle/>
          <a:p>
            <a:pPr indent="0" marL="0">
              <a:buNone/>
            </a:pPr>
            <a:r>
              <a:rPr lang="en-US" sz="1350" dirty="0">
                <a:solidFill>
                  <a:srgbClr val="C9DADD"/>
                </a:solidFill>
                <a:latin typeface="Calibri" pitchFamily="34" charset="0"/>
                <a:ea typeface="Calibri" pitchFamily="34" charset="-122"/>
                <a:cs typeface="Calibri" pitchFamily="34" charset="-120"/>
              </a:rPr>
              <a:t>characteristics, first run, record-only — before page evidence and practice defaults</a:t>
            </a:r>
            <a:endParaRPr lang="en-US" sz="1350" dirty="0"/>
          </a:p>
        </p:txBody>
      </p:sp>
      <p:sp>
        <p:nvSpPr>
          <p:cNvPr id="25" name="Shape 23"/>
          <p:cNvSpPr/>
          <p:nvPr/>
        </p:nvSpPr>
        <p:spPr>
          <a:xfrm>
            <a:off x="8970264" y="4023360"/>
            <a:ext cx="2606040" cy="2103120"/>
          </a:xfrm>
          <a:prstGeom prst="roundRect">
            <a:avLst>
              <a:gd name="adj" fmla="val 3478"/>
            </a:avLst>
          </a:prstGeom>
          <a:solidFill>
            <a:srgbClr val="123C47"/>
          </a:solidFill>
          <a:ln w="12700">
            <a:solidFill>
              <a:srgbClr val="123C47"/>
            </a:solidFill>
            <a:prstDash val="solid"/>
          </a:ln>
        </p:spPr>
      </p:sp>
      <p:sp>
        <p:nvSpPr>
          <p:cNvPr id="26" name="Text 24"/>
          <p:cNvSpPr txBox="1"/>
          <p:nvPr/>
        </p:nvSpPr>
        <p:spPr>
          <a:xfrm>
            <a:off x="9171432" y="4251960"/>
            <a:ext cx="224028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827</a:t>
            </a:r>
            <a:endParaRPr lang="en-US" sz="3400" dirty="0"/>
          </a:p>
        </p:txBody>
      </p:sp>
      <p:sp>
        <p:nvSpPr>
          <p:cNvPr id="27" name="Text 25"/>
          <p:cNvSpPr txBox="1"/>
          <p:nvPr/>
        </p:nvSpPr>
        <p:spPr>
          <a:xfrm>
            <a:off x="9171432" y="5074920"/>
            <a:ext cx="2240280" cy="960120"/>
          </a:xfrm>
          <a:prstGeom prst="rect">
            <a:avLst/>
          </a:prstGeom>
          <a:noFill/>
          <a:ln/>
        </p:spPr>
        <p:txBody>
          <a:bodyPr wrap="square" lIns="0" tIns="0" rIns="0" bIns="0" rtlCol="0" anchor="t"/>
          <a:lstStyle/>
          <a:p>
            <a:pPr indent="0" marL="0">
              <a:buNone/>
            </a:pPr>
            <a:r>
              <a:rPr lang="en-US" sz="1350" dirty="0">
                <a:solidFill>
                  <a:srgbClr val="C9DADD"/>
                </a:solidFill>
                <a:latin typeface="Calibri" pitchFamily="34" charset="0"/>
                <a:ea typeface="Calibri" pitchFamily="34" charset="-122"/>
                <a:cs typeface="Calibri" pitchFamily="34" charset="-120"/>
              </a:rPr>
              <a:t>automated tests, zero network — strict typing</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300" kern="0" dirty="0">
                <a:solidFill>
                  <a:srgbClr val="0E7C7B"/>
                </a:solidFill>
                <a:latin typeface="Calibri" pitchFamily="34" charset="0"/>
                <a:ea typeface="Calibri" pitchFamily="34" charset="-122"/>
                <a:cs typeface="Calibri" pitchFamily="34" charset="-120"/>
              </a:rPr>
              <a:t>BUILT TO BE TRUSTED</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F2D33"/>
                </a:solidFill>
                <a:latin typeface="Cambria" pitchFamily="34" charset="0"/>
                <a:ea typeface="Cambria" pitchFamily="34" charset="-122"/>
                <a:cs typeface="Cambria" pitchFamily="34" charset="-120"/>
              </a:rPr>
              <a:t>Safety and engineering discipline</a:t>
            </a:r>
            <a:endParaRPr lang="en-US" sz="3000" dirty="0"/>
          </a:p>
        </p:txBody>
      </p:sp>
      <p:sp>
        <p:nvSpPr>
          <p:cNvPr id="4" name="Shape 2"/>
          <p:cNvSpPr/>
          <p:nvPr/>
        </p:nvSpPr>
        <p:spPr>
          <a:xfrm>
            <a:off x="548640" y="1673352"/>
            <a:ext cx="274320" cy="274320"/>
          </a:xfrm>
          <a:prstGeom prst="ellipse">
            <a:avLst/>
          </a:prstGeom>
          <a:solidFill>
            <a:srgbClr val="0E7C7B"/>
          </a:solidFill>
          <a:ln w="12700">
            <a:solidFill>
              <a:srgbClr val="0E7C7B"/>
            </a:solidFill>
            <a:prstDash val="solid"/>
          </a:ln>
        </p:spPr>
      </p:sp>
      <p:sp>
        <p:nvSpPr>
          <p:cNvPr id="5" name="Text 3"/>
          <p:cNvSpPr txBox="1"/>
          <p:nvPr/>
        </p:nvSpPr>
        <p:spPr>
          <a:xfrm>
            <a:off x="1005840" y="1600200"/>
            <a:ext cx="4846320" cy="365760"/>
          </a:xfrm>
          <a:prstGeom prst="rect">
            <a:avLst/>
          </a:prstGeom>
          <a:noFill/>
          <a:ln/>
        </p:spPr>
        <p:txBody>
          <a:bodyPr wrap="square" lIns="0" tIns="0" rIns="0" bIns="0" rtlCol="0" anchor="t"/>
          <a:lstStyle/>
          <a:p>
            <a:pPr indent="0" marL="0">
              <a:buNone/>
            </a:pPr>
            <a:r>
              <a:rPr lang="en-US" sz="1500" b="1" dirty="0">
                <a:solidFill>
                  <a:srgbClr val="1F2D33"/>
                </a:solidFill>
                <a:latin typeface="Calibri" pitchFamily="34" charset="0"/>
                <a:ea typeface="Calibri" pitchFamily="34" charset="-122"/>
                <a:cs typeface="Calibri" pitchFamily="34" charset="-120"/>
              </a:rPr>
              <a:t>Untrusted page text is data</a:t>
            </a:r>
            <a:endParaRPr lang="en-US" sz="1500" dirty="0"/>
          </a:p>
        </p:txBody>
      </p:sp>
      <p:sp>
        <p:nvSpPr>
          <p:cNvPr id="6" name="Text 4"/>
          <p:cNvSpPr txBox="1"/>
          <p:nvPr/>
        </p:nvSpPr>
        <p:spPr>
          <a:xfrm>
            <a:off x="1005840" y="1965960"/>
            <a:ext cx="4846320" cy="502920"/>
          </a:xfrm>
          <a:prstGeom prst="rect">
            <a:avLst/>
          </a:prstGeom>
          <a:noFill/>
          <a:ln/>
        </p:spPr>
        <p:txBody>
          <a:bodyPr wrap="square" lIns="0" tIns="0" rIns="0" bIns="0" rtlCol="0" anchor="t"/>
          <a:lstStyle/>
          <a:p>
            <a:pPr indent="0" marL="0">
              <a:buNone/>
            </a:pPr>
            <a:r>
              <a:rPr lang="en-US" sz="1250" dirty="0">
                <a:solidFill>
                  <a:srgbClr val="5B6B70"/>
                </a:solidFill>
                <a:latin typeface="Calibri" pitchFamily="34" charset="0"/>
                <a:ea typeface="Calibri" pitchFamily="34" charset="-122"/>
                <a:cs typeface="Calibri" pitchFamily="34" charset="-120"/>
              </a:rPr>
              <a:t>delimited in every prompt; injection fixtures are a permanent test class</a:t>
            </a:r>
            <a:endParaRPr lang="en-US" sz="1250" dirty="0"/>
          </a:p>
        </p:txBody>
      </p:sp>
      <p:sp>
        <p:nvSpPr>
          <p:cNvPr id="7" name="Shape 5"/>
          <p:cNvSpPr/>
          <p:nvPr/>
        </p:nvSpPr>
        <p:spPr>
          <a:xfrm>
            <a:off x="548640" y="2606040"/>
            <a:ext cx="274320" cy="274320"/>
          </a:xfrm>
          <a:prstGeom prst="ellipse">
            <a:avLst/>
          </a:prstGeom>
          <a:solidFill>
            <a:srgbClr val="0E7C7B"/>
          </a:solidFill>
          <a:ln w="12700">
            <a:solidFill>
              <a:srgbClr val="0E7C7B"/>
            </a:solidFill>
            <a:prstDash val="solid"/>
          </a:ln>
        </p:spPr>
      </p:sp>
      <p:sp>
        <p:nvSpPr>
          <p:cNvPr id="8" name="Text 6"/>
          <p:cNvSpPr txBox="1"/>
          <p:nvPr/>
        </p:nvSpPr>
        <p:spPr>
          <a:xfrm>
            <a:off x="1005840" y="2532888"/>
            <a:ext cx="4846320" cy="365760"/>
          </a:xfrm>
          <a:prstGeom prst="rect">
            <a:avLst/>
          </a:prstGeom>
          <a:noFill/>
          <a:ln/>
        </p:spPr>
        <p:txBody>
          <a:bodyPr wrap="square" lIns="0" tIns="0" rIns="0" bIns="0" rtlCol="0" anchor="t"/>
          <a:lstStyle/>
          <a:p>
            <a:pPr indent="0" marL="0">
              <a:buNone/>
            </a:pPr>
            <a:r>
              <a:rPr lang="en-US" sz="1500" b="1" dirty="0">
                <a:solidFill>
                  <a:srgbClr val="1F2D33"/>
                </a:solidFill>
                <a:latin typeface="Calibri" pitchFamily="34" charset="0"/>
                <a:ea typeface="Calibri" pitchFamily="34" charset="-122"/>
                <a:cs typeface="Calibri" pitchFamily="34" charset="-120"/>
              </a:rPr>
              <a:t>The model cannot invent a URL</a:t>
            </a:r>
            <a:endParaRPr lang="en-US" sz="1500" dirty="0"/>
          </a:p>
        </p:txBody>
      </p:sp>
      <p:sp>
        <p:nvSpPr>
          <p:cNvPr id="9" name="Text 7"/>
          <p:cNvSpPr txBox="1"/>
          <p:nvPr/>
        </p:nvSpPr>
        <p:spPr>
          <a:xfrm>
            <a:off x="1005840" y="2898648"/>
            <a:ext cx="4846320" cy="502920"/>
          </a:xfrm>
          <a:prstGeom prst="rect">
            <a:avLst/>
          </a:prstGeom>
          <a:noFill/>
          <a:ln/>
        </p:spPr>
        <p:txBody>
          <a:bodyPr wrap="square" lIns="0" tIns="0" rIns="0" bIns="0" rtlCol="0" anchor="t"/>
          <a:lstStyle/>
          <a:p>
            <a:pPr indent="0" marL="0">
              <a:buNone/>
            </a:pPr>
            <a:r>
              <a:rPr lang="en-US" sz="1250" dirty="0">
                <a:solidFill>
                  <a:srgbClr val="5B6B70"/>
                </a:solidFill>
                <a:latin typeface="Calibri" pitchFamily="34" charset="0"/>
                <a:ea typeface="Calibri" pitchFamily="34" charset="-122"/>
                <a:cs typeface="Calibri" pitchFamily="34" charset="-120"/>
              </a:rPr>
              <a:t>its answer schema has an index, no URL field; out-of-range is refused</a:t>
            </a:r>
            <a:endParaRPr lang="en-US" sz="1250" dirty="0"/>
          </a:p>
        </p:txBody>
      </p:sp>
      <p:sp>
        <p:nvSpPr>
          <p:cNvPr id="10" name="Shape 8"/>
          <p:cNvSpPr/>
          <p:nvPr/>
        </p:nvSpPr>
        <p:spPr>
          <a:xfrm>
            <a:off x="548640" y="3538728"/>
            <a:ext cx="274320" cy="274320"/>
          </a:xfrm>
          <a:prstGeom prst="ellipse">
            <a:avLst/>
          </a:prstGeom>
          <a:solidFill>
            <a:srgbClr val="0E7C7B"/>
          </a:solidFill>
          <a:ln w="12700">
            <a:solidFill>
              <a:srgbClr val="0E7C7B"/>
            </a:solidFill>
            <a:prstDash val="solid"/>
          </a:ln>
        </p:spPr>
      </p:sp>
      <p:sp>
        <p:nvSpPr>
          <p:cNvPr id="11" name="Text 9"/>
          <p:cNvSpPr txBox="1"/>
          <p:nvPr/>
        </p:nvSpPr>
        <p:spPr>
          <a:xfrm>
            <a:off x="1005840" y="3465576"/>
            <a:ext cx="4846320" cy="365760"/>
          </a:xfrm>
          <a:prstGeom prst="rect">
            <a:avLst/>
          </a:prstGeom>
          <a:noFill/>
          <a:ln/>
        </p:spPr>
        <p:txBody>
          <a:bodyPr wrap="square" lIns="0" tIns="0" rIns="0" bIns="0" rtlCol="0" anchor="t"/>
          <a:lstStyle/>
          <a:p>
            <a:pPr indent="0" marL="0">
              <a:buNone/>
            </a:pPr>
            <a:r>
              <a:rPr lang="en-US" sz="1500" b="1" dirty="0">
                <a:solidFill>
                  <a:srgbClr val="1F2D33"/>
                </a:solidFill>
                <a:latin typeface="Calibri" pitchFamily="34" charset="0"/>
                <a:ea typeface="Calibri" pitchFamily="34" charset="-122"/>
                <a:cs typeface="Calibri" pitchFamily="34" charset="-120"/>
              </a:rPr>
              <a:t>SSRF checks on every redirect hop</a:t>
            </a:r>
            <a:endParaRPr lang="en-US" sz="1500" dirty="0"/>
          </a:p>
        </p:txBody>
      </p:sp>
      <p:sp>
        <p:nvSpPr>
          <p:cNvPr id="12" name="Text 10"/>
          <p:cNvSpPr txBox="1"/>
          <p:nvPr/>
        </p:nvSpPr>
        <p:spPr>
          <a:xfrm>
            <a:off x="1005840" y="3831336"/>
            <a:ext cx="4846320" cy="502920"/>
          </a:xfrm>
          <a:prstGeom prst="rect">
            <a:avLst/>
          </a:prstGeom>
          <a:noFill/>
          <a:ln/>
        </p:spPr>
        <p:txBody>
          <a:bodyPr wrap="square" lIns="0" tIns="0" rIns="0" bIns="0" rtlCol="0" anchor="t"/>
          <a:lstStyle/>
          <a:p>
            <a:pPr indent="0" marL="0">
              <a:buNone/>
            </a:pPr>
            <a:r>
              <a:rPr lang="en-US" sz="1250" dirty="0">
                <a:solidFill>
                  <a:srgbClr val="5B6B70"/>
                </a:solidFill>
                <a:latin typeface="Calibri" pitchFamily="34" charset="0"/>
                <a:ea typeface="Calibri" pitchFamily="34" charset="-122"/>
                <a:cs typeface="Calibri" pitchFamily="34" charset="-120"/>
              </a:rPr>
              <a:t>private and metadata addresses refused before connecting</a:t>
            </a:r>
            <a:endParaRPr lang="en-US" sz="1250" dirty="0"/>
          </a:p>
        </p:txBody>
      </p:sp>
      <p:sp>
        <p:nvSpPr>
          <p:cNvPr id="13" name="Shape 11"/>
          <p:cNvSpPr/>
          <p:nvPr/>
        </p:nvSpPr>
        <p:spPr>
          <a:xfrm>
            <a:off x="548640" y="4471416"/>
            <a:ext cx="274320" cy="274320"/>
          </a:xfrm>
          <a:prstGeom prst="ellipse">
            <a:avLst/>
          </a:prstGeom>
          <a:solidFill>
            <a:srgbClr val="0E7C7B"/>
          </a:solidFill>
          <a:ln w="12700">
            <a:solidFill>
              <a:srgbClr val="0E7C7B"/>
            </a:solidFill>
            <a:prstDash val="solid"/>
          </a:ln>
        </p:spPr>
      </p:sp>
      <p:sp>
        <p:nvSpPr>
          <p:cNvPr id="14" name="Text 12"/>
          <p:cNvSpPr txBox="1"/>
          <p:nvPr/>
        </p:nvSpPr>
        <p:spPr>
          <a:xfrm>
            <a:off x="1005840" y="4398264"/>
            <a:ext cx="4846320" cy="365760"/>
          </a:xfrm>
          <a:prstGeom prst="rect">
            <a:avLst/>
          </a:prstGeom>
          <a:noFill/>
          <a:ln/>
        </p:spPr>
        <p:txBody>
          <a:bodyPr wrap="square" lIns="0" tIns="0" rIns="0" bIns="0" rtlCol="0" anchor="t"/>
          <a:lstStyle/>
          <a:p>
            <a:pPr indent="0" marL="0">
              <a:buNone/>
            </a:pPr>
            <a:r>
              <a:rPr lang="en-US" sz="1500" b="1" dirty="0">
                <a:solidFill>
                  <a:srgbClr val="1F2D33"/>
                </a:solidFill>
                <a:latin typeface="Calibri" pitchFamily="34" charset="0"/>
                <a:ea typeface="Calibri" pitchFamily="34" charset="-122"/>
                <a:cs typeface="Calibri" pitchFamily="34" charset="-120"/>
              </a:rPr>
              <a:t>Pinned model, hard token budget</a:t>
            </a:r>
            <a:endParaRPr lang="en-US" sz="1500" dirty="0"/>
          </a:p>
        </p:txBody>
      </p:sp>
      <p:sp>
        <p:nvSpPr>
          <p:cNvPr id="15" name="Text 13"/>
          <p:cNvSpPr txBox="1"/>
          <p:nvPr/>
        </p:nvSpPr>
        <p:spPr>
          <a:xfrm>
            <a:off x="1005840" y="4764024"/>
            <a:ext cx="4846320" cy="502920"/>
          </a:xfrm>
          <a:prstGeom prst="rect">
            <a:avLst/>
          </a:prstGeom>
          <a:noFill/>
          <a:ln/>
        </p:spPr>
        <p:txBody>
          <a:bodyPr wrap="square" lIns="0" tIns="0" rIns="0" bIns="0" rtlCol="0" anchor="t"/>
          <a:lstStyle/>
          <a:p>
            <a:pPr indent="0" marL="0">
              <a:buNone/>
            </a:pPr>
            <a:r>
              <a:rPr lang="en-US" sz="1250" dirty="0">
                <a:solidFill>
                  <a:srgbClr val="5B6B70"/>
                </a:solidFill>
                <a:latin typeface="Calibri" pitchFamily="34" charset="0"/>
                <a:ea typeface="Calibri" pitchFamily="34" charset="-122"/>
                <a:cs typeface="Calibri" pitchFamily="34" charset="-120"/>
              </a:rPr>
              <a:t>a spent budget aborts the run instead of throttling silently</a:t>
            </a:r>
            <a:endParaRPr lang="en-US" sz="1250" dirty="0"/>
          </a:p>
        </p:txBody>
      </p:sp>
      <p:sp>
        <p:nvSpPr>
          <p:cNvPr id="16" name="Shape 14"/>
          <p:cNvSpPr/>
          <p:nvPr/>
        </p:nvSpPr>
        <p:spPr>
          <a:xfrm>
            <a:off x="548640" y="5404104"/>
            <a:ext cx="274320" cy="274320"/>
          </a:xfrm>
          <a:prstGeom prst="ellipse">
            <a:avLst/>
          </a:prstGeom>
          <a:solidFill>
            <a:srgbClr val="0E7C7B"/>
          </a:solidFill>
          <a:ln w="12700">
            <a:solidFill>
              <a:srgbClr val="0E7C7B"/>
            </a:solidFill>
            <a:prstDash val="solid"/>
          </a:ln>
        </p:spPr>
      </p:sp>
      <p:sp>
        <p:nvSpPr>
          <p:cNvPr id="17" name="Text 15"/>
          <p:cNvSpPr txBox="1"/>
          <p:nvPr/>
        </p:nvSpPr>
        <p:spPr>
          <a:xfrm>
            <a:off x="1005840" y="5330952"/>
            <a:ext cx="4846320" cy="365760"/>
          </a:xfrm>
          <a:prstGeom prst="rect">
            <a:avLst/>
          </a:prstGeom>
          <a:noFill/>
          <a:ln/>
        </p:spPr>
        <p:txBody>
          <a:bodyPr wrap="square" lIns="0" tIns="0" rIns="0" bIns="0" rtlCol="0" anchor="t"/>
          <a:lstStyle/>
          <a:p>
            <a:pPr indent="0" marL="0">
              <a:buNone/>
            </a:pPr>
            <a:r>
              <a:rPr lang="en-US" sz="1500" b="1" dirty="0">
                <a:solidFill>
                  <a:srgbClr val="1F2D33"/>
                </a:solidFill>
                <a:latin typeface="Calibri" pitchFamily="34" charset="0"/>
                <a:ea typeface="Calibri" pitchFamily="34" charset="-122"/>
                <a:cs typeface="Calibri" pitchFamily="34" charset="-120"/>
              </a:rPr>
              <a:t>Audit-logged memory</a:t>
            </a:r>
            <a:endParaRPr lang="en-US" sz="1500" dirty="0"/>
          </a:p>
        </p:txBody>
      </p:sp>
      <p:sp>
        <p:nvSpPr>
          <p:cNvPr id="18" name="Text 16"/>
          <p:cNvSpPr txBox="1"/>
          <p:nvPr/>
        </p:nvSpPr>
        <p:spPr>
          <a:xfrm>
            <a:off x="1005840" y="5696712"/>
            <a:ext cx="4846320" cy="502920"/>
          </a:xfrm>
          <a:prstGeom prst="rect">
            <a:avLst/>
          </a:prstGeom>
          <a:noFill/>
          <a:ln/>
        </p:spPr>
        <p:txBody>
          <a:bodyPr wrap="square" lIns="0" tIns="0" rIns="0" bIns="0" rtlCol="0" anchor="t"/>
          <a:lstStyle/>
          <a:p>
            <a:pPr indent="0" marL="0">
              <a:buNone/>
            </a:pPr>
            <a:r>
              <a:rPr lang="en-US" sz="1250" dirty="0">
                <a:solidFill>
                  <a:srgbClr val="5B6B70"/>
                </a:solidFill>
                <a:latin typeface="Calibri" pitchFamily="34" charset="0"/>
                <a:ea typeface="Calibri" pitchFamily="34" charset="-122"/>
                <a:cs typeface="Calibri" pitchFamily="34" charset="-120"/>
              </a:rPr>
              <a:t>every registry write is traceable and reversible</a:t>
            </a:r>
            <a:endParaRPr lang="en-US" sz="1250" dirty="0"/>
          </a:p>
        </p:txBody>
      </p:sp>
      <p:sp>
        <p:nvSpPr>
          <p:cNvPr id="19" name="Shape 17"/>
          <p:cNvSpPr/>
          <p:nvPr/>
        </p:nvSpPr>
        <p:spPr>
          <a:xfrm>
            <a:off x="6309360" y="1673352"/>
            <a:ext cx="274320" cy="274320"/>
          </a:xfrm>
          <a:prstGeom prst="ellipse">
            <a:avLst/>
          </a:prstGeom>
          <a:solidFill>
            <a:srgbClr val="0E7C7B"/>
          </a:solidFill>
          <a:ln w="12700">
            <a:solidFill>
              <a:srgbClr val="0E7C7B"/>
            </a:solidFill>
            <a:prstDash val="solid"/>
          </a:ln>
        </p:spPr>
      </p:sp>
      <p:sp>
        <p:nvSpPr>
          <p:cNvPr id="20" name="Text 18"/>
          <p:cNvSpPr txBox="1"/>
          <p:nvPr/>
        </p:nvSpPr>
        <p:spPr>
          <a:xfrm>
            <a:off x="6766560" y="1600200"/>
            <a:ext cx="4846320" cy="365760"/>
          </a:xfrm>
          <a:prstGeom prst="rect">
            <a:avLst/>
          </a:prstGeom>
          <a:noFill/>
          <a:ln/>
        </p:spPr>
        <p:txBody>
          <a:bodyPr wrap="square" lIns="0" tIns="0" rIns="0" bIns="0" rtlCol="0" anchor="t"/>
          <a:lstStyle/>
          <a:p>
            <a:pPr indent="0" marL="0">
              <a:buNone/>
            </a:pPr>
            <a:r>
              <a:rPr lang="en-US" sz="1500" b="1" dirty="0">
                <a:solidFill>
                  <a:srgbClr val="1F2D33"/>
                </a:solidFill>
                <a:latin typeface="Calibri" pitchFamily="34" charset="0"/>
                <a:ea typeface="Calibri" pitchFamily="34" charset="-122"/>
                <a:cs typeface="Calibri" pitchFamily="34" charset="-120"/>
              </a:rPr>
              <a:t>Deterministic</a:t>
            </a:r>
            <a:endParaRPr lang="en-US" sz="1500" dirty="0"/>
          </a:p>
        </p:txBody>
      </p:sp>
      <p:sp>
        <p:nvSpPr>
          <p:cNvPr id="21" name="Text 19"/>
          <p:cNvSpPr txBox="1"/>
          <p:nvPr/>
        </p:nvSpPr>
        <p:spPr>
          <a:xfrm>
            <a:off x="6766560" y="1965960"/>
            <a:ext cx="4846320" cy="502920"/>
          </a:xfrm>
          <a:prstGeom prst="rect">
            <a:avLst/>
          </a:prstGeom>
          <a:noFill/>
          <a:ln/>
        </p:spPr>
        <p:txBody>
          <a:bodyPr wrap="square" lIns="0" tIns="0" rIns="0" bIns="0" rtlCol="0" anchor="t"/>
          <a:lstStyle/>
          <a:p>
            <a:pPr indent="0" marL="0">
              <a:buNone/>
            </a:pPr>
            <a:r>
              <a:rPr lang="en-US" sz="1250" dirty="0">
                <a:solidFill>
                  <a:srgbClr val="5B6B70"/>
                </a:solidFill>
                <a:latin typeface="Calibri" pitchFamily="34" charset="0"/>
                <a:ea typeface="Calibri" pitchFamily="34" charset="-122"/>
                <a:cs typeface="Calibri" pitchFamily="34" charset="-120"/>
              </a:rPr>
              <a:t>the submission xlsx was byte-identical across two different laptops</a:t>
            </a:r>
            <a:endParaRPr lang="en-US" sz="1250" dirty="0"/>
          </a:p>
        </p:txBody>
      </p:sp>
      <p:sp>
        <p:nvSpPr>
          <p:cNvPr id="22" name="Shape 20"/>
          <p:cNvSpPr/>
          <p:nvPr/>
        </p:nvSpPr>
        <p:spPr>
          <a:xfrm>
            <a:off x="6309360" y="2606040"/>
            <a:ext cx="274320" cy="274320"/>
          </a:xfrm>
          <a:prstGeom prst="ellipse">
            <a:avLst/>
          </a:prstGeom>
          <a:solidFill>
            <a:srgbClr val="0E7C7B"/>
          </a:solidFill>
          <a:ln w="12700">
            <a:solidFill>
              <a:srgbClr val="0E7C7B"/>
            </a:solidFill>
            <a:prstDash val="solid"/>
          </a:ln>
        </p:spPr>
      </p:sp>
      <p:sp>
        <p:nvSpPr>
          <p:cNvPr id="23" name="Text 21"/>
          <p:cNvSpPr txBox="1"/>
          <p:nvPr/>
        </p:nvSpPr>
        <p:spPr>
          <a:xfrm>
            <a:off x="6766560" y="2532888"/>
            <a:ext cx="4846320" cy="365760"/>
          </a:xfrm>
          <a:prstGeom prst="rect">
            <a:avLst/>
          </a:prstGeom>
          <a:noFill/>
          <a:ln/>
        </p:spPr>
        <p:txBody>
          <a:bodyPr wrap="square" lIns="0" tIns="0" rIns="0" bIns="0" rtlCol="0" anchor="t"/>
          <a:lstStyle/>
          <a:p>
            <a:pPr indent="0" marL="0">
              <a:buNone/>
            </a:pPr>
            <a:r>
              <a:rPr lang="en-US" sz="1500" b="1" dirty="0">
                <a:solidFill>
                  <a:srgbClr val="1F2D33"/>
                </a:solidFill>
                <a:latin typeface="Calibri" pitchFamily="34" charset="0"/>
                <a:ea typeface="Calibri" pitchFamily="34" charset="-122"/>
                <a:cs typeface="Calibri" pitchFamily="34" charset="-120"/>
              </a:rPr>
              <a:t>Resumable</a:t>
            </a:r>
            <a:endParaRPr lang="en-US" sz="1500" dirty="0"/>
          </a:p>
        </p:txBody>
      </p:sp>
      <p:sp>
        <p:nvSpPr>
          <p:cNvPr id="24" name="Text 22"/>
          <p:cNvSpPr txBox="1"/>
          <p:nvPr/>
        </p:nvSpPr>
        <p:spPr>
          <a:xfrm>
            <a:off x="6766560" y="2898648"/>
            <a:ext cx="4846320" cy="502920"/>
          </a:xfrm>
          <a:prstGeom prst="rect">
            <a:avLst/>
          </a:prstGeom>
          <a:noFill/>
          <a:ln/>
        </p:spPr>
        <p:txBody>
          <a:bodyPr wrap="square" lIns="0" tIns="0" rIns="0" bIns="0" rtlCol="0" anchor="t"/>
          <a:lstStyle/>
          <a:p>
            <a:pPr indent="0" marL="0">
              <a:buNone/>
            </a:pPr>
            <a:r>
              <a:rPr lang="en-US" sz="1250" dirty="0">
                <a:solidFill>
                  <a:srgbClr val="5B6B70"/>
                </a:solidFill>
                <a:latin typeface="Calibri" pitchFamily="34" charset="0"/>
                <a:ea typeface="Calibri" pitchFamily="34" charset="-122"/>
                <a:cs typeface="Calibri" pitchFamily="34" charset="-120"/>
              </a:rPr>
              <a:t>one typed artifact per row per stage; an interruption loses nothing</a:t>
            </a:r>
            <a:endParaRPr lang="en-US" sz="1250" dirty="0"/>
          </a:p>
        </p:txBody>
      </p:sp>
      <p:sp>
        <p:nvSpPr>
          <p:cNvPr id="25" name="Shape 23"/>
          <p:cNvSpPr/>
          <p:nvPr/>
        </p:nvSpPr>
        <p:spPr>
          <a:xfrm>
            <a:off x="6309360" y="3538728"/>
            <a:ext cx="274320" cy="274320"/>
          </a:xfrm>
          <a:prstGeom prst="ellipse">
            <a:avLst/>
          </a:prstGeom>
          <a:solidFill>
            <a:srgbClr val="0E7C7B"/>
          </a:solidFill>
          <a:ln w="12700">
            <a:solidFill>
              <a:srgbClr val="0E7C7B"/>
            </a:solidFill>
            <a:prstDash val="solid"/>
          </a:ln>
        </p:spPr>
      </p:sp>
      <p:sp>
        <p:nvSpPr>
          <p:cNvPr id="26" name="Text 24"/>
          <p:cNvSpPr txBox="1"/>
          <p:nvPr/>
        </p:nvSpPr>
        <p:spPr>
          <a:xfrm>
            <a:off x="6766560" y="3465576"/>
            <a:ext cx="4846320" cy="365760"/>
          </a:xfrm>
          <a:prstGeom prst="rect">
            <a:avLst/>
          </a:prstGeom>
          <a:noFill/>
          <a:ln/>
        </p:spPr>
        <p:txBody>
          <a:bodyPr wrap="square" lIns="0" tIns="0" rIns="0" bIns="0" rtlCol="0" anchor="t"/>
          <a:lstStyle/>
          <a:p>
            <a:pPr indent="0" marL="0">
              <a:buNone/>
            </a:pPr>
            <a:r>
              <a:rPr lang="en-US" sz="1500" b="1" dirty="0">
                <a:solidFill>
                  <a:srgbClr val="1F2D33"/>
                </a:solidFill>
                <a:latin typeface="Calibri" pitchFamily="34" charset="0"/>
                <a:ea typeface="Calibri" pitchFamily="34" charset="-122"/>
                <a:cs typeface="Calibri" pitchFamily="34" charset="-120"/>
              </a:rPr>
              <a:t>Fail loud</a:t>
            </a:r>
            <a:endParaRPr lang="en-US" sz="1500" dirty="0"/>
          </a:p>
        </p:txBody>
      </p:sp>
      <p:sp>
        <p:nvSpPr>
          <p:cNvPr id="27" name="Text 25"/>
          <p:cNvSpPr txBox="1"/>
          <p:nvPr/>
        </p:nvSpPr>
        <p:spPr>
          <a:xfrm>
            <a:off x="6766560" y="3831336"/>
            <a:ext cx="4846320" cy="502920"/>
          </a:xfrm>
          <a:prstGeom prst="rect">
            <a:avLst/>
          </a:prstGeom>
          <a:noFill/>
          <a:ln/>
        </p:spPr>
        <p:txBody>
          <a:bodyPr wrap="square" lIns="0" tIns="0" rIns="0" bIns="0" rtlCol="0" anchor="t"/>
          <a:lstStyle/>
          <a:p>
            <a:pPr indent="0" marL="0">
              <a:buNone/>
            </a:pPr>
            <a:r>
              <a:rPr lang="en-US" sz="1250" dirty="0">
                <a:solidFill>
                  <a:srgbClr val="5B6B70"/>
                </a:solidFill>
                <a:latin typeface="Calibri" pitchFamily="34" charset="0"/>
                <a:ea typeface="Calibri" pitchFamily="34" charset="-122"/>
                <a:cs typeface="Calibri" pitchFamily="34" charset="-120"/>
              </a:rPr>
              <a:t>one failure choke point; a failed row is blank, never half-filled</a:t>
            </a:r>
            <a:endParaRPr lang="en-US" sz="1250" dirty="0"/>
          </a:p>
        </p:txBody>
      </p:sp>
      <p:sp>
        <p:nvSpPr>
          <p:cNvPr id="28" name="Shape 26"/>
          <p:cNvSpPr/>
          <p:nvPr/>
        </p:nvSpPr>
        <p:spPr>
          <a:xfrm>
            <a:off x="6309360" y="4471416"/>
            <a:ext cx="274320" cy="274320"/>
          </a:xfrm>
          <a:prstGeom prst="ellipse">
            <a:avLst/>
          </a:prstGeom>
          <a:solidFill>
            <a:srgbClr val="0E7C7B"/>
          </a:solidFill>
          <a:ln w="12700">
            <a:solidFill>
              <a:srgbClr val="0E7C7B"/>
            </a:solidFill>
            <a:prstDash val="solid"/>
          </a:ln>
        </p:spPr>
      </p:sp>
      <p:sp>
        <p:nvSpPr>
          <p:cNvPr id="29" name="Text 27"/>
          <p:cNvSpPr txBox="1"/>
          <p:nvPr/>
        </p:nvSpPr>
        <p:spPr>
          <a:xfrm>
            <a:off x="6766560" y="4398264"/>
            <a:ext cx="4846320" cy="365760"/>
          </a:xfrm>
          <a:prstGeom prst="rect">
            <a:avLst/>
          </a:prstGeom>
          <a:noFill/>
          <a:ln/>
        </p:spPr>
        <p:txBody>
          <a:bodyPr wrap="square" lIns="0" tIns="0" rIns="0" bIns="0" rtlCol="0" anchor="t"/>
          <a:lstStyle/>
          <a:p>
            <a:pPr indent="0" marL="0">
              <a:buNone/>
            </a:pPr>
            <a:r>
              <a:rPr lang="en-US" sz="1500" b="1" dirty="0">
                <a:solidFill>
                  <a:srgbClr val="1F2D33"/>
                </a:solidFill>
                <a:latin typeface="Calibri" pitchFamily="34" charset="0"/>
                <a:ea typeface="Calibri" pitchFamily="34" charset="-122"/>
                <a:cs typeface="Calibri" pitchFamily="34" charset="-120"/>
              </a:rPr>
              <a:t>Strict</a:t>
            </a:r>
            <a:endParaRPr lang="en-US" sz="1500" dirty="0"/>
          </a:p>
        </p:txBody>
      </p:sp>
      <p:sp>
        <p:nvSpPr>
          <p:cNvPr id="30" name="Text 28"/>
          <p:cNvSpPr txBox="1"/>
          <p:nvPr/>
        </p:nvSpPr>
        <p:spPr>
          <a:xfrm>
            <a:off x="6766560" y="4764024"/>
            <a:ext cx="4846320" cy="502920"/>
          </a:xfrm>
          <a:prstGeom prst="rect">
            <a:avLst/>
          </a:prstGeom>
          <a:noFill/>
          <a:ln/>
        </p:spPr>
        <p:txBody>
          <a:bodyPr wrap="square" lIns="0" tIns="0" rIns="0" bIns="0" rtlCol="0" anchor="t"/>
          <a:lstStyle/>
          <a:p>
            <a:pPr indent="0" marL="0">
              <a:buNone/>
            </a:pPr>
            <a:r>
              <a:rPr lang="en-US" sz="1250" dirty="0">
                <a:solidFill>
                  <a:srgbClr val="5B6B70"/>
                </a:solidFill>
                <a:latin typeface="Calibri" pitchFamily="34" charset="0"/>
                <a:ea typeface="Calibri" pitchFamily="34" charset="-122"/>
                <a:cs typeface="Calibri" pitchFamily="34" charset="-120"/>
              </a:rPr>
              <a:t>mypy --strict, ruff, 827 tests with zero network calls</a:t>
            </a:r>
            <a:endParaRPr lang="en-US" sz="1250" dirty="0"/>
          </a:p>
        </p:txBody>
      </p:sp>
      <p:sp>
        <p:nvSpPr>
          <p:cNvPr id="31" name="Shape 29"/>
          <p:cNvSpPr/>
          <p:nvPr/>
        </p:nvSpPr>
        <p:spPr>
          <a:xfrm>
            <a:off x="6309360" y="5404104"/>
            <a:ext cx="274320" cy="274320"/>
          </a:xfrm>
          <a:prstGeom prst="ellipse">
            <a:avLst/>
          </a:prstGeom>
          <a:solidFill>
            <a:srgbClr val="0E7C7B"/>
          </a:solidFill>
          <a:ln w="12700">
            <a:solidFill>
              <a:srgbClr val="0E7C7B"/>
            </a:solidFill>
            <a:prstDash val="solid"/>
          </a:ln>
        </p:spPr>
      </p:sp>
      <p:sp>
        <p:nvSpPr>
          <p:cNvPr id="32" name="Text 30"/>
          <p:cNvSpPr txBox="1"/>
          <p:nvPr/>
        </p:nvSpPr>
        <p:spPr>
          <a:xfrm>
            <a:off x="6766560" y="5330952"/>
            <a:ext cx="4846320" cy="365760"/>
          </a:xfrm>
          <a:prstGeom prst="rect">
            <a:avLst/>
          </a:prstGeom>
          <a:noFill/>
          <a:ln/>
        </p:spPr>
        <p:txBody>
          <a:bodyPr wrap="square" lIns="0" tIns="0" rIns="0" bIns="0" rtlCol="0" anchor="t"/>
          <a:lstStyle/>
          <a:p>
            <a:pPr indent="0" marL="0">
              <a:buNone/>
            </a:pPr>
            <a:r>
              <a:rPr lang="en-US" sz="1500" b="1" dirty="0">
                <a:solidFill>
                  <a:srgbClr val="1F2D33"/>
                </a:solidFill>
                <a:latin typeface="Calibri" pitchFamily="34" charset="0"/>
                <a:ea typeface="Calibri" pitchFamily="34" charset="-122"/>
                <a:cs typeface="Calibri" pitchFamily="34" charset="-120"/>
              </a:rPr>
              <a:t>Every decision logged</a:t>
            </a:r>
            <a:endParaRPr lang="en-US" sz="1500" dirty="0"/>
          </a:p>
        </p:txBody>
      </p:sp>
      <p:sp>
        <p:nvSpPr>
          <p:cNvPr id="33" name="Text 31"/>
          <p:cNvSpPr txBox="1"/>
          <p:nvPr/>
        </p:nvSpPr>
        <p:spPr>
          <a:xfrm>
            <a:off x="6766560" y="5696712"/>
            <a:ext cx="4846320" cy="502920"/>
          </a:xfrm>
          <a:prstGeom prst="rect">
            <a:avLst/>
          </a:prstGeom>
          <a:noFill/>
          <a:ln/>
        </p:spPr>
        <p:txBody>
          <a:bodyPr wrap="square" lIns="0" tIns="0" rIns="0" bIns="0" rtlCol="0" anchor="t"/>
          <a:lstStyle/>
          <a:p>
            <a:pPr indent="0" marL="0">
              <a:buNone/>
            </a:pPr>
            <a:r>
              <a:rPr lang="en-US" sz="1250" dirty="0">
                <a:solidFill>
                  <a:srgbClr val="5B6B70"/>
                </a:solidFill>
                <a:latin typeface="Calibri" pitchFamily="34" charset="0"/>
                <a:ea typeface="Calibri" pitchFamily="34" charset="-122"/>
                <a:cs typeface="Calibri" pitchFamily="34" charset="-120"/>
              </a:rPr>
              <a:t>what was measured, what was rejected and why — docs/02-decision-log.md</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300" kern="0" dirty="0">
                <a:solidFill>
                  <a:srgbClr val="0E7C7B"/>
                </a:solidFill>
                <a:latin typeface="Calibri" pitchFamily="34" charset="0"/>
                <a:ea typeface="Calibri" pitchFamily="34" charset="-122"/>
                <a:cs typeface="Calibri" pitchFamily="34" charset="-120"/>
              </a:rPr>
              <a:t>HONEST LIMITS AND NEXT STEPS</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F2D33"/>
                </a:solidFill>
                <a:latin typeface="Cambria" pitchFamily="34" charset="0"/>
                <a:ea typeface="Cambria" pitchFamily="34" charset="-122"/>
                <a:cs typeface="Cambria" pitchFamily="34" charset="-120"/>
              </a:rPr>
              <a:t>What we know we have not solved</a:t>
            </a:r>
            <a:endParaRPr lang="en-US" sz="3000" dirty="0"/>
          </a:p>
        </p:txBody>
      </p:sp>
      <p:sp>
        <p:nvSpPr>
          <p:cNvPr id="4" name="Shape 2"/>
          <p:cNvSpPr/>
          <p:nvPr/>
        </p:nvSpPr>
        <p:spPr>
          <a:xfrm>
            <a:off x="548640" y="1600200"/>
            <a:ext cx="5394960" cy="3794760"/>
          </a:xfrm>
          <a:prstGeom prst="roundRect">
            <a:avLst>
              <a:gd name="adj" fmla="val 1928"/>
            </a:avLst>
          </a:prstGeom>
          <a:solidFill>
            <a:srgbClr val="FBEDEA"/>
          </a:solidFill>
          <a:ln w="12700">
            <a:solidFill>
              <a:srgbClr val="FBEDEA"/>
            </a:solidFill>
            <a:prstDash val="solid"/>
          </a:ln>
        </p:spPr>
      </p:sp>
      <p:sp>
        <p:nvSpPr>
          <p:cNvPr id="5" name="Text 3"/>
          <p:cNvSpPr txBox="1"/>
          <p:nvPr/>
        </p:nvSpPr>
        <p:spPr>
          <a:xfrm>
            <a:off x="822960" y="1783080"/>
            <a:ext cx="4846320" cy="365760"/>
          </a:xfrm>
          <a:prstGeom prst="rect">
            <a:avLst/>
          </a:prstGeom>
          <a:noFill/>
          <a:ln/>
        </p:spPr>
        <p:txBody>
          <a:bodyPr wrap="square" lIns="0" tIns="0" rIns="0" bIns="0" rtlCol="0" anchor="t"/>
          <a:lstStyle/>
          <a:p>
            <a:pPr indent="0" marL="0">
              <a:buNone/>
            </a:pPr>
            <a:r>
              <a:rPr lang="en-US" sz="1800" b="1" dirty="0">
                <a:solidFill>
                  <a:srgbClr val="C0492F"/>
                </a:solidFill>
                <a:latin typeface="Calibri" pitchFamily="34" charset="0"/>
                <a:ea typeface="Calibri" pitchFamily="34" charset="-122"/>
                <a:cs typeface="Calibri" pitchFamily="34" charset="-120"/>
              </a:rPr>
              <a:t>Limits</a:t>
            </a:r>
            <a:endParaRPr lang="en-US" sz="1800" dirty="0"/>
          </a:p>
        </p:txBody>
      </p:sp>
      <p:sp>
        <p:nvSpPr>
          <p:cNvPr id="6" name="Text 4"/>
          <p:cNvSpPr txBox="1"/>
          <p:nvPr/>
        </p:nvSpPr>
        <p:spPr>
          <a:xfrm>
            <a:off x="822960" y="2240280"/>
            <a:ext cx="4892040" cy="3840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2D33"/>
                </a:solidFill>
                <a:latin typeface="Calibri" pitchFamily="34" charset="0"/>
                <a:ea typeface="Calibri" pitchFamily="34" charset="-122"/>
                <a:cs typeface="Calibri" pitchFamily="34" charset="-120"/>
              </a:rPr>
              <a:t>32 of 59 modules never appear in the labelled data, so the classifier cannot emit them (interdental brushes among them).</a:t>
            </a:r>
            <a:endParaRPr lang="en-US" sz="1400" dirty="0"/>
          </a:p>
          <a:p>
            <a:pPr marL="342900" indent="-342900">
              <a:spcAft>
                <a:spcPts val="600"/>
              </a:spcAft>
              <a:buSzPct val="100000"/>
              <a:buChar char="•"/>
            </a:pPr>
            <a:r>
              <a:rPr lang="en-US" sz="1400" dirty="0">
                <a:solidFill>
                  <a:srgbClr val="1F2D33"/>
                </a:solidFill>
                <a:latin typeface="Calibri" pitchFamily="34" charset="0"/>
                <a:ea typeface="Calibri" pitchFamily="34" charset="-122"/>
                <a:cs typeface="Calibri" pitchFamily="34" charset="-120"/>
              </a:rPr>
              <a:t>The model is NIQ-internal and the NIQ network blocks most retail pages, so evidence is harvested outside and carried in as caches.</a:t>
            </a:r>
            <a:endParaRPr lang="en-US" sz="1400" dirty="0"/>
          </a:p>
          <a:p>
            <a:pPr marL="342900" indent="-342900">
              <a:spcAft>
                <a:spcPts val="600"/>
              </a:spcAft>
              <a:buSzPct val="100000"/>
              <a:buChar char="•"/>
            </a:pPr>
            <a:r>
              <a:rPr lang="en-US" sz="1400" dirty="0">
                <a:solidFill>
                  <a:srgbClr val="1F2D33"/>
                </a:solidFill>
                <a:latin typeface="Calibri" pitchFamily="34" charset="0"/>
                <a:ea typeface="Calibri" pitchFamily="34" charset="-122"/>
                <a:cs typeface="Calibri" pitchFamily="34" charset="-120"/>
              </a:rPr>
              <a:t>The Tier-3 tiebreak's gain is not yet measured with page evidence in hand.</a:t>
            </a:r>
            <a:endParaRPr lang="en-US" sz="1400" dirty="0"/>
          </a:p>
          <a:p>
            <a:pPr marL="342900" indent="-342900">
              <a:spcAft>
                <a:spcPts val="600"/>
              </a:spcAft>
              <a:buSzPct val="100000"/>
              <a:buChar char="•"/>
            </a:pPr>
            <a:r>
              <a:rPr lang="en-US" sz="1400" dirty="0">
                <a:solidFill>
                  <a:srgbClr val="1F2D33"/>
                </a:solidFill>
                <a:latin typeface="Calibri" pitchFamily="34" charset="0"/>
                <a:ea typeface="Calibri" pitchFamily="34" charset="-122"/>
                <a:cs typeface="Calibri" pitchFamily="34" charset="-120"/>
              </a:rPr>
              <a:t>Many retailers serve bot walls to any polite crawler (156 hosts in the last run).</a:t>
            </a:r>
            <a:endParaRPr lang="en-US" sz="1400" dirty="0"/>
          </a:p>
        </p:txBody>
      </p:sp>
      <p:sp>
        <p:nvSpPr>
          <p:cNvPr id="7" name="Shape 5"/>
          <p:cNvSpPr/>
          <p:nvPr/>
        </p:nvSpPr>
        <p:spPr>
          <a:xfrm>
            <a:off x="6217920" y="1600200"/>
            <a:ext cx="5394960" cy="3794760"/>
          </a:xfrm>
          <a:prstGeom prst="roundRect">
            <a:avLst>
              <a:gd name="adj" fmla="val 1928"/>
            </a:avLst>
          </a:prstGeom>
          <a:solidFill>
            <a:srgbClr val="E6F4F1"/>
          </a:solidFill>
          <a:ln w="12700">
            <a:solidFill>
              <a:srgbClr val="E6F4F1"/>
            </a:solidFill>
            <a:prstDash val="solid"/>
          </a:ln>
        </p:spPr>
      </p:sp>
      <p:sp>
        <p:nvSpPr>
          <p:cNvPr id="8" name="Text 6"/>
          <p:cNvSpPr txBox="1"/>
          <p:nvPr/>
        </p:nvSpPr>
        <p:spPr>
          <a:xfrm>
            <a:off x="6492240" y="1783080"/>
            <a:ext cx="4846320" cy="365760"/>
          </a:xfrm>
          <a:prstGeom prst="rect">
            <a:avLst/>
          </a:prstGeom>
          <a:noFill/>
          <a:ln/>
        </p:spPr>
        <p:txBody>
          <a:bodyPr wrap="square" lIns="0" tIns="0" rIns="0" bIns="0" rtlCol="0" anchor="t"/>
          <a:lstStyle/>
          <a:p>
            <a:pPr indent="0" marL="0">
              <a:buNone/>
            </a:pPr>
            <a:r>
              <a:rPr lang="en-US" sz="1800" b="1" dirty="0">
                <a:solidFill>
                  <a:srgbClr val="0A5C5B"/>
                </a:solidFill>
                <a:latin typeface="Calibri" pitchFamily="34" charset="0"/>
                <a:ea typeface="Calibri" pitchFamily="34" charset="-122"/>
                <a:cs typeface="Calibri" pitchFamily="34" charset="-120"/>
              </a:rPr>
              <a:t>Next</a:t>
            </a:r>
            <a:endParaRPr lang="en-US" sz="1800" dirty="0"/>
          </a:p>
        </p:txBody>
      </p:sp>
      <p:sp>
        <p:nvSpPr>
          <p:cNvPr id="9" name="Text 7"/>
          <p:cNvSpPr txBox="1"/>
          <p:nvPr/>
        </p:nvSpPr>
        <p:spPr>
          <a:xfrm>
            <a:off x="6492240" y="2240280"/>
            <a:ext cx="4892040" cy="3840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2D33"/>
                </a:solidFill>
                <a:latin typeface="Calibri" pitchFamily="34" charset="0"/>
                <a:ea typeface="Calibri" pitchFamily="34" charset="-122"/>
                <a:cs typeface="Calibri" pitchFamily="34" charset="-120"/>
              </a:rPr>
              <a:t>Unseen modules from page evidence: the lever is measured (qa:259), the stage that reads pages is where it belongs.</a:t>
            </a:r>
            <a:endParaRPr lang="en-US" sz="1400" dirty="0"/>
          </a:p>
          <a:p>
            <a:pPr marL="342900" indent="-342900">
              <a:spcAft>
                <a:spcPts val="600"/>
              </a:spcAft>
              <a:buSzPct val="100000"/>
              <a:buChar char="•"/>
            </a:pPr>
            <a:r>
              <a:rPr lang="en-US" sz="1400" dirty="0">
                <a:solidFill>
                  <a:srgbClr val="1F2D33"/>
                </a:solidFill>
                <a:latin typeface="Calibri" pitchFamily="34" charset="0"/>
                <a:ea typeface="Calibri" pitchFamily="34" charset="-122"/>
                <a:cs typeface="Calibri" pitchFamily="34" charset="-120"/>
              </a:rPr>
              <a:t>Run the whole pipeline inside one network that reaches both the model and the web.</a:t>
            </a:r>
            <a:endParaRPr lang="en-US" sz="1400" dirty="0"/>
          </a:p>
          <a:p>
            <a:pPr marL="342900" indent="-342900">
              <a:spcAft>
                <a:spcPts val="600"/>
              </a:spcAft>
              <a:buSzPct val="100000"/>
              <a:buChar char="•"/>
            </a:pPr>
            <a:r>
              <a:rPr lang="en-US" sz="1400" dirty="0">
                <a:solidFill>
                  <a:srgbClr val="1F2D33"/>
                </a:solidFill>
                <a:latin typeface="Calibri" pitchFamily="34" charset="0"/>
                <a:ea typeface="Calibri" pitchFamily="34" charset="-122"/>
                <a:cs typeface="Calibri" pitchFamily="34" charset="-120"/>
              </a:rPr>
              <a:t>Confirm with the organizers: URL vs page title in PRODUCT_URL, and how a blank URL is scored against a wrong one (abstention is built, switched off).</a:t>
            </a:r>
            <a:endParaRPr lang="en-US" sz="1400" dirty="0"/>
          </a:p>
          <a:p>
            <a:pPr marL="342900" indent="-342900">
              <a:spcAft>
                <a:spcPts val="600"/>
              </a:spcAft>
              <a:buSzPct val="100000"/>
              <a:buChar char="•"/>
            </a:pPr>
            <a:r>
              <a:rPr lang="en-US" sz="1400" dirty="0">
                <a:solidFill>
                  <a:srgbClr val="1F2D33"/>
                </a:solidFill>
                <a:latin typeface="Calibri" pitchFamily="34" charset="0"/>
                <a:ea typeface="Calibri" pitchFamily="34" charset="-122"/>
                <a:cs typeface="Calibri" pitchFamily="34" charset="-120"/>
              </a:rPr>
              <a:t>Grow the registry across catalogs — every resolved product makes the next sighting a lookup.</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2A33"/>
        </a:solidFill>
      </p:bgPr>
    </p:bg>
    <p:spTree>
      <p:nvGrpSpPr>
        <p:cNvPr id="1" name=""/>
        <p:cNvGrpSpPr/>
        <p:nvPr/>
      </p:nvGrpSpPr>
      <p:grpSpPr>
        <a:xfrm>
          <a:off x="0" y="0"/>
          <a:ext cx="0" cy="0"/>
          <a:chOff x="0" y="0"/>
          <a:chExt cx="0" cy="0"/>
        </a:xfrm>
      </p:grpSpPr>
      <p:sp>
        <p:nvSpPr>
          <p:cNvPr id="2" name="Text 0"/>
          <p:cNvSpPr txBox="1"/>
          <p:nvPr/>
        </p:nvSpPr>
        <p:spPr>
          <a:xfrm>
            <a:off x="731520" y="1371600"/>
            <a:ext cx="73152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3" name="Text 1"/>
          <p:cNvSpPr txBox="1"/>
          <p:nvPr/>
        </p:nvSpPr>
        <p:spPr>
          <a:xfrm>
            <a:off x="731520" y="2468880"/>
            <a:ext cx="9144000" cy="457200"/>
          </a:xfrm>
          <a:prstGeom prst="rect">
            <a:avLst/>
          </a:prstGeom>
          <a:noFill/>
          <a:ln/>
        </p:spPr>
        <p:txBody>
          <a:bodyPr wrap="square" lIns="0" tIns="0" rIns="0" bIns="0" rtlCol="0" anchor="ctr"/>
          <a:lstStyle/>
          <a:p>
            <a:pPr indent="0" marL="0">
              <a:buNone/>
            </a:pPr>
            <a:r>
              <a:rPr lang="en-US" sz="2000" dirty="0">
                <a:solidFill>
                  <a:srgbClr val="9FE3D6"/>
                </a:solidFill>
                <a:latin typeface="Calibri" pitchFamily="34" charset="0"/>
                <a:ea typeface="Calibri" pitchFamily="34" charset="-122"/>
                <a:cs typeface="Calibri" pitchFamily="34" charset="-120"/>
              </a:rPr>
              <a:t>NIMO — the Product Truth Agent · Team Matrix Slayers</a:t>
            </a:r>
            <a:endParaRPr lang="en-US" sz="2000" dirty="0"/>
          </a:p>
        </p:txBody>
      </p:sp>
      <p:sp>
        <p:nvSpPr>
          <p:cNvPr id="4" name="Text 2"/>
          <p:cNvSpPr txBox="1"/>
          <p:nvPr/>
        </p:nvSpPr>
        <p:spPr>
          <a:xfrm>
            <a:off x="731520" y="3383280"/>
            <a:ext cx="9144000" cy="201168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Code, docs and decision log</a:t>
            </a:r>
            <a:endParaRPr lang="en-US" sz="1700" dirty="0"/>
          </a:p>
          <a:p>
            <a:pPr indent="0" marL="0">
              <a:buNone/>
            </a:pPr>
            <a:r>
              <a:rPr lang="en-US" sz="1700" dirty="0">
                <a:solidFill>
                  <a:srgbClr val="C9DADD"/>
                </a:solidFill>
                <a:latin typeface="Calibri" pitchFamily="34" charset="0"/>
                <a:ea typeface="Calibri" pitchFamily="34" charset="-122"/>
                <a:cs typeface="Calibri" pitchFamily="34" charset="-120"/>
              </a:rPr>
              <a:t>github.com/Nexxex-Aditya/NIMO</a:t>
            </a:r>
            <a:endParaRPr lang="en-US" sz="1700" dirty="0"/>
          </a:p>
          <a:p>
            <a:pPr indent="0" marL="0">
              <a:buNone/>
            </a:pPr>
            <a:r>
              <a:rPr lang="en-US" sz="1700" dirty="0">
                <a:solidFill>
                  <a:srgbClr val="000000"/>
                </a:solidFill>
                <a:latin typeface="Calibri" pitchFamily="34" charset="0"/>
                <a:ea typeface="Calibri" pitchFamily="34" charset="-122"/>
                <a:cs typeface="Calibri" pitchFamily="34" charset="-120"/>
              </a:rPr>
              <a:t> </a:t>
            </a:r>
            <a:endParaRPr lang="en-US" sz="1700" dirty="0"/>
          </a:p>
          <a:p>
            <a:pPr indent="0" marL="0">
              <a:buNone/>
            </a:pPr>
            <a:r>
              <a:rPr lang="en-US" sz="1700" b="1" dirty="0">
                <a:solidFill>
                  <a:srgbClr val="FFFFFF"/>
                </a:solidFill>
                <a:latin typeface="Calibri" pitchFamily="34" charset="0"/>
                <a:ea typeface="Calibri" pitchFamily="34" charset="-122"/>
                <a:cs typeface="Calibri" pitchFamily="34" charset="-120"/>
              </a:rPr>
              <a:t>Run it</a:t>
            </a:r>
            <a:endParaRPr lang="en-US" sz="1700" dirty="0"/>
          </a:p>
          <a:p>
            <a:pPr indent="0" marL="0">
              <a:buNone/>
            </a:pPr>
            <a:r>
              <a:rPr lang="en-US" sz="1700" dirty="0">
                <a:solidFill>
                  <a:srgbClr val="C9DADD"/>
                </a:solidFill>
                <a:latin typeface="Courier New" pitchFamily="34" charset="0"/>
                <a:ea typeface="Courier New" pitchFamily="34" charset="-122"/>
                <a:cs typeface="Courier New" pitchFamily="34" charset="-120"/>
              </a:rPr>
              <a:t>uv sync  ·  uv run python -m nimo.ui --live</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Team Matrix Slayers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NIMO — the Product Truth Agent</dc:title>
  <dc:subject>PptxGenJS Presentation</dc:subject>
  <dc:creator>PptxGenJS</dc:creator>
  <cp:lastModifiedBy>PptxGenJS</cp:lastModifiedBy>
  <cp:revision>1</cp:revision>
  <dcterms:created xsi:type="dcterms:W3CDTF">2026-09-23T10:44:42Z</dcterms:created>
  <dcterms:modified xsi:type="dcterms:W3CDTF">2026-09-23T10:44:42Z</dcterms:modified>
</cp:coreProperties>
</file>